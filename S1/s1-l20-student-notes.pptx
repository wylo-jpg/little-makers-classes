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latin typeface="Microsoft JhengHei"/>
              </a:rPr>
              <a:t>第 20 堂｜AI 倫理（二）：偏見與私隱</a:t>
            </a:r>
          </a:p>
          <a:p>
            <a:r>
              <a:rPr sz="2800">
                <a:latin typeface="Arial"/>
              </a:rPr>
              <a:t>Lesson 20 | AI Ethics (2): Bias and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為何 AI 會歧視、我的資料很值錢、網絡安全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Why AI can discriminate; my data is valuable; cyber security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創科班 Little Makers Class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S.K.H. Lui Ming Choi Secondary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情境卡 Scenario cards × 每組 1 套（6 張） 1 set (6 cards) per group</a:t>
            </a:r>
          </a:p>
          <a:p>
            <a:pPr/>
            <a:r>
              <a:rPr sz="1600">
                <a:eaTypeface typeface="微軟正黑體"/>
              </a:rPr>
              <a:t>承諾卡 Pledge cards × 每人 1 張 1 per student</a:t>
            </a:r>
          </a:p>
          <a:p>
            <a:pPr/>
            <a:r>
              <a:rPr sz="1600">
                <a:eaTypeface typeface="微軟正黑體"/>
              </a:rPr>
              <a:t>投影機 Projector × 1 套 1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學習目標</a:t>
            </a:r>
          </a:p>
          <a:p>
            <a:r>
              <a:rPr sz="2200"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用一句話解釋演算法偏見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Explain algorithmic bias in one sentence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舉出至少一個 AI 偏見的例子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Give at least one example of AI bias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列出至少四個保護個人私隱的方法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List at least four privacy-protection methods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說出網絡安全問題的基本應對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State basic responses to cyber security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回顧：上堂學了什麼？</a:t>
            </a:r>
          </a:p>
          <a:p>
            <a:r>
              <a:rPr sz="2200">
                <a:latin typeface="Arial"/>
              </a:rPr>
              <a:t>Recap: What Did We Learn Last Lesson?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快問快答：deepfake 是什麼？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Rapid-fire: what is deepfake?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查證三步是什麼？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What are the three verification steps?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什麼是 AI 幻覺？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What is AI hallucination?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今日問題：「AI 會歧視人嗎？」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Today's question: "Can AI discriminate?"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真實個案：招聘 AI</a:t>
            </a:r>
          </a:p>
          <a:p>
            <a:r>
              <a:rPr sz="2200">
                <a:latin typeface="Arial"/>
              </a:rPr>
              <a:t>Real Case: Recruitment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某大型科技公司曾用 AI 篩選求職履歷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A large tech company once used AI to screen job applications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訓練數據大多來自男性員工的履歷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Training data came mostly from male employees' CVs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結果：AI 較少推薦女性求職者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Result: the AI recommended fewer female candidates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小組討論：公平嗎？問題出在哪裡？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Group discussion: is it fair? Where is the problem?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演算法偏見</a:t>
            </a:r>
          </a:p>
          <a:p>
            <a:r>
              <a:rPr sz="2200">
                <a:latin typeface="Arial"/>
              </a:rPr>
              <a:t>Algorithmic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定義：AI 學了有偏見的數據，就會做出有偏見的判斷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Definition: AI trained on biased data makes biased judgements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問題不在電腦，在數據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The problem is not the computer; it is the data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科技並非中立：數據的選擇影響公平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Technology is not neutral: data choices affect fairness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例子：只用右手訓練的剪刀石頭布模型（上堂）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Example: the right-hand-only rock-paper-scissors model (last hands-on lesson)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我的資料很值錢</a:t>
            </a:r>
          </a:p>
          <a:p>
            <a:r>
              <a:rPr sz="2200">
                <a:latin typeface="Arial"/>
              </a:rPr>
              <a:t>My Data is Valuable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數據是 AI 的糧食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Data is the food of AI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你的相片、位置、喜好都是有價值的數據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Your photos, location and preferences are all valuable data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私隱自保四招：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Four privacy self-protection tips: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① 不隨便上傳個人相片 ② 關閉不必要的定位 ③ 強密碼並保密 ④ 不亂點不明連結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1. No casual photo uploads 2. Turn off unneeded location 3. Strong secret passwords 4. No random clicks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小組活動：情境判斷</a:t>
            </a:r>
          </a:p>
          <a:p>
            <a:r>
              <a:rPr sz="2200">
                <a:latin typeface="Arial"/>
              </a:rPr>
              <a:t>Group Activity: Scenario Judgement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每組六張情境卡，判斷「安全／不安全」並寫理由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Six scenario cards per group; judge "safe / unsafe" with reasons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例如：上傳學生證相換禮物／遊戲要求開定位／「學校」短訊叫點連結交費／生日做密碼／陌生人私訊索相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E.g. uploading student-card photo for gifts / game wants location / "school" SMS payment link / birthday password / stranger asking for photos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派代表分享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Share with the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7</a:t>
            </a:r>
          </a:p>
        </p:txBody>
      </p:sp>
      <p:pic>
        <p:nvPicPr>
          <p:cNvPr id="5" name="Picture 4" descr="s1-l20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847" y="4410000"/>
            <a:ext cx="324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網絡安全＋免費自學資源</a:t>
            </a:r>
          </a:p>
          <a:p>
            <a:r>
              <a:rPr sz="2200">
                <a:latin typeface="Arial"/>
              </a:rPr>
              <a:t>Cyber Security + Free Self-Study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遇到網絡安全問題：不亂點、不回覆，立即告訴信任的成人（老師／家長）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Cyber issues: don't click, don't reply; tell a trusted adult (teacher/parent) at once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HKIRC「網絡安全學生培訓」免費網上課程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HKIRC free online "Student Cyber Security Training"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內容：保護私隱、保護設備、識別釣魚攻擊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Covers: protecting privacy, protecting devices, spotting phishing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網址：https://cyberhub.hk/tc/student-training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URL: https://cyberhub.hk/tc/student-training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總結</a:t>
            </a:r>
          </a:p>
          <a:p>
            <a:r>
              <a:rPr sz="2200"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有偏見的數據 → 有偏見的 AI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Biased data → biased AI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我的資料很值錢；記牢私隱自保四招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My data is valuable; remember the four privacy tips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網絡安全：不亂點，告訴信任的成人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Cyber security: don't click randomly; tell a trusted adult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單元總結＋承諾卡</a:t>
            </a:r>
          </a:p>
          <a:p>
            <a:r>
              <a:rPr sz="2200">
                <a:latin typeface="Arial"/>
              </a:rPr>
              <a:t>Unit Round-up + Pledge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六堂回顧：AI 是什麼 → 提示工程 → 生成作品 → 教電腦 → 真假難分 → 偏見私隱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Six-lesson recap: what is AI → prompting → generative works → teaching computers → true/false → bias &amp; privacy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每人寫一句「我會……」（例如：我會先查證後轉發）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Each student writes one "I will…" pledge (e.g. "I will verify before forwarding")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貼在課室「正能量牆」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Post it on the classroom positivity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-l20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847" y="1629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