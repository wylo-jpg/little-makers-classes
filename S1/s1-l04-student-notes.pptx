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66" r:id="rId17"/>
    <p:sldId id="267" r:id="rId18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2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497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097280"/>
            <a:ext cx="1033272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Aft>
                <a:spcPts val="600"/>
              </a:spcAft>
            </a:pPr>
            <a:r>
              <a:rPr sz="3000" b="0">
                <a:solidFill>
                  <a:srgbClr val="FFFFFF"/>
                </a:solidFill>
                <a:latin typeface="Microsoft JhengHei"/>
              </a:rPr>
              <a:t>第 4 堂</a:t>
            </a:r>
          </a:p>
          <a:p>
            <a:pPr algn="ctr">
              <a:spcAft>
                <a:spcPts val="600"/>
              </a:spcAft>
            </a:pPr>
            <a:r>
              <a:rPr sz="5400" b="1">
                <a:solidFill>
                  <a:srgbClr val="FFFFFF"/>
                </a:solidFill>
                <a:latin typeface="Microsoft JhengHei"/>
              </a:rPr>
              <a:t>結構力學——紙橋承重挑戰</a:t>
            </a:r>
          </a:p>
          <a:p>
            <a:pPr algn="ctr">
              <a:spcAft>
                <a:spcPts val="600"/>
              </a:spcAft>
            </a:pPr>
            <a:r>
              <a:rPr sz="3000" b="0">
                <a:solidFill>
                  <a:srgbClr val="FFC000"/>
                </a:solidFill>
                <a:latin typeface="Microsoft JhengHei"/>
              </a:rPr>
              <a:t>Structural Mechanics — Paper Bridge Load Challenge</a:t>
            </a:r>
          </a:p>
          <a:p>
            <a:pPr algn="ctr">
              <a:spcBef>
                <a:spcPts val="2400"/>
              </a:spcBef>
              <a:spcAft>
                <a:spcPts val="600"/>
              </a:spcAft>
            </a:pPr>
            <a:r>
              <a:rPr sz="2200" b="0">
                <a:solidFill>
                  <a:srgbClr val="FFFFFF"/>
                </a:solidFill>
                <a:latin typeface="Microsoft JhengHei"/>
              </a:rPr>
              <a:t>聖公會呂明才中學 創科班</a:t>
            </a:r>
          </a:p>
          <a:p>
            <a:pPr algn="ctr">
              <a:spcAft>
                <a:spcPts val="600"/>
              </a:spcAft>
            </a:pPr>
            <a:r>
              <a:rPr sz="2000" b="0">
                <a:solidFill>
                  <a:srgbClr val="DDDDDD"/>
                </a:solidFill>
                <a:latin typeface="Microsoft JhengHei"/>
              </a:rPr>
              <a:t>單元二：動手做 STEAM  Unit 2: Hands-on STEAM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物資表 Materials List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600">
                <a:eaTypeface typeface="微軟正黑體"/>
              </a:rPr>
              <a:t>A4 影印紙 A4 copy paper × 10 張 10 sheets</a:t>
            </a:r>
          </a:p>
          <a:p>
            <a:pPr/>
            <a:r>
              <a:rPr sz="1600">
                <a:eaTypeface typeface="微軟正黑體"/>
              </a:rPr>
              <a:t>透明膠紙 Adhesive tape × 1 卷 1 roll</a:t>
            </a:r>
          </a:p>
          <a:p>
            <a:pPr/>
            <a:r>
              <a:rPr sz="1600">
                <a:eaTypeface typeface="微軟正黑體"/>
              </a:rPr>
              <a:t>硬幣（$1） Coins ($1) × 50 枚（全班共用） 50 pieces (shared by class)</a:t>
            </a:r>
          </a:p>
          <a:p>
            <a:pPr/>
            <a:r>
              <a:rPr sz="1600">
                <a:eaTypeface typeface="微軟正黑體"/>
              </a:rPr>
              <a:t>小紙碟 Small paper plates × 每組 2 個 2 per group</a:t>
            </a:r>
          </a:p>
          <a:p>
            <a:pPr/>
            <a:r>
              <a:rPr sz="1600">
                <a:eaTypeface typeface="微軟正黑體"/>
              </a:rPr>
              <a:t>剪刀 Scissors × 每組 1 把 1 per group</a:t>
            </a:r>
          </a:p>
          <a:p>
            <a:pPr/>
            <a:r>
              <a:rPr sz="1600">
                <a:eaTypeface typeface="微軟正黑體"/>
              </a:rPr>
              <a:t>書桌 Desks × 每組 2 張 2 per group</a:t>
            </a:r>
          </a:p>
          <a:p>
            <a:pPr/>
            <a:r>
              <a:rPr sz="1600">
                <a:eaTypeface typeface="微軟正黑體"/>
              </a:rPr>
              <a:t>間尺 Ruler × 每組 1 把 1 per group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09728"/>
            <a:ext cx="11064240" cy="10515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600"/>
              </a:spcAft>
            </a:pPr>
            <a:r>
              <a:rPr sz="3400" b="1">
                <a:solidFill>
                  <a:srgbClr val="FFFFFF"/>
                </a:solidFill>
                <a:latin typeface="Microsoft JhengHei"/>
              </a:rPr>
              <a:t>學習目標</a:t>
            </a:r>
          </a:p>
          <a:p>
            <a:pPr>
              <a:spcAft>
                <a:spcPts val="600"/>
              </a:spcAft>
            </a:pPr>
            <a:r>
              <a:rPr sz="2000" b="0">
                <a:solidFill>
                  <a:srgbClr val="FFC000"/>
                </a:solidFill>
                <a:latin typeface="Microsoft JhengHei"/>
              </a:rPr>
              <a:t>Learning Objectives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10698480" cy="4754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sz="2600" b="0">
                <a:solidFill>
                  <a:srgbClr val="333333"/>
                </a:solidFill>
                <a:latin typeface="Microsoft JhengHei"/>
              </a:rPr>
              <a:t>▸ 用紙和膠紙製作出具承重功能的橋樑模型</a:t>
            </a:r>
          </a:p>
          <a:p>
            <a:pPr>
              <a:spcAft>
                <a:spcPts val="1000"/>
              </a:spcAft>
            </a:pPr>
            <a:r>
              <a:rPr sz="2000" i="1">
                <a:solidFill>
                  <a:srgbClr val="666666"/>
                </a:solidFill>
                <a:latin typeface="Arial"/>
              </a:rPr>
              <a:t>    Build a load-bearing bridge model from paper and tape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sz="2600" b="0">
                <a:solidFill>
                  <a:srgbClr val="333333"/>
                </a:solidFill>
                <a:latin typeface="Microsoft JhengHei"/>
              </a:rPr>
              <a:t>▸ 準確記錄承重測試數據：紙張用量、結構類型、承重硬幣數目</a:t>
            </a:r>
          </a:p>
          <a:p>
            <a:pPr>
              <a:spcAft>
                <a:spcPts val="1000"/>
              </a:spcAft>
            </a:pPr>
            <a:r>
              <a:rPr sz="2000" i="1">
                <a:solidFill>
                  <a:srgbClr val="666666"/>
                </a:solidFill>
                <a:latin typeface="Arial"/>
              </a:rPr>
              <a:t>    Record test data accurately: paper used, structure type, coins supported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sz="2600" b="0">
                <a:solidFill>
                  <a:srgbClr val="333333"/>
                </a:solidFill>
                <a:latin typeface="Microsoft JhengHei"/>
              </a:rPr>
              <a:t>▸ 比較不同結構的承重結果，解釋哪一種結構最穩固及原因</a:t>
            </a:r>
          </a:p>
          <a:p>
            <a:pPr>
              <a:spcAft>
                <a:spcPts val="1000"/>
              </a:spcAft>
            </a:pPr>
            <a:r>
              <a:rPr sz="2000" i="1">
                <a:solidFill>
                  <a:srgbClr val="666666"/>
                </a:solidFill>
                <a:latin typeface="Arial"/>
              </a:rPr>
              <a:t>    Compare results of different structures and explain which is most stable and why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09728"/>
            <a:ext cx="11064240" cy="10515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600"/>
              </a:spcAft>
            </a:pPr>
            <a:r>
              <a:rPr sz="3400" b="1">
                <a:solidFill>
                  <a:srgbClr val="FFFFFF"/>
                </a:solidFill>
                <a:latin typeface="Microsoft JhengHei"/>
              </a:rPr>
              <a:t>引入：橋為何不會塌下？</a:t>
            </a:r>
          </a:p>
          <a:p>
            <a:pPr>
              <a:spcAft>
                <a:spcPts val="600"/>
              </a:spcAft>
            </a:pPr>
            <a:r>
              <a:rPr sz="2000" b="0">
                <a:solidFill>
                  <a:srgbClr val="FFC000"/>
                </a:solidFill>
                <a:latin typeface="Microsoft JhengHei"/>
              </a:rPr>
              <a:t>Why Doesn't a Bridge Collapse?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10698480" cy="4754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sz="2600" b="0">
                <a:solidFill>
                  <a:srgbClr val="333333"/>
                </a:solidFill>
                <a:latin typeface="Microsoft JhengHei"/>
              </a:rPr>
              <a:t>▸ 看看青馬大橋的相片：又長又重的橋面，靠甚麼撐住？</a:t>
            </a:r>
          </a:p>
          <a:p>
            <a:pPr>
              <a:spcAft>
                <a:spcPts val="1000"/>
              </a:spcAft>
            </a:pPr>
            <a:r>
              <a:rPr sz="2000" i="1">
                <a:solidFill>
                  <a:srgbClr val="666666"/>
                </a:solidFill>
                <a:latin typeface="Arial"/>
              </a:rPr>
              <a:t>    Look at the photo of the Tsing Ma Bridge: what holds up such a long, heavy deck?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sz="2600" b="0">
                <a:solidFill>
                  <a:srgbClr val="333333"/>
                </a:solidFill>
                <a:latin typeface="Microsoft JhengHei"/>
              </a:rPr>
              <a:t>▸ 工程師的秘密：不是「用更多材料」，而是「把力傳到對的地方」</a:t>
            </a:r>
          </a:p>
          <a:p>
            <a:pPr>
              <a:spcAft>
                <a:spcPts val="1000"/>
              </a:spcAft>
            </a:pPr>
            <a:r>
              <a:rPr sz="2000" i="1">
                <a:solidFill>
                  <a:srgbClr val="666666"/>
                </a:solidFill>
                <a:latin typeface="Arial"/>
              </a:rPr>
              <a:t>    The engineer's secret: not "using more material", but "sending forces to the right places"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sz="2600" b="0">
                <a:solidFill>
                  <a:srgbClr val="333333"/>
                </a:solidFill>
                <a:latin typeface="Microsoft JhengHei"/>
              </a:rPr>
              <a:t>▸ 今天我們只用 10 張紙，挑戰承起 10 枚硬幣！</a:t>
            </a:r>
          </a:p>
          <a:p>
            <a:pPr>
              <a:spcAft>
                <a:spcPts val="1000"/>
              </a:spcAft>
            </a:pPr>
            <a:r>
              <a:rPr sz="2000" i="1">
                <a:solidFill>
                  <a:srgbClr val="666666"/>
                </a:solidFill>
                <a:latin typeface="Arial"/>
              </a:rPr>
              <a:t>    Today we use only 10 sheets of paper to take up the challenge of supporting 10 coins!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09728"/>
            <a:ext cx="11064240" cy="10515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600"/>
              </a:spcAft>
            </a:pPr>
            <a:r>
              <a:rPr sz="3400" b="1">
                <a:solidFill>
                  <a:srgbClr val="FFFFFF"/>
                </a:solidFill>
                <a:latin typeface="Microsoft JhengHei"/>
              </a:rPr>
              <a:t>三種基本結構</a:t>
            </a:r>
          </a:p>
          <a:p>
            <a:pPr>
              <a:spcAft>
                <a:spcPts val="600"/>
              </a:spcAft>
            </a:pPr>
            <a:r>
              <a:rPr sz="2000" b="0">
                <a:solidFill>
                  <a:srgbClr val="FFC000"/>
                </a:solidFill>
                <a:latin typeface="Microsoft JhengHei"/>
              </a:rPr>
              <a:t>Three Basic Structures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10698480" cy="4754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sz="2600" b="0">
                <a:solidFill>
                  <a:srgbClr val="333333"/>
                </a:solidFill>
                <a:latin typeface="Microsoft JhengHei"/>
              </a:rPr>
              <a:t>▸ 樑式 Beam：平直橋面，重量壓在中央，最易彎曲</a:t>
            </a:r>
          </a:p>
          <a:p>
            <a:pPr>
              <a:spcAft>
                <a:spcPts val="1000"/>
              </a:spcAft>
            </a:pPr>
            <a:r>
              <a:rPr sz="2000" i="1">
                <a:solidFill>
                  <a:srgbClr val="666666"/>
                </a:solidFill>
                <a:latin typeface="Arial"/>
              </a:rPr>
              <a:t>    Beam: flat deck; weight presses the middle; bends most easily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sz="2600" b="0">
                <a:solidFill>
                  <a:srgbClr val="333333"/>
                </a:solidFill>
                <a:latin typeface="Microsoft JhengHei"/>
              </a:rPr>
              <a:t>▸ 拱形 Arch：弧形把重量傳到兩端，擅長承受壓力</a:t>
            </a:r>
          </a:p>
          <a:p>
            <a:pPr>
              <a:spcAft>
                <a:spcPts val="1000"/>
              </a:spcAft>
            </a:pPr>
            <a:r>
              <a:rPr sz="2000" i="1">
                <a:solidFill>
                  <a:srgbClr val="666666"/>
                </a:solidFill>
                <a:latin typeface="Arial"/>
              </a:rPr>
              <a:t>    Arch: curve channels weight to both ends; good at compression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sz="2600" b="0">
                <a:solidFill>
                  <a:srgbClr val="333333"/>
                </a:solidFill>
                <a:latin typeface="Microsoft JhengHei"/>
              </a:rPr>
              <a:t>▸ 三角形桁架 Triangular truss：三邊固定 → 形狀固定 → 最穩固</a:t>
            </a:r>
          </a:p>
          <a:p>
            <a:pPr>
              <a:spcAft>
                <a:spcPts val="1000"/>
              </a:spcAft>
            </a:pPr>
            <a:r>
              <a:rPr sz="2000" i="1">
                <a:solidFill>
                  <a:srgbClr val="666666"/>
                </a:solidFill>
                <a:latin typeface="Arial"/>
              </a:rPr>
              <a:t>    Triangular truss: fixed sides → fixed shape → most stable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09728"/>
            <a:ext cx="11064240" cy="10515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600"/>
              </a:spcAft>
            </a:pPr>
            <a:r>
              <a:rPr sz="3400" b="1">
                <a:solidFill>
                  <a:srgbClr val="FFFFFF"/>
                </a:solidFill>
                <a:latin typeface="Microsoft JhengHei"/>
              </a:rPr>
              <a:t>為甚麼三角形最穩固？</a:t>
            </a:r>
          </a:p>
          <a:p>
            <a:pPr>
              <a:spcAft>
                <a:spcPts val="600"/>
              </a:spcAft>
            </a:pPr>
            <a:r>
              <a:rPr sz="2000" b="0">
                <a:solidFill>
                  <a:srgbClr val="FFC000"/>
                </a:solidFill>
                <a:latin typeface="Microsoft JhengHei"/>
              </a:rPr>
              <a:t>Why Is the Triangle Most Stable?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10698480" cy="4754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sz="2600" b="0">
                <a:solidFill>
                  <a:srgbClr val="333333"/>
                </a:solidFill>
                <a:latin typeface="Microsoft JhengHei"/>
              </a:rPr>
              <a:t>▸ 推一推四邊形框架：它會變成平行四邊形（變形！）</a:t>
            </a:r>
          </a:p>
          <a:p>
            <a:pPr>
              <a:spcAft>
                <a:spcPts val="1000"/>
              </a:spcAft>
            </a:pPr>
            <a:r>
              <a:rPr sz="2000" i="1">
                <a:solidFill>
                  <a:srgbClr val="666666"/>
                </a:solidFill>
                <a:latin typeface="Arial"/>
              </a:rPr>
              <a:t>    Push a quadrilateral frame: it becomes a parallelogram (deforms!)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sz="2600" b="0">
                <a:solidFill>
                  <a:srgbClr val="333333"/>
                </a:solidFill>
                <a:latin typeface="Microsoft JhengHei"/>
              </a:rPr>
              <a:t>▸ 推一推三角形框架：三條邊長度不變，形狀無法改變</a:t>
            </a:r>
          </a:p>
          <a:p>
            <a:pPr>
              <a:spcAft>
                <a:spcPts val="1000"/>
              </a:spcAft>
            </a:pPr>
            <a:r>
              <a:rPr sz="2000" i="1">
                <a:solidFill>
                  <a:srgbClr val="666666"/>
                </a:solidFill>
                <a:latin typeface="Arial"/>
              </a:rPr>
              <a:t>    Push a triangular frame: side lengths stay fixed, so the shape cannot change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sz="2600" b="0">
                <a:solidFill>
                  <a:srgbClr val="333333"/>
                </a:solidFill>
                <a:latin typeface="Microsoft JhengHei"/>
              </a:rPr>
              <a:t>▸ 結論：三角形是最穩固的平面形狀</a:t>
            </a:r>
          </a:p>
          <a:p>
            <a:pPr>
              <a:spcAft>
                <a:spcPts val="1000"/>
              </a:spcAft>
            </a:pPr>
            <a:r>
              <a:rPr sz="2000" i="1">
                <a:solidFill>
                  <a:srgbClr val="666666"/>
                </a:solidFill>
                <a:latin typeface="Arial"/>
              </a:rPr>
              <a:t>    Conclusion: the triangle is the most stable flat shape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09728"/>
            <a:ext cx="11064240" cy="10515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600"/>
              </a:spcAft>
            </a:pPr>
            <a:r>
              <a:rPr sz="3400" b="1">
                <a:solidFill>
                  <a:srgbClr val="FFFFFF"/>
                </a:solidFill>
                <a:latin typeface="Microsoft JhengHei"/>
              </a:rPr>
              <a:t>摺疊加固的秘密</a:t>
            </a:r>
          </a:p>
          <a:p>
            <a:pPr>
              <a:spcAft>
                <a:spcPts val="600"/>
              </a:spcAft>
            </a:pPr>
            <a:r>
              <a:rPr sz="2000" b="0">
                <a:solidFill>
                  <a:srgbClr val="FFC000"/>
                </a:solidFill>
                <a:latin typeface="Microsoft JhengHei"/>
              </a:rPr>
              <a:t>The Secret of Folded Reinforcement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10698480" cy="4754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sz="2600" b="0">
                <a:solidFill>
                  <a:srgbClr val="333333"/>
                </a:solidFill>
                <a:latin typeface="Microsoft JhengHei"/>
              </a:rPr>
              <a:t>▸ 平放的紙：放 1 枚硬幣即下塌</a:t>
            </a:r>
          </a:p>
          <a:p>
            <a:pPr>
              <a:spcAft>
                <a:spcPts val="1000"/>
              </a:spcAft>
            </a:pPr>
            <a:r>
              <a:rPr sz="2000" i="1">
                <a:solidFill>
                  <a:srgbClr val="666666"/>
                </a:solidFill>
                <a:latin typeface="Arial"/>
              </a:rPr>
              <a:t>    Flat paper: collapses under just 1 coin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sz="2600" b="0">
                <a:solidFill>
                  <a:srgbClr val="333333"/>
                </a:solidFill>
                <a:latin typeface="Microsoft JhengHei"/>
              </a:rPr>
              <a:t>▸ 摺成「W」形（手風琴摺）：可承起 10 枚以上硬幣</a:t>
            </a:r>
          </a:p>
          <a:p>
            <a:pPr>
              <a:spcAft>
                <a:spcPts val="1000"/>
              </a:spcAft>
            </a:pPr>
            <a:r>
              <a:rPr sz="2000" i="1">
                <a:solidFill>
                  <a:srgbClr val="666666"/>
                </a:solidFill>
                <a:latin typeface="Arial"/>
              </a:rPr>
              <a:t>    Folded into a "W" (accordion fold): supports 10+ coins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sz="2600" b="0">
                <a:solidFill>
                  <a:srgbClr val="333333"/>
                </a:solidFill>
                <a:latin typeface="Microsoft JhengHei"/>
              </a:rPr>
              <a:t>▸ 同樣一張紙！差別只在形狀 —— 形狀比材料用量更重要</a:t>
            </a:r>
          </a:p>
          <a:p>
            <a:pPr>
              <a:spcAft>
                <a:spcPts val="1000"/>
              </a:spcAft>
            </a:pPr>
            <a:r>
              <a:rPr sz="2000" i="1">
                <a:solidFill>
                  <a:srgbClr val="666666"/>
                </a:solidFill>
                <a:latin typeface="Arial"/>
              </a:rPr>
              <a:t>    The same single sheet! Only the shape differs — shape matters more than material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09728"/>
            <a:ext cx="11064240" cy="10515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600"/>
              </a:spcAft>
            </a:pPr>
            <a:r>
              <a:rPr sz="3400" b="1">
                <a:solidFill>
                  <a:srgbClr val="FFFFFF"/>
                </a:solidFill>
                <a:latin typeface="Microsoft JhengHei"/>
              </a:rPr>
              <a:t>挑戰規則</a:t>
            </a:r>
          </a:p>
          <a:p>
            <a:pPr>
              <a:spcAft>
                <a:spcPts val="600"/>
              </a:spcAft>
            </a:pPr>
            <a:r>
              <a:rPr sz="2000" b="0">
                <a:solidFill>
                  <a:srgbClr val="FFC000"/>
                </a:solidFill>
                <a:latin typeface="Microsoft JhengHei"/>
              </a:rPr>
              <a:t>Challenge Rules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6400800" cy="4754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sz="2600" b="0">
                <a:solidFill>
                  <a:srgbClr val="333333"/>
                </a:solidFill>
                <a:latin typeface="Microsoft JhengHei"/>
              </a:rPr>
              <a:t>▸ 4–5 人一組；材料：A4 紙 10 張、膠紙 1 卷、剪刀、間尺、小紙碟</a:t>
            </a:r>
          </a:p>
          <a:p>
            <a:pPr>
              <a:spcAft>
                <a:spcPts val="1000"/>
              </a:spcAft>
            </a:pPr>
            <a:r>
              <a:rPr sz="2000" i="1">
                <a:solidFill>
                  <a:srgbClr val="666666"/>
                </a:solidFill>
                <a:latin typeface="Arial"/>
              </a:rPr>
              <a:t>    Groups of 4–5; materials: 10 A4 sheets, 1 tape roll, scissors, ruler, paper plates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sz="2600" b="0">
                <a:solidFill>
                  <a:srgbClr val="333333"/>
                </a:solidFill>
                <a:latin typeface="Microsoft JhengHei"/>
              </a:rPr>
              <a:t>▸ 橋身跨度 30 厘米，兩端各留 5 厘米承托在書桌上</a:t>
            </a:r>
          </a:p>
          <a:p>
            <a:pPr>
              <a:spcAft>
                <a:spcPts val="1000"/>
              </a:spcAft>
            </a:pPr>
            <a:r>
              <a:rPr sz="2000" i="1">
                <a:solidFill>
                  <a:srgbClr val="666666"/>
                </a:solidFill>
                <a:latin typeface="Arial"/>
              </a:rPr>
              <a:t>    Span 30 cm, with 5 cm of support on the desk at each end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sz="2600" b="0">
                <a:solidFill>
                  <a:srgbClr val="333333"/>
                </a:solidFill>
                <a:latin typeface="Microsoft JhengHei"/>
              </a:rPr>
              <a:t>▸ 硬幣逐枚加在橋面中央的小紙碟上，直至倒塌</a:t>
            </a:r>
          </a:p>
          <a:p>
            <a:pPr>
              <a:spcAft>
                <a:spcPts val="1000"/>
              </a:spcAft>
            </a:pPr>
            <a:r>
              <a:rPr sz="2000" i="1">
                <a:solidFill>
                  <a:srgbClr val="666666"/>
                </a:solidFill>
                <a:latin typeface="Arial"/>
              </a:rPr>
              <a:t>    Add coins one by one onto the plate at the centre until collapse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sz="2600" b="0">
                <a:solidFill>
                  <a:srgbClr val="333333"/>
                </a:solidFill>
                <a:latin typeface="Microsoft JhengHei"/>
              </a:rPr>
              <a:t>▸ 先畫設計草圖 → 搭建 → 測試 → 記錄數據</a:t>
            </a:r>
          </a:p>
          <a:p>
            <a:pPr>
              <a:spcAft>
                <a:spcPts val="1000"/>
              </a:spcAft>
            </a:pPr>
            <a:r>
              <a:rPr sz="2000" i="1">
                <a:solidFill>
                  <a:srgbClr val="666666"/>
                </a:solidFill>
                <a:latin typeface="Arial"/>
              </a:rPr>
              <a:t>    Sketch the design → build → test → record data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035040"/>
            <a:ext cx="106984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600"/>
              </a:spcAft>
            </a:pPr>
            <a:r>
              <a:rPr sz="1800" b="0">
                <a:solidFill>
                  <a:srgbClr val="2E74B5"/>
                </a:solidFill>
                <a:latin typeface="Microsoft JhengHei"/>
              </a:rPr>
              <a:t>⚠ 紙邊或割傷手指，小心使用；硬幣課後點算收回</a:t>
            </a:r>
          </a:p>
        </p:txBody>
      </p:sp>
      <p:pic>
        <p:nvPicPr>
          <p:cNvPr id="6" name="Picture 5" descr="s1-l04-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8079" y="2651760"/>
            <a:ext cx="3840480" cy="256032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09728"/>
            <a:ext cx="11064240" cy="10515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600"/>
              </a:spcAft>
            </a:pPr>
            <a:r>
              <a:rPr sz="3400" b="1">
                <a:solidFill>
                  <a:srgbClr val="FFFFFF"/>
                </a:solidFill>
                <a:latin typeface="Microsoft JhengHei"/>
              </a:rPr>
              <a:t>數據記錄表示例</a:t>
            </a:r>
          </a:p>
          <a:p>
            <a:pPr>
              <a:spcAft>
                <a:spcPts val="600"/>
              </a:spcAft>
            </a:pPr>
            <a:r>
              <a:rPr sz="2000" b="0">
                <a:solidFill>
                  <a:srgbClr val="FFC000"/>
                </a:solidFill>
                <a:latin typeface="Microsoft JhengHei"/>
              </a:rPr>
              <a:t>Sample Data Table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10698480" cy="4754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sz="2600" b="0">
                <a:solidFill>
                  <a:srgbClr val="333333"/>
                </a:solidFill>
                <a:latin typeface="Microsoft JhengHei"/>
              </a:rPr>
              <a:t>▸ 結構類型：三角形桁架</a:t>
            </a:r>
          </a:p>
          <a:p>
            <a:pPr>
              <a:spcAft>
                <a:spcPts val="1000"/>
              </a:spcAft>
            </a:pPr>
            <a:r>
              <a:rPr sz="2000" i="1">
                <a:solidFill>
                  <a:srgbClr val="666666"/>
                </a:solidFill>
                <a:latin typeface="Arial"/>
              </a:rPr>
              <a:t>    Structure type: triangular truss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sz="2600" b="0">
                <a:solidFill>
                  <a:srgbClr val="333333"/>
                </a:solidFill>
                <a:latin typeface="Microsoft JhengHei"/>
              </a:rPr>
              <a:t>▸ A4 紙用量：8 張；膠紙用量：約半卷</a:t>
            </a:r>
          </a:p>
          <a:p>
            <a:pPr>
              <a:spcAft>
                <a:spcPts val="1000"/>
              </a:spcAft>
            </a:pPr>
            <a:r>
              <a:rPr sz="2000" i="1">
                <a:solidFill>
                  <a:srgbClr val="666666"/>
                </a:solidFill>
                <a:latin typeface="Arial"/>
              </a:rPr>
              <a:t>    A4 paper: 8 sheets; tape: about half a roll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sz="2600" b="0">
                <a:solidFill>
                  <a:srgbClr val="333333"/>
                </a:solidFill>
                <a:latin typeface="Microsoft JhengHei"/>
              </a:rPr>
              <a:t>▸ 承重硬幣數目：18 枚</a:t>
            </a:r>
          </a:p>
          <a:p>
            <a:pPr>
              <a:spcAft>
                <a:spcPts val="1000"/>
              </a:spcAft>
            </a:pPr>
            <a:r>
              <a:rPr sz="2000" i="1">
                <a:solidFill>
                  <a:srgbClr val="666666"/>
                </a:solidFill>
                <a:latin typeface="Arial"/>
              </a:rPr>
              <a:t>    Coins supported: 18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sz="2600" b="0">
                <a:solidFill>
                  <a:srgbClr val="333333"/>
                </a:solidFill>
                <a:latin typeface="Microsoft JhengHei"/>
              </a:rPr>
              <a:t>▸ 倒塌情況：橋面中央向下彎曲，膠紙接口先鬆開</a:t>
            </a:r>
          </a:p>
          <a:p>
            <a:pPr>
              <a:spcAft>
                <a:spcPts val="1000"/>
              </a:spcAft>
            </a:pPr>
            <a:r>
              <a:rPr sz="2000" i="1">
                <a:solidFill>
                  <a:srgbClr val="666666"/>
                </a:solidFill>
                <a:latin typeface="Arial"/>
              </a:rPr>
              <a:t>    Collapse: deck bent downwards at the centre; taped joints loosened first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09728"/>
            <a:ext cx="11064240" cy="10515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600"/>
              </a:spcAft>
            </a:pPr>
            <a:r>
              <a:rPr sz="3400" b="1">
                <a:solidFill>
                  <a:srgbClr val="FFFFFF"/>
                </a:solidFill>
                <a:latin typeface="Microsoft JhengHei"/>
              </a:rPr>
              <a:t>測試與匯報</a:t>
            </a:r>
          </a:p>
          <a:p>
            <a:pPr>
              <a:spcAft>
                <a:spcPts val="600"/>
              </a:spcAft>
            </a:pPr>
            <a:r>
              <a:rPr sz="2000" b="0">
                <a:solidFill>
                  <a:srgbClr val="FFC000"/>
                </a:solidFill>
                <a:latin typeface="Microsoft JhengHei"/>
              </a:rPr>
              <a:t>Testing and Reporting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10698480" cy="4754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sz="2600" b="0">
                <a:solidFill>
                  <a:srgbClr val="333333"/>
                </a:solidFill>
                <a:latin typeface="Microsoft JhengHei"/>
              </a:rPr>
              <a:t>▸ 每組公佈：結構類型、用紙量、承重硬幣數</a:t>
            </a:r>
          </a:p>
          <a:p>
            <a:pPr>
              <a:spcAft>
                <a:spcPts val="1000"/>
              </a:spcAft>
            </a:pPr>
            <a:r>
              <a:rPr sz="2000" i="1">
                <a:solidFill>
                  <a:srgbClr val="666666"/>
                </a:solidFill>
                <a:latin typeface="Arial"/>
              </a:rPr>
              <a:t>    Each group reports: structure type, paper used, coins supported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sz="2600" b="0">
                <a:solidFill>
                  <a:srgbClr val="333333"/>
                </a:solidFill>
                <a:latin typeface="Microsoft JhengHei"/>
              </a:rPr>
              <a:t>▸ 全班一起比較：哪一種結構最穩固？證據是甚麼？</a:t>
            </a:r>
          </a:p>
          <a:p>
            <a:pPr>
              <a:spcAft>
                <a:spcPts val="1000"/>
              </a:spcAft>
            </a:pPr>
            <a:r>
              <a:rPr sz="2000" i="1">
                <a:solidFill>
                  <a:srgbClr val="666666"/>
                </a:solidFill>
                <a:latin typeface="Arial"/>
              </a:rPr>
              <a:t>    Compare as a class: which structure is most stable? What is the evidence?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sz="2600" b="0">
                <a:solidFill>
                  <a:srgbClr val="333333"/>
                </a:solidFill>
                <a:latin typeface="Microsoft JhengHei"/>
              </a:rPr>
              <a:t>▸ 成功標準：跨度 30 厘米，並承起最少 10 枚硬幣</a:t>
            </a:r>
          </a:p>
          <a:p>
            <a:pPr>
              <a:spcAft>
                <a:spcPts val="1000"/>
              </a:spcAft>
            </a:pPr>
            <a:r>
              <a:rPr sz="2000" i="1">
                <a:solidFill>
                  <a:srgbClr val="666666"/>
                </a:solidFill>
                <a:latin typeface="Arial"/>
              </a:rPr>
              <a:t>    Success criteria: 30 cm span and at least 10 coins supported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09728"/>
            <a:ext cx="11064240" cy="10515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600"/>
              </a:spcAft>
            </a:pPr>
            <a:r>
              <a:rPr sz="3400" b="1">
                <a:solidFill>
                  <a:srgbClr val="FFFFFF"/>
                </a:solidFill>
                <a:latin typeface="Microsoft JhengHei"/>
              </a:rPr>
              <a:t>總結</a:t>
            </a:r>
          </a:p>
          <a:p>
            <a:pPr>
              <a:spcAft>
                <a:spcPts val="600"/>
              </a:spcAft>
            </a:pPr>
            <a:r>
              <a:rPr sz="2000" b="0">
                <a:solidFill>
                  <a:srgbClr val="FFC000"/>
                </a:solidFill>
                <a:latin typeface="Microsoft JhengHei"/>
              </a:rPr>
              <a:t>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10698480" cy="4754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sz="2600" b="0">
                <a:solidFill>
                  <a:srgbClr val="333333"/>
                </a:solidFill>
                <a:latin typeface="Microsoft JhengHei"/>
              </a:rPr>
              <a:t>▸ 形狀比材料用量更重要</a:t>
            </a:r>
          </a:p>
          <a:p>
            <a:pPr>
              <a:spcAft>
                <a:spcPts val="1000"/>
              </a:spcAft>
            </a:pPr>
            <a:r>
              <a:rPr sz="2000" i="1">
                <a:solidFill>
                  <a:srgbClr val="666666"/>
                </a:solidFill>
                <a:latin typeface="Arial"/>
              </a:rPr>
              <a:t>    Shape matters more than material quantity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sz="2600" b="0">
                <a:solidFill>
                  <a:srgbClr val="333333"/>
                </a:solidFill>
                <a:latin typeface="Microsoft JhengHei"/>
              </a:rPr>
              <a:t>▸ 三角形最穩固；拱形擅長傳力；摺疊令紙更難彎曲</a:t>
            </a:r>
          </a:p>
          <a:p>
            <a:pPr>
              <a:spcAft>
                <a:spcPts val="1000"/>
              </a:spcAft>
            </a:pPr>
            <a:r>
              <a:rPr sz="2000" i="1">
                <a:solidFill>
                  <a:srgbClr val="666666"/>
                </a:solidFill>
                <a:latin typeface="Arial"/>
              </a:rPr>
              <a:t>    Triangle is most stable; arch channels force; folding resists bending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sz="2600" b="0">
                <a:solidFill>
                  <a:srgbClr val="333333"/>
                </a:solidFill>
                <a:latin typeface="Microsoft JhengHei"/>
              </a:rPr>
              <a:t>▸ 重量放中央、平均受力；數據要準確記錄</a:t>
            </a:r>
          </a:p>
          <a:p>
            <a:pPr>
              <a:spcAft>
                <a:spcPts val="1000"/>
              </a:spcAft>
            </a:pPr>
            <a:r>
              <a:rPr sz="2000" i="1">
                <a:solidFill>
                  <a:srgbClr val="666666"/>
                </a:solidFill>
                <a:latin typeface="Arial"/>
              </a:rPr>
              <a:t>    Place weight at the centre with even support; record data accurately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sz="2600" b="0">
                <a:solidFill>
                  <a:srgbClr val="333333"/>
                </a:solidFill>
                <a:latin typeface="Microsoft JhengHei"/>
              </a:rPr>
              <a:t>▸ 下堂預告：橡筋動力車 —— 勢能變動能！</a:t>
            </a:r>
          </a:p>
          <a:p>
            <a:pPr>
              <a:spcAft>
                <a:spcPts val="1000"/>
              </a:spcAft>
            </a:pPr>
            <a:r>
              <a:rPr sz="2000" i="1">
                <a:solidFill>
                  <a:srgbClr val="666666"/>
                </a:solidFill>
                <a:latin typeface="Arial"/>
              </a:rPr>
              <a:t>    Next lesson: rubber-band powered car — potential energy into kinetic energy!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07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三種基本橋樑結構｜Three Basic Bridge Structures</a:t>
            </a:r>
          </a:p>
        </p:txBody>
      </p:sp>
      <p:pic>
        <p:nvPicPr>
          <p:cNvPr id="1008" name="Picture 1007" descr="s1-l04-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36876" y="1584960"/>
            <a:ext cx="7315200" cy="48768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