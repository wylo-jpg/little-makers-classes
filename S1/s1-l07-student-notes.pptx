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6"/>
    <p:sldId id="266" r:id="rId1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2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</a:rPr>
              <a:t>第 7 堂</a:t>
            </a:r>
          </a:p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光與影——萬花筒／潛望鏡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C000"/>
                </a:solidFill>
                <a:latin typeface="Microsoft JhengHei"/>
              </a:rPr>
              <a:t>Light and Shadow — Kaleidoscope / Periscope</a:t>
            </a:r>
          </a:p>
          <a:p>
            <a:pPr algn="ctr">
              <a:spcBef>
                <a:spcPts val="2400"/>
              </a:spcBef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聖公會呂明才中學 創科班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DDDDDD"/>
                </a:solidFill>
                <a:latin typeface="Microsoft JhengHei"/>
              </a:rPr>
              <a:t>單元二：動手做 STEAM  Unit 2: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鏡面紙／小鏡片 Mirror paper / small mirrors × 每組 3 片（萬花筒）或 2 片（潛望鏡） 3 per group (kaleidoscope) or 2 per group (periscope)</a:t>
            </a:r>
          </a:p>
          <a:p>
            <a:pPr/>
            <a:r>
              <a:rPr sz="1600">
                <a:eaTypeface typeface="微軟正黑體"/>
              </a:rPr>
              <a:t>硬卡紙筒 Cardboard tube × 每組 1 個 1 per group</a:t>
            </a:r>
          </a:p>
          <a:p>
            <a:pPr/>
            <a:r>
              <a:rPr sz="1600">
                <a:eaTypeface typeface="微軟正黑體"/>
              </a:rPr>
              <a:t>長紙盒（潛望鏡用） Long box (for periscope) × 每組 1 個 1 per group</a:t>
            </a:r>
          </a:p>
          <a:p>
            <a:pPr/>
            <a:r>
              <a:rPr sz="1600">
                <a:eaTypeface typeface="微軟正黑體"/>
              </a:rPr>
              <a:t>彩色碎紙／珠仔 Coloured paper scraps / beads × 每組 1 小包 1 small pack per group</a:t>
            </a:r>
          </a:p>
          <a:p>
            <a:pPr/>
            <a:r>
              <a:rPr sz="1600">
                <a:eaTypeface typeface="微軟正黑體"/>
              </a:rPr>
              <a:t>透明膠片 Transparent film × 每組 1 片 1 per group</a:t>
            </a:r>
          </a:p>
          <a:p>
            <a:pPr/>
            <a:r>
              <a:rPr sz="1600">
                <a:eaTypeface typeface="微軟正黑體"/>
              </a:rPr>
              <a:t>膠紙、剪刀、間尺 Tape, scissors, ruler × 課室現有 Available in classroom</a:t>
            </a:r>
          </a:p>
          <a:p>
            <a:pPr/>
            <a:r>
              <a:rPr sz="1600">
                <a:eaTypeface typeface="微軟正黑體"/>
              </a:rPr>
              <a:t>手機／平板 Mobile phone / tablet × 學生自備或小組共用 Students' own or group-shared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學習目標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製作一個成像清晰的萬花筒或潛望鏡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Make a kaleidoscope or periscope with a clear image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解釋萬花筒圖案與鏡面反射的關係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Explain how kaleidoscope patterns relate to mirror reflection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解釋潛望鏡兩次反射改變光路的原理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Explain how a periscope changes the light path with two reflections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拍攝最少三張光影相片並作說明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Take at least three light-shadow photos with captions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引入：鏡子如何改變光的方向？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How Does a Mirror Change Light's Direction?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看看萬花筒的圖案相片 —— 美麗的對稱圖案從何而來？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Look at kaleidoscope photos — where do the beautiful symmetrical patterns come from?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看看潛望鏡實物 —— 躲在書堆後，也能看到另一邊！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Look at a real periscope — hide behind book piles and still see the other side!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答案：光的反射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The answer: reflection of light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反射定律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Law of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光以直線前進，遇到鏡面改變方向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Light travels straight; it changes direction at a mirror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入射角 ＝ 反射角（方向對稱）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Angle of incidence = angle of reflection (symmetrical)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我們在鏡中看到自己，正是反射的結果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Seeing ourselves in a mirror is exactly reflection at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萬花筒的原理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How a Kaleidoscope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三片鏡組成三角形筒，反光面朝內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Three mirrors form a triangular tube, reflective sides inwards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彩色碎紙經三片鏡互相多重反射 → 對稱圖案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Coloured scraps reflect repeatedly among three mirrors → symmetrical patterns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轉動筒身 → 碎紙位置改變 → 圖案不斷變化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Rotate the tube → scraps move → patterns keep changing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圖案不是畫上去的！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The patterns are NOT painted on!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潛望鏡的原理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How a Periscope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兩片鏡互相平行，各與鏡筒成 45 度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Two parallel mirrors, each at 45° to the tube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光 → 頂部鏡（第 1 次反射）→ 轉向下方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Light → top mirror (1st reflection) → turns downwards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→ 底部鏡（第 2 次反射）→ 進入眼睛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→ bottom mirror (2nd reflection) → into the eye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光線平行移位，看到障礙物後的景象；不會放大影像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Rays shift in parallel to reveal hidden views; no magnification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製作要點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Making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萬花筒：反光面朝內；一端裝碎紙＋透明膠片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Kaleidoscope: reflective sides inwards; load scraps + film at one end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潛望鏡：兩片鏡必須平行，否則看不見影像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Periscope: the two mirrors must be parallel or no image appears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鏡面保持清潔；鏡片邊緣或割手，小心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Keep mirrors clean; edges may cut — be careful</a:t>
            </a:r>
          </a:p>
        </p:txBody>
      </p:sp>
      <p:pic>
        <p:nvPicPr>
          <p:cNvPr id="5" name="Picture 4" descr="s1-l07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光影攝影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Light-shadow Photography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尋找光影對比強烈的地方：窗邊、欄杆、樹蔭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Find strong contrast: windows, railings, tree shade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用自製教具觀察，再用手機／小組平板拍攝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Observe with your DIY instrument, then shoot with a phone / group tablet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最少三張，每張寫一句說明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At least three photos, one caption each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拍攝時注意安全，勿只顧螢幕不看路面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Stay safe; don't stare at the screen and ignore your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E74B5"/>
                </a:solidFill>
                <a:latin typeface="Microsoft JhengHei"/>
              </a:rPr>
              <a:t>⚠ 鏡片邊緣或割手；拍攝時注意路面安全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分享與總結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Sharing 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展示：最滿意的光影相片＋一句說明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Show your best light-shadow photo and its caption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成功標準：萬花筒呈現對稱圖案，或潛望鏡清晰成像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Success criteria: symmetrical kaleidoscope patterns, or a clear periscope image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核心概念：光經鏡面反射 —— 入射角＝反射角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Core idea: light reflects off mirrors — incidence = reflection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下堂預告：關愛夜燈 —— 為長者做紙電路 LED 門牌！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Next lesson: caring night light — a paper-circuit LED doorplate for the elderly!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萬花筒的原理｜How a Kaleidoscope Works</a:t>
            </a:r>
          </a:p>
        </p:txBody>
      </p:sp>
      <p:pic>
        <p:nvPicPr>
          <p:cNvPr id="1008" name="Picture 1007" descr="s1-l0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58496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