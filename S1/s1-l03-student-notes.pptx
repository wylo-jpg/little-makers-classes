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D966"/>
                </a:solidFill>
                <a:latin typeface="Arial"/>
                <a:ea typeface="Microsoft JhengHei"/>
              </a:rPr>
              <a:t>創科班 S1 Unit 1｜第 3 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  <a:ea typeface="Microsoft JhengHei"/>
              </a:rPr>
              <a:t>認識關愛：弱勢社群的生活體驗</a:t>
            </a:r>
          </a:p>
          <a:p>
            <a:r>
              <a:rPr sz="2400" b="0">
                <a:solidFill>
                  <a:srgbClr val="D9D9D9"/>
                </a:solidFill>
                <a:latin typeface="Arial"/>
                <a:ea typeface="Microsoft JhengHei"/>
              </a:rPr>
              <a:t>Understanding Care: Experiencing the Lives of Disadvantaged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  <a:ea typeface="Microsoft JhengHei"/>
              </a:rPr>
              <a:t>全年主題：正能量——用創科關愛弱勢社群</a:t>
            </a:r>
          </a:p>
          <a:p>
            <a:r>
              <a:rPr sz="1600" b="0">
                <a:solidFill>
                  <a:srgbClr val="D9D9D9"/>
                </a:solidFill>
                <a:latin typeface="Arial"/>
                <a:ea typeface="Microsoft JhengHei"/>
              </a:rPr>
              <a:t>Year theme: Positive Energy — Using Innovation and Technology to Care for Disadvantaged Groups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眼罩 Blindfolds × 每組 2–3 個 2–3 per group</a:t>
            </a:r>
          </a:p>
          <a:p>
            <a:pPr/>
            <a:r>
              <a:rPr sz="1600">
                <a:eaTypeface typeface="微軟正黑體"/>
              </a:rPr>
              <a:t>輪椅 Wheelchair × 全班 1–2 部（向學校借用） 1–2 per class (borrowed from the school)</a:t>
            </a:r>
          </a:p>
          <a:p>
            <a:pPr/>
            <a:r>
              <a:rPr sz="1600">
                <a:eaTypeface typeface="微軟正黑體"/>
              </a:rPr>
              <a:t>觀察記錄工作紙 Observation record worksheet × 每人 1 張 1 per student</a:t>
            </a:r>
          </a:p>
          <a:p>
            <a:pPr/>
            <a:r>
              <a:rPr sz="1600">
                <a:eaTypeface typeface="微軟正黑體"/>
              </a:rPr>
              <a:t>急救箱 First-aid kit × 全班 1 個（由教師攜帶） 1 per class (carried by the teacher)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甚麼是弱勢社群？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What are disadvantaged groups?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在生活中遇到較多困難、需要社會關懷的人士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People who face more difficulties in life and need care from society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他們的困難不是他們的錯，而是環境和設計沒有照顧他們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Their difficulties are not their fault — the environment and its designs have not catered for them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創科可以幫忙：這正是我們全年要做的事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Innovation and technology can help: that is what we will do this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三類弱勢社群的生活挑戰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Life challenges of three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視障人士：過馬路難判斷車輛位置、上落樓梯易踏空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Visually impaired: hard to judge vehicles when crossing roads; may miss steps on stairs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輪椅使用者：門檻阻擋、斜道不足或太斜、通道狹窄難轉彎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Wheelchair users: blocked by thresholds; missing or steep ramps; narrow passages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長者：看不清細字、聽不清廣播、提重物吃力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Elderly: cannot read small print, hear announcements, or carry heavy things easily</a:t>
            </a:r>
          </a:p>
        </p:txBody>
      </p:sp>
      <p:pic>
        <p:nvPicPr>
          <p:cNvPr id="5" name="Picture 4" descr="s1-l03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體驗活動：蒙眼／輪椅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Experiential activity: blindfold / wheelchair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蒙眼行走：在同伴陪伴下，於指定路段行走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Blindfold walk: walk the designated route accompanied by a partner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輪椅體驗：乘坐輪椅，由他人從旁協助推動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Wheelchair experience: ride in a wheelchair pushed with assistance alongside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每人約五至八分鐘；另一位同學陪伴並觀察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About 5–8 minutes each; a partner accompanies and observes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目的：親身感受不便，培養同理心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Purpose: feel the inconvenience first-hand and build empathy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⚠ 安全守則（必須遵守）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Safety rules (must be followed)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全程跟隨教師指示，只在指定平坦路段活動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Follow the teacher's instructions; stay on the designated flat route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蒙眼須有同伴陪伴；頭暈不適立即除下眼罩舉手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 partner must accompany you when blindfolded; remove it and raise your hand if dizzy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輪椅必須有人從旁協助推動，不可自行高速推動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wheelchair must be assisted alongside — never propel it fast alone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這是嚴肅的學習活動，不是遊戲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This is a serious learning activity, not a game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同理心：體驗只是起點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Empathy: the experience is only a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親身體驗比單憑想像更真實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First-hand experience is more real than imagination alone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但短暫體驗 ≠ 完全明白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But a brief experience ≠ full understanding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真正的了解，需要長期接觸和聆聽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Real understanding needs long-term contact and listening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體驗的價值：開始留意平時忽略的細節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value: starting to notice details we usually overlook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觀察與記錄的方法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How to observe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用具體文字，不用空泛形容詞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Use concrete words, not vague adjectives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✗ 空泛：「好驚」「好辛苦」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✗ Vague: "so scary", "so hard"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✓ 具體：「蒙眼聽到腳步聲會緊張得停下來」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✓ Concrete: "Hearing footsteps while blindfolded made me stop nervously"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可分三方面：身體感覺、聽到／摸到的細節、情緒變化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Cover three aspects: physical sensations, details heard/touched, feelings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小組討論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Group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分享你的三項觀察或感受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Share your three observations or feelings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專心聆聽組員的分享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Listen attentively to your group members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引導問題：最困難的是甚麼？你留意到甚麼平時忽略的細節？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Guiding questions: What was the most difficult part? What details did you notice that you usually overlook?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填寫「關愛體驗觀察記錄表」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Complete the "Caring Experience Observation Record"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全年主題＋個人承諾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Year theme and personal pledge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正能量——用創科關愛弱勢社群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Positive Energy — Using Innovation and Technology to Care for Disadvantaged Groups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意思：用創意和科技，為有需要的人帶來正能量，改善生活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Meaning: use creativity and technology to bring positive energy to people in need and improve lives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寫下你的一句承諾，例如：「我想為長者設計＿＿。」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Write your personal pledge, e.g. "I would like to design __ for elderly people."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總結＋課業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Summary and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認識三類弱勢社群及其生活挑戰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Know three disadvantaged groups and their life challenges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安全第一；體驗只是同理心的起點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Safety first; the experience is only the start of empathy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課業：完成「關愛體驗觀察記錄表」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Assignment: complete the "Caring Experience Observation Record"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三項觀察＋組員分享＋全年主題意思（不少於八十字）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Three observations + group sharing + meaning of the theme (≥80 Chinese characters)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/>
              <a:t>視障人士 Visually Impaired Persons</a:t>
            </a:r>
          </a:p>
        </p:txBody>
      </p:sp>
      <p:pic>
        <p:nvPicPr>
          <p:cNvPr id="3" name="Picture 2" descr="s1-l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698" y="1371600"/>
            <a:ext cx="3261554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