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7" r:id="rId18"/>
    <p:sldId id="268" r:id="rId1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2.xml"/><Relationship Id="rId1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第 25 堂：成果展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25: Showcase and Celebration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Arial"/>
                <a:ea typeface="Microsoft JhengHei"/>
                <a:cs typeface="Microsoft JhengHei"/>
              </a:rPr>
              <a:t>聖公會呂明才中學
S.K.H. Lui Ming Choi Secondary School</a:t>
            </a:r>
          </a:p>
          <a:p>
            <a:pPr algn="ctr"/>
            <a:r>
              <a:rPr sz="2000" b="0">
                <a:solidFill>
                  <a:srgbClr val="505050"/>
                </a:solidFill>
                <a:latin typeface="Arial"/>
                <a:ea typeface="Microsoft JhengHei"/>
                <a:cs typeface="Microsoft JhengHei"/>
              </a:rPr>
              <a:t>
創科班 Little Makers Class｜S1 Unit 5：關愛 Project</a:t>
            </a:r>
          </a:p>
          <a:p>
            <a:pPr algn="ctr"/>
            <a:r>
              <a:rPr sz="3600" b="1">
                <a:solidFill>
                  <a:srgbClr val="1F4E79"/>
                </a:solidFill>
                <a:latin typeface="Arial"/>
                <a:ea typeface="Microsoft JhengHei"/>
                <a:cs typeface="Microsoft JhengHei"/>
              </a:rPr>
              <a:t>
第 25 堂：成果展
Lesson 25: Showcase and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6C0A"/>
                </a:solidFill>
                <a:latin typeface="Arial"/>
                <a:ea typeface="Microsoft JhengHei"/>
                <a:cs typeface="Microsoft JhengHei"/>
              </a:rPr>
              <a:t>✎ 4–5 人一組 ‧ 每組共用一部裝置 ‧ 正能量——用創科關愛弱勢社群</a:t>
            </a:r>
          </a:p>
          <a:p>
            <a:r>
              <a:rPr sz="1300" b="0">
                <a:solidFill>
                  <a:srgbClr val="6E6E6E"/>
                </a:solidFill>
                <a:latin typeface="Arial"/>
                <a:ea typeface="Microsoft JhengHei"/>
                <a:cs typeface="Microsoft JhengHei"/>
              </a:rPr>
              <a:t>Groups of 4-5 · one shared device per group · Positive Energy – Caring for the Underprivileged through Innovation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互評表（A4） × 每人一張</a:t>
            </a:r>
          </a:p>
          <a:p>
            <a:pPr/>
            <a:r>
              <a:rPr sz="1600">
                <a:eaTypeface typeface="微軟正黑體"/>
              </a:rPr>
              <a:t>反思紙（A5） × 每人一張</a:t>
            </a:r>
          </a:p>
          <a:p>
            <a:pPr/>
            <a:r>
              <a:rPr sz="1600">
                <a:eaTypeface typeface="微軟正黑體"/>
              </a:rPr>
              <a:t>展示提示卡 × 每組一張</a:t>
            </a:r>
          </a:p>
          <a:p>
            <a:pPr/>
            <a:r>
              <a:rPr sz="1600">
                <a:eaTypeface typeface="微軟正黑體"/>
              </a:rPr>
              <a:t>獎狀 × 每組一張</a:t>
            </a:r>
          </a:p>
          <a:p>
            <a:pPr/>
            <a:r>
              <a:rPr sz="1600">
                <a:eaTypeface typeface="微軟正黑體"/>
              </a:rPr>
              <a:t>小獎品（貼紙／文具） × 每組一份</a:t>
            </a:r>
          </a:p>
          <a:p>
            <a:pPr/>
            <a:r>
              <a:rPr sz="1600">
                <a:eaTypeface typeface="微軟正黑體"/>
              </a:rPr>
              <a:t>計時器（投影用） × 一個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-l2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999" y="2109000"/>
            <a:ext cx="3960000" cy="26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學習目標 Learning Objectives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latin typeface="Arial"/>
                <a:ea typeface="Microsoft JhengHei"/>
                <a:cs typeface="Microsoft JhengHei"/>
              </a:rPr>
              <a:t>•  學生能在三分鐘內向全班介紹本組作品（包括關愛對象、真實需要、實物設計、AI 生成部分）。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Students can introduce their group’s work to the whole class within three minutes (covering the caring target, real need, physical design, and AI-generated part).</a:t>
            </a:r>
          </a:p>
          <a:p>
            <a:pPr>
              <a:spcAft>
                <a:spcPts val="800"/>
              </a:spcAft>
            </a:pPr>
            <a:r>
              <a:rPr sz="2200" b="0">
                <a:latin typeface="Arial"/>
                <a:ea typeface="Microsoft JhengHei"/>
                <a:cs typeface="Microsoft JhengHei"/>
              </a:rPr>
              <a:t>•  學生能按互評表為至少三組作品評分，並為每組寫出至少一項具體讚賞。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Students can score at least three groups’ works using the peer-evaluation form and write at least one specific compliment for each.</a:t>
            </a:r>
          </a:p>
          <a:p>
            <a:pPr>
              <a:spcAft>
                <a:spcPts val="800"/>
              </a:spcAft>
            </a:pPr>
            <a:r>
              <a:rPr sz="2200" b="0">
                <a:latin typeface="Arial"/>
                <a:ea typeface="Microsoft JhengHei"/>
                <a:cs typeface="Microsoft JhengHei"/>
              </a:rPr>
              <a:t>•  學生能說出本單元中自己學到的一項與「正能量」相關的體會。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Students can state one takeaway from the unit related to ‘positive energy’.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課程內容（1） Lesson Content (1)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【甲、展示四要素】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A. The four elements of the presentation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三分鐘展示必須包括四要素：(1) 關愛對象是誰；(2) 真實需要是什麼；(3) 實物設計是怎樣的；(4) AI 生成部分是什麼。缺一不可。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The three-minute presentation must cover four elements: (1) who the caring target is; (2) what the real need is; (3) what the physical design is like; (4) what the AI-generated part is. None may be missing.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展示規則：每組 3 分鐘展示＋1 分鐘問答；教師會用計時器嚴格計時，超時會被叫停。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Presentation rules: 3 minutes per group + 1 minute Q&amp;A; the teacher keeps strict time with a timer – overtime will be stopped.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【乙、「1＋1＋1」三分鐘結構】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B. The ‘1+1+1’ three-minute structure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第 1 分鐘：講關愛對象與真實需要——「我們關心的是誰？他們有什麼困難？」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Minute 1: the caring target and real need – ‘Who do we care about? What difficulty do they face?’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第 2 分鐘：講實物設計——展示原型，「我們的設計是怎樣的？怎樣回應這個需要？」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Minute 2: the physical design – show the prototype: ‘What is our design like? How does it address the need?’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第 3 分鐘：講 AI 生成部分與分工——「AI 幫我們生成了什麼？組員各自負責了什麼？」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Minute 3: the AI-generated part and task allocation – ‘What did AI generate for us? What did each member do?’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每組會獲發一張展示提示卡；上台前小組先分配好每人講哪一分鐘。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Each group receives a presentation prompt card; allocate who speaks in which minute before going on stage.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【丙、互評表】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C. The peer-evaluation form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每位學生為其他組別評分（不評自己組別），每項 1–5 分；評分只作參考，最終獎項由教師綜合決定。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Each student scores other groups (not their own), 1–5 per criterion; scores are advisory and final awards are decided by the teacher overall.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互評五項：(1) 關愛對象與需要是否明確；(2) 實物原型是否配合需要、製作認真；(3) AI 生成部分是否配合主題；(4) 介紹是否清晰、有條理；(5) 整體創意。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The five criteria: (1) Is the caring target and need clear? (2) Does the physical prototype address the need, and is it carefully made? (3) Does the AI-generated part match the theme? (4) Is the presentation clear and well organised? (5) Overall creativity.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評分要看作品準則，不可只給朋友高分；這是誠實和公平的表現。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Score against the criteria – do not give high marks only to friends; this is a matter of honesty and fairness.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課程內容（2） Lesson Content (2)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【丁、具體讚賞】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D. Specific compliments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每評一組，須寫出一句具體讚賞。具體讚賞＝指出作品的某個特點＋它好在哪裡。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For each group scored, write one specific compliment. A specific compliment = name a feature of the work + say what is good about it.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比較：✘ 空泛：「很好」「很漂亮」「不錯」——沒有指出好在哪裡。✔ 具體：「他們的反光牌支架用了三角形結構，很穩固」「海報用了暖色調和簡短文字，很配合清晨清潔工的主題」。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Compare: ✘ Vague: ‘very good’, ‘very pretty’, ‘not bad’ – none says what is good. ✔ Specific: ‘Their sign stand uses a triangular structure, which is very stable’; ‘The poster uses warm tones and short text, which suits the early-morning cleaners’ theme’.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欣賞別人的長處、說出具體原因，是本課要學的「正能量」態度。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Appreciating others’ strengths and stating specific reasons is the ‘positive energy’ attitude this lesson teaches.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【戊、獎項與正能量分享】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E. Awards and positive-energy sharing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獎項類別：最具關愛精神獎、最佳創意獎、最佳 AI 應用獎、最佳演說獎，以及最佳進步獎（肯定起點較低但付出努力的小組）。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Award categories: Most Caring Spirit, Most Creative, Best AI Application, Best Presentation, plus Most Improved (recognising groups that started lower but worked hard).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得獎組別分享一句得獎感受；最後全班每人用一句話分享本單元的正能量體會，例如「原來科技可以令清潔工更安全」。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Winning groups share one acceptance sentence; finally, every student shares one positive-energy takeaway in one sentence, e.g. ‘Technology can actually make cleaners safer’.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獎項人人有機會；即使沒有得獎，認真完成五堂專題的每一位同學都值得肯定。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Awards are open to all; even without winning, every student who completed the five-lesson project seriously deserves recognition.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例子 Examples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例 1：例一（展示講稿開場示例）：「大家好，我們是第 3 組。我們關心的對象是清晨工作的清潔工。他們在光線不足的街道上工作，容易被途人忽視，有一定危險。我們的問題是：如何能讓清晨工作的清潔工更容易被途人看見？」——30 秒內講完對象、需要、問題定義。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Example 1: Example 1 (sample presentation opening): ‘Hello everyone, we are Group 3. Our caring target is cleaners working in the early morning. They work on poorly lit streets and are easily overlooked by passers-by, which is dangerous. Our question is: How might we make cleaners working in the early morning more visible to passers-by?’ – target, need and problem definition covered in 30 seconds.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例 2：例二（互評表填寫示例）：第 2 組——關愛對象與需要是否明確：4 分；實物原型是否配合需要、製作認真：5 分；AI 生成部分是否配合主題：4 分；介紹是否清晰、有條理：4 分；整體創意：5 分。具體讚賞：「他們的反光牌支架用了三角形結構，很穩固，而且海報的標題字很大，遠處也看得見。」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Example 2: Example 2 (sample peer-evaluation entry): Group 2 – Is the caring target and need clear: 4; Does the physical prototype address the need / carefully made: 5; Does the AI-generated part match the theme: 4; Is the presentation clear and well organised: 4; Overall creativity: 5. Specific compliment: ‘Their sign stand uses a triangular structure and is very stable, and the poster title is so large it can be read from far away.’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課堂小練習 Class Practice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以下哪一句是「具體讚賞」？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Which of the following is a ‘specific compliment’?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三分鐘展示的「1＋1＋1」結構是怎樣的？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What is the ‘1+1+1’ structure of the three-minute presentation?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互評時可以評自己組別嗎？為什麼？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May you score your own group in peer evaluation?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6C0A"/>
                </a:solidFill>
                <a:latin typeface="Arial"/>
                <a:ea typeface="Microsoft JhengHei"/>
                <a:cs typeface="Microsoft JhengHei"/>
              </a:rPr>
              <a:t>✎ 與鄰座討論後作答，稍後全班核對</a:t>
            </a:r>
          </a:p>
          <a:p>
            <a:r>
              <a:rPr sz="1300" b="0">
                <a:solidFill>
                  <a:srgbClr val="6E6E6E"/>
                </a:solidFill>
                <a:latin typeface="Arial"/>
                <a:ea typeface="Microsoft JhengHei"/>
                <a:cs typeface="Microsoft JhengHei"/>
              </a:rPr>
              <a:t>Discuss with your neighbour, then check with the class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思考題 Thinking Questions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互評分數只作參考、最終獎項由教師綜合決定，你認為這樣公平嗎？為什麼？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Peer scores are only advisory and the teacher decides the final awards overall. Do you think this is fair? Why?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如果你是台下觀眾，怎樣做才是有禮貌、有幫助的觀眾？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As an audience member, how can you be a polite and helpful audience?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6C0A"/>
                </a:solidFill>
                <a:latin typeface="Arial"/>
                <a:ea typeface="Microsoft JhengHei"/>
                <a:cs typeface="Microsoft JhengHei"/>
              </a:rPr>
              <a:t>✎ 先獨立思考，再與小組分享</a:t>
            </a:r>
          </a:p>
          <a:p>
            <a:r>
              <a:rPr sz="1300" b="0">
                <a:solidFill>
                  <a:srgbClr val="6E6E6E"/>
                </a:solidFill>
                <a:latin typeface="Arial"/>
                <a:ea typeface="Microsoft JhengHei"/>
                <a:cs typeface="Microsoft JhengHei"/>
              </a:rPr>
              <a:t>Think alone first, then share with your group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分組活動 Group Activity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步驟 1：按抽籤次序上台展示（3 分鐘＋1 分鐘問答）：用「1＋1＋1」結構介紹關愛對象、真實需要、實物設計、AI 生成部分與分工。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Step 1: Present on stage in drawn order (3 minutes + 1 minute Q&amp;A): introduce the caring target, real need, physical design, AI-generated part and task allocation using the ‘1+1+1’ structure.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步驟 2：台下即時完成互評表：為至少三組評分（不評自己組別，每項 1–5 分），並為每組寫出一句具體讚賞。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Step 2: Complete the peer-evaluation form in real time: score at least three groups (not your own, 1–5 per criterion) and write one specific compliment for each.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步驟 3：在反思紙上寫下：「我最欣賞的一組是＿＿＿＿，原因是＿＿＿＿。」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Step 3: On the reflection slip, write: ‘The group I admire most is ______, because ______.’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步驟 4：參與頒獎與正能量分享：每人用一句話分享本單元的正能量體會。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Step 4: Join the awards and positive-energy sharing: each person shares one positive-energy takeaway from the unit in one sentence.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696" y="4446001"/>
            <a:ext cx="324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總結 Summary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展示四要素：關愛對象、真實需要、實物設計、AI 生成部分；用「1＋1＋1」結構在三分鐘內講完。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The four presentation elements – caring target, real need, physical design, AI-generated part – delivered in three minutes with the ‘1+1+1’ structure.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互評五項（每項 1–5 分），不評自己組別；評分看準則、不只給朋友高分；分數只作參考。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Five peer-evaluation criteria (1–5 each); do not score your own group; score against the criteria, not friendships; scores are advisory.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每評一組寫一句具體讚賞：指出作品特點＋好在哪裡；空泛的「很好」不算數。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Write one specific compliment per group: name a feature + say what is good about it; vague ‘very good’ does not count.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五堂專題歷程：定題 → 設計 → 動手做（一）→ 動手做（二）→ 成果展；正能量不只是一句標語，而是課堂中真實發生的互相肯定。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The five-lesson journey: topic setting → design → making I → making II → showcase; positive energy is not just a slogan but real mutual appreciation happening in class.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小測驗 Mini Quiz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1. 三分鐘展示必須包括以下哪四要素？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Which four elements must the three-minute presentation include?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     A. 關愛對象、真實需要、實物設計、AI 生成部分　B. 組員名單、日期、地點、天氣　C. 成本、利潤、廣告、銷量　D. 老師姓名、課室編號、堂數、功課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2. 「1＋1＋1」結構中，第 2 分鐘講什麼？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In the ‘1+1+1’ structure, what is covered in minute 2?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     A. 關愛對象與真實需要　B. 實物設計　C. AI 生成部分與分工　D. 得獎感受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3. 互評時，以下哪種做法正確？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Which of the following is correct practice in peer evaluation?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     A. 只給朋友高分　B. 按作品準則評分，不評自己組別，並寫出具體讚賞　C. 全部給 1 分　D. 不寫評語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4. 請寫出互評表的五項評分項目。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Write down the five criteria of the peer-evaluation form.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5. 請把以下空泛評語改寫成具體讚賞：「他們的作品很好。」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Rewrite the following vague remark into a specific compliment: ‘Their work is very good.’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6C0A"/>
                </a:solidFill>
                <a:latin typeface="Arial"/>
                <a:ea typeface="Microsoft JhengHei"/>
                <a:cs typeface="Microsoft JhengHei"/>
              </a:rPr>
              <a:t>✎ 獨立完成，檢視本課學習成果</a:t>
            </a:r>
          </a:p>
          <a:p>
            <a:r>
              <a:rPr sz="1300" b="0">
                <a:solidFill>
                  <a:srgbClr val="6E6E6E"/>
                </a:solidFill>
                <a:latin typeface="Arial"/>
                <a:ea typeface="Microsoft JhengHei"/>
                <a:cs typeface="Microsoft JhengHei"/>
              </a:rPr>
              <a:t>Complete independently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家課 Homework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選擇題＋問答題（見家課工作紙）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MC + short questions (see homework sheet)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延伸任務：寫一篇約 100 字的反思，主題為「我的關愛行動」，內容包括：(1) 本組的關愛對象是誰；(2) 我在專題中負責了什麼；(3) 我學到最重要的一件事。下一星期交回教師批改。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Extension task: write a reflection of about 100 words titled ‘My Caring Action’, covering: (1) who our group’s caring target is; (2) what I was responsible for in the project; (3) the most important thing I learnt. Submit to the teacher next week for marking.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