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880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12 堂：二進制——二進制生日卡</a:t>
            </a:r>
          </a:p>
          <a:p>
            <a:r>
              <a:rPr sz="2400" b="0" i="0">
                <a:solidFill>
                  <a:srgbClr val="DCE6F5"/>
                </a:solidFill>
                <a:latin typeface="Arial"/>
                <a:ea typeface="Microsoft JhengHei"/>
              </a:rPr>
              <a:t>Lesson 12: Binary — Binary Birthday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latin typeface="Arial"/>
                <a:ea typeface="Microsoft JhengHei"/>
              </a:rPr>
              <a:t>單元三：編程思維（不插電）</a:t>
            </a:r>
          </a:p>
          <a:p>
            <a:r>
              <a:rPr sz="1800" b="0" i="0">
                <a:solidFill>
                  <a:srgbClr val="555555"/>
                </a:solidFill>
                <a:latin typeface="Arial"/>
                <a:ea typeface="Microsoft JhengHei"/>
              </a:rPr>
              <a:t>Unit 3: Computational Thinking (Unplugged)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二進制卡片組（1、2、4、8、16，厚卡紙印製） Binary card set (1, 2, 4, 8, 16, on thick card) × 每組 1 套 1 set per group</a:t>
            </a:r>
          </a:p>
          <a:p>
            <a:pPr/>
            <a:r>
              <a:rPr sz="1600">
                <a:eaTypeface typeface="微軟正黑體"/>
              </a:rPr>
              <a:t>A4 白卡紙（製作生日卡） A4 white card paper (for birthday cards) × 每人 1 張 1 per student</a:t>
            </a:r>
          </a:p>
          <a:p>
            <a:pPr/>
            <a:r>
              <a:rPr sz="1600">
                <a:eaTypeface typeface="微軟正黑體"/>
              </a:rPr>
              <a:t>顏色筆／木顏色 Coloured pens / colour pencils × 每組 1 盒 1 box per group</a:t>
            </a:r>
          </a:p>
          <a:p>
            <a:pPr/>
            <a:r>
              <a:rPr sz="1600">
                <a:eaTypeface typeface="微軟正黑體"/>
              </a:rPr>
              <a:t>剪刀（裝飾用，可省略） Scissors (for decoration, optional) × 每組 1 把 1 per group</a:t>
            </a:r>
          </a:p>
          <a:p>
            <a:pPr/>
            <a:r>
              <a:rPr sz="1600">
                <a:eaTypeface typeface="微軟正黑體"/>
              </a:rPr>
              <a:t>二進制位值表海報 Binary place-value poster × 課室 1 張 1 for the classroom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本課目標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解釋二進制進位規則（逢二進一）；二進制只有 0 和 1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Explain “carry at two”; binary uses only 0 and 1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0–31 十進制 ↔ 二進制互換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Convert 0–31 between decimal and binary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製作二進制生日卡：編碼＋解碼說明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Make a binary birthday card with decoding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電腦只懂兩種狀態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Computers know only two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電腦內部：開／關（高／低電壓）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Inside a computer: on / off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所以只用 0 和 1 記錄所有資料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So all data is stored with just 0 and 1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一個 0 或 1＝一個位元（bit）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One 0 or 1 = one bit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逢二進一 vs 逢十進一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Carry at two vs carry at 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十進制：0–9，數完 9 就進位 → 10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Decimal: after 9, carry → 10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二進制：只有 0、1，數完 1 就進位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Binary: only 0, 1; after 1, carry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由 0 數：0, 1, 10, 11, 100, 101, 110, 111, 1000…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Counting: 0, 1, 10, 11, 100,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二進制位值表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Binary place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16 ｜ 8 ｜ 4 ｜ 2 ｜ 1（每個位置是 2 的次方）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16 | 8 | 4 | 2 | 1 (powers of 2)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翻開的卡相加＝該數字（翻開＝1，合上＝0）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Turned cards add up to the number (up = 1, down = 0)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五張卡最多表示 0–31；加卡可表示更大數字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5 cards: 0–31; add cards for bigger numbers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卡片法例子：13 → 01101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Card method: 13 → 01101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13 ＝ 8 ＋ 4 ＋ 1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13 = 8 + 4 + 1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翻開 8、4、1 三張卡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Turn over the 8, 4 and 1 cards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16:0 ｜ 8:1 ｜ 4:1 ｜ 2:0 ｜ 1:1 → 01101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→ 01101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連除法例子：13 → 01101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Repeated division: 13 → 01101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13÷2＝6…1；6÷2＝3…0；3÷2＝1…1；1÷2＝0…1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Divide by 2; record remainders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由下而上讀餘數：1101 → 補足五位 01101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Read remainders bottom-up: 1101 → 01101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兩種方法結果一致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Both methods agree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讀法注意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How to read binary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✗ 10 不可以讀作「十」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10 is NOT “ten”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✓ 讀作「一零」，等於十進制的 2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Read “one-zero” = decimal 2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100 讀作「一零零」＝ 十進制的 4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100 = “one-zero-zero” = decimal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製作二進制生日卡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Make a binary birthday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1. 寫下你的年齡 → 2. 轉為二進制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1. Write your age → 2. Convert to binary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3. 美化卡面 → 4. 卡背寫解碼說明＋祝福語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3. Decorate → 4. Decoding guide + greeting on back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完成後與鄰座交換，互相解碼驗證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Swap with a neighbour and verify by decoding</a:t>
            </a:r>
          </a:p>
        </p:txBody>
      </p:sp>
      <p:pic>
        <p:nvPicPr>
          <p:cNvPr id="5" name="Picture 4" descr="s1-l12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47" y="5166360"/>
            <a:ext cx="25146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總結＋家課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Summary +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電腦只用 0／1；逢二進一；位值 16-8-4-2-1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Computers use 0/1; carry at two; places 16-8-4-2-1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卡片法、連除法都可轉換進制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Card method &amp; repeated division both work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家課：二進制密碼信（生日日期轉二進制＋教家人解碼）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Homework: “Binary secret letter” for your family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圖：電腦只用 0 和 1 兩種狀態記錄資料（開／關）</a:t>
            </a:r>
          </a:p>
        </p:txBody>
      </p:sp>
      <p:pic>
        <p:nvPicPr>
          <p:cNvPr id="3" name="Picture 2" descr="s1-l1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