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6" r:id="rId17"/>
    <p:sldId id="267" r:id="rId18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2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B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FFD966"/>
                </a:solidFill>
                <a:latin typeface="Arial"/>
                <a:ea typeface="Microsoft JhengHei"/>
              </a:rPr>
              <a:t>創科班 S1 Unit 1｜第 1 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Arial"/>
                <a:ea typeface="Microsoft JhengHei"/>
              </a:rPr>
              <a:t>歡迎來到創科班：工程師思維</a:t>
            </a:r>
          </a:p>
          <a:p>
            <a:r>
              <a:rPr sz="2400" b="0">
                <a:solidFill>
                  <a:srgbClr val="D9D9D9"/>
                </a:solidFill>
                <a:latin typeface="Arial"/>
                <a:ea typeface="Microsoft JhengHei"/>
              </a:rPr>
              <a:t>Welcome to the Little Makers Class: Thinking Like an Engineer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Arial"/>
                <a:ea typeface="Microsoft JhengHei"/>
              </a:rPr>
              <a:t>全年主題：正能量——用創科關愛弱勢社群</a:t>
            </a:r>
          </a:p>
          <a:p>
            <a:r>
              <a:rPr sz="1600" b="0">
                <a:solidFill>
                  <a:srgbClr val="D9D9D9"/>
                </a:solidFill>
                <a:latin typeface="Arial"/>
                <a:ea typeface="Microsoft JhengHei"/>
              </a:rPr>
              <a:t>Year theme: Positive Energy — Using Innovation and Technology to Care for Disadvantaged Groups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A4 白紙 A4 paper × 10 張 10 sheets</a:t>
            </a:r>
          </a:p>
          <a:p>
            <a:pPr/>
            <a:r>
              <a:rPr sz="1600">
                <a:eaTypeface typeface="微軟正黑體"/>
              </a:rPr>
              <a:t>皺紋膠紙 Masking tape × 1 卷 1 roll</a:t>
            </a:r>
          </a:p>
          <a:p>
            <a:pPr/>
            <a:r>
              <a:rPr sz="1600">
                <a:eaTypeface typeface="微軟正黑體"/>
              </a:rPr>
              <a:t>一元硬幣（測試用） $1 coins (for load test) × 20 枚 20 coins</a:t>
            </a:r>
          </a:p>
          <a:p>
            <a:pPr/>
            <a:r>
              <a:rPr sz="1600">
                <a:eaTypeface typeface="微軟正黑體"/>
              </a:rPr>
              <a:t>直尺（30 厘米） Ruler (30 cm) × 1 把 1 each</a:t>
            </a:r>
          </a:p>
          <a:p>
            <a:pPr/>
            <a:r>
              <a:rPr sz="1600">
                <a:eaTypeface typeface="微軟正黑體"/>
              </a:rPr>
              <a:t>剪刀 Scissors × 1 把 1 each</a:t>
            </a:r>
          </a:p>
          <a:p>
            <a:pPr/>
            <a:r>
              <a:rPr sz="1600">
                <a:eaTypeface typeface="微軟正黑體"/>
              </a:rPr>
              <a:t>計時器 Timer × 全班 1 個 1 per class</a:t>
            </a:r>
          </a:p>
          <a:p>
            <a:pPr/>
            <a:r>
              <a:rPr sz="1600">
                <a:eaTypeface typeface="微軟正黑體"/>
              </a:rPr>
              <a:t>工作紙 Worksheet × 每人 1 張 1 per student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  <a:ea typeface="Microsoft JhengHei"/>
              </a:rPr>
              <a:t>工程師做甚麼？</a:t>
            </a:r>
          </a:p>
          <a:p>
            <a:r>
              <a:rPr sz="1800" b="0">
                <a:solidFill>
                  <a:srgbClr val="D9D9D9"/>
                </a:solidFill>
                <a:latin typeface="Arial"/>
                <a:ea typeface="Microsoft JhengHei"/>
              </a:rPr>
              <a:t>What do engineers 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把意念變成有用的東西：橋樑、大廈、手機、輪椅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Turn ideas into useful things: bridges, buildings, phones, wheelchairs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遇到難題不靠空想，用可靠的方法解決問題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Solve problems with a reliable method, not daydreaming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工程師的方法：先設計 → 再測試 → 最後改良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The engineer's method: design → test → improve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  <a:ea typeface="Microsoft JhengHei"/>
              </a:rPr>
              <a:t>工程循環</a:t>
            </a:r>
          </a:p>
          <a:p>
            <a:r>
              <a:rPr sz="1800" b="0">
                <a:solidFill>
                  <a:srgbClr val="D9D9D9"/>
                </a:solidFill>
                <a:latin typeface="Arial"/>
                <a:ea typeface="Microsoft JhengHei"/>
              </a:rPr>
              <a:t>The engineering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① 設計 Design：想出辦法，繪畫草圖，先想後做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Think of solutions, draw a sketch — think before you build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② 測試 Test：動手試做，用統一方法量度並記錄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Build it, measure with a consistent method, record the data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③ 改良 Improve：找出弱點，針對修正，再測試一次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Find weaknesses, fix them, and test again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4B5"/>
                </a:solidFill>
                <a:latin typeface="Arial"/>
                <a:ea typeface="Microsoft JhengHei"/>
              </a:rPr>
              <a:t>▶ 失敗不是終點，而是改良的起點 / Failure is not the end — it is the starting point of improvement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  <a:ea typeface="Microsoft JhengHei"/>
              </a:rPr>
              <a:t>紙塔挑戰：規則</a:t>
            </a:r>
          </a:p>
          <a:p>
            <a:r>
              <a:rPr sz="1800" b="0">
                <a:solidFill>
                  <a:srgbClr val="D9D9D9"/>
                </a:solidFill>
                <a:latin typeface="Arial"/>
                <a:ea typeface="Microsoft JhengHei"/>
              </a:rPr>
              <a:t>Paper Tower Challenge: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四至五人一組；物料：A4 紙 10 張、皺紋膠紙 1 卷、剪刀、直尺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Groups of 4–5; materials: 10 sheets of A4 paper, 1 roll of masking tape, scissors, ruler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先繪畫設計草圖，才可動手；限時建造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Draw a design sketch first; build within the time limit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紙塔必須能獨立站立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The tower must stand on its own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評分：高度（厘米）＋ 承重（硬幣數目）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Scoring: height (cm) + load (number of coins)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  <a:ea typeface="Microsoft JhengHei"/>
              </a:rPr>
              <a:t>結構小知識：怎樣才站得穩？</a:t>
            </a:r>
          </a:p>
          <a:p>
            <a:r>
              <a:rPr sz="1800" b="0">
                <a:solidFill>
                  <a:srgbClr val="D9D9D9"/>
                </a:solidFill>
                <a:latin typeface="Arial"/>
                <a:ea typeface="Microsoft JhengHei"/>
              </a:rPr>
              <a:t>A little about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底座愈闊，站得愈穩（重心不易超出底座）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The wider the base, the more stable (centre of gravity stays within the base)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三角形是最穩固的形狀：三邊固定，形狀不變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The triangle is the most rigid shape: fixed sides mean a fixed shape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把紙捲成紙筒／摺成三角形，可增加強度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Roll paper into tubes or fold into triangles for extra strength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4B5"/>
                </a:solidFill>
                <a:latin typeface="Arial"/>
                <a:ea typeface="Microsoft JhengHei"/>
              </a:rPr>
              <a:t>▶ 提示：結構設計比物料多寡更重要 / Hint: structural design matters more than the amount of material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  <a:ea typeface="Microsoft JhengHei"/>
              </a:rPr>
              <a:t>量度與記錄</a:t>
            </a:r>
          </a:p>
          <a:p>
            <a:r>
              <a:rPr sz="1800" b="0">
                <a:solidFill>
                  <a:srgbClr val="D9D9D9"/>
                </a:solidFill>
                <a:latin typeface="Arial"/>
                <a:ea typeface="Microsoft JhengHei"/>
              </a:rPr>
              <a:t>Measuring and recording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高度：直尺垂直放桌上，由桌面量至塔頂（厘米）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Height: ruler vertical on the desk, desk surface to tower top (cm)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承重：硬幣逐枚輕放塔頂，直至倒塌，記錄數目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Load: place coins one by one on top until collapse; record the number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每輪測試後立即記錄，兩輪數據都要齊全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Record immediately after each round; both rounds must be complete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  <a:ea typeface="Microsoft JhengHei"/>
              </a:rPr>
              <a:t>團隊合作三要素</a:t>
            </a:r>
          </a:p>
          <a:p>
            <a:r>
              <a:rPr sz="1800" b="0">
                <a:solidFill>
                  <a:srgbClr val="D9D9D9"/>
                </a:solidFill>
                <a:latin typeface="Arial"/>
                <a:ea typeface="Microsoft JhengHei"/>
              </a:rPr>
              <a:t>Three keys to teamwork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6217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分工：每人負責一項工作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Division of labour: each person takes one job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溝通：有想法、有困難都要說出來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Communication: speak up with ideas and difficulties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互相聆聽：聽完別人才發表意見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Listen: hear others out before giving your view</a:t>
            </a:r>
          </a:p>
        </p:txBody>
      </p:sp>
      <p:pic>
        <p:nvPicPr>
          <p:cNvPr id="5" name="Picture 4" descr="s1-l01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37360"/>
            <a:ext cx="3931920" cy="27205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  <a:ea typeface="Microsoft JhengHei"/>
              </a:rPr>
              <a:t>第一輪建造（20 分鐘）</a:t>
            </a:r>
          </a:p>
          <a:p>
            <a:r>
              <a:rPr sz="1800" b="0">
                <a:solidFill>
                  <a:srgbClr val="D9D9D9"/>
                </a:solidFill>
                <a:latin typeface="Arial"/>
                <a:ea typeface="Microsoft JhengHei"/>
              </a:rPr>
              <a:t>Round 1 building (20 minutes)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按照草圖分工建造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Build according to your sketch, with assigned roles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建造時思考：底座夠不夠闊？結構夠不夠穩？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While building, ask: is the base wide enough? Is the structure stable?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時間由老師嚴格控制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Time is kept strictly by the teacher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4B5"/>
                </a:solidFill>
                <a:latin typeface="Arial"/>
                <a:ea typeface="Microsoft JhengHei"/>
              </a:rPr>
              <a:t>▶ 先畫草圖，後動手 / Sketch first, build afterwards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  <a:ea typeface="Microsoft JhengHei"/>
              </a:rPr>
              <a:t>改良：針對弱點，不是重做</a:t>
            </a:r>
          </a:p>
          <a:p>
            <a:r>
              <a:rPr sz="1800" b="0">
                <a:solidFill>
                  <a:srgbClr val="D9D9D9"/>
                </a:solidFill>
                <a:latin typeface="Arial"/>
                <a:ea typeface="Microsoft JhengHei"/>
              </a:rPr>
              <a:t>Improve: fix weaknesses, not redo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分析第一輪的問題出在哪裡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Analyse where Round 1 went wrong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提出針對弱點的改良方案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Propose improvements targeting the weaknesses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在原有紙塔上修正，再測試一次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Fix the existing tower, then test again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  <a:ea typeface="Microsoft JhengHei"/>
              </a:rPr>
              <a:t>總結＋課業</a:t>
            </a:r>
          </a:p>
          <a:p>
            <a:r>
              <a:rPr sz="1800" b="0">
                <a:solidFill>
                  <a:srgbClr val="D9D9D9"/>
                </a:solidFill>
                <a:latin typeface="Arial"/>
                <a:ea typeface="Microsoft JhengHei"/>
              </a:rPr>
              <a:t>Summary and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工程循環：設計 → 測試 → 改良；失敗是改良的起點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Engineering cycle: design → test → improve; failure is the starting point of improvement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穩固＝闊底座＋三角形支撐；測試要記錄數據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Stable = wide base + triangular bracing; record test data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課業：完成「紙塔挑戰反思工作紙」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Assignment: complete the "Paper Tower Challenge Reflection Worksheet"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2626"/>
                </a:solidFill>
                <a:latin typeface="Arial"/>
                <a:ea typeface="Microsoft JhengHei"/>
              </a:rPr>
              <a:t>●  (1) 描述三個步驟 (2) 填寫兩輪數據 (3) 改良前後對比（不少於五十字）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95959"/>
                </a:solidFill>
                <a:latin typeface="Arial"/>
                <a:ea typeface="Microsoft JhengHei"/>
              </a:rPr>
              <a:t>　　(1) Describe the three steps (2) Fill in both rounds of data (3) Before-and-after comparison (≥50 Chinese characters)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/>
              <a:t>工程循環 The Engineering Cycle</a:t>
            </a:r>
          </a:p>
        </p:txBody>
      </p:sp>
      <p:pic>
        <p:nvPicPr>
          <p:cNvPr id="3" name="Picture 2" descr="s1-l01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996" y="1371600"/>
            <a:ext cx="7680959" cy="51206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