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65" r:id="rId1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D966"/>
                </a:solidFill>
                <a:latin typeface="Arial"/>
                <a:ea typeface="Microsoft JhengHei"/>
              </a:rPr>
              <a:t>創科班 S1 Unit 1｜第 2 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  <a:ea typeface="Microsoft JhengHei"/>
              </a:rPr>
              <a:t>設計思維五步：為同學設計理想筆袋</a:t>
            </a:r>
          </a:p>
          <a:p>
            <a:r>
              <a:rPr sz="2400" b="0">
                <a:solidFill>
                  <a:srgbClr val="D9D9D9"/>
                </a:solidFill>
                <a:latin typeface="Arial"/>
                <a:ea typeface="Microsoft JhengHei"/>
              </a:rPr>
              <a:t>The Five Steps of Design Thinking: Designing an Ideal Pencil Case for a Classmate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  <a:ea typeface="Microsoft JhengHei"/>
              </a:rPr>
              <a:t>好的設計，由了解用家的需要開始</a:t>
            </a:r>
          </a:p>
          <a:p>
            <a:r>
              <a:rPr sz="1600" b="0">
                <a:solidFill>
                  <a:srgbClr val="D9D9D9"/>
                </a:solidFill>
                <a:latin typeface="Arial"/>
                <a:ea typeface="Microsoft JhengHei"/>
              </a:rPr>
              <a:t>Good design starts from understanding the user's needs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訪問記錄工作紙 Interview record worksheet × 每人 1 張 1 per student</a:t>
            </a:r>
          </a:p>
          <a:p>
            <a:pPr/>
            <a:r>
              <a:rPr sz="1600">
                <a:eaTypeface typeface="微軟正黑體"/>
              </a:rPr>
              <a:t>A4 卡紙（不同顏色） A4 card stock (assorted colours) × 每人 2–3 張 2–3 per student</a:t>
            </a:r>
          </a:p>
          <a:p>
            <a:pPr/>
            <a:r>
              <a:rPr sz="1600">
                <a:eaTypeface typeface="微軟正黑體"/>
              </a:rPr>
              <a:t>皺紋膠紙 Masking tape × 每組 1 卷 1 roll per group</a:t>
            </a:r>
          </a:p>
          <a:p>
            <a:pPr/>
            <a:r>
              <a:rPr sz="1600">
                <a:eaTypeface typeface="微軟正黑體"/>
              </a:rPr>
              <a:t>剪刀 Scissors × 每組 2 把 2 per group</a:t>
            </a:r>
          </a:p>
          <a:p>
            <a:pPr/>
            <a:r>
              <a:rPr sz="1600">
                <a:eaTypeface typeface="微軟正黑體"/>
              </a:rPr>
              <a:t>顏色筆 Colour pens × 每組 1 盒 1 box per group</a:t>
            </a:r>
          </a:p>
          <a:p>
            <a:pPr/>
            <a:r>
              <a:rPr sz="1600">
                <a:eaTypeface typeface="微軟正黑體"/>
              </a:rPr>
              <a:t>雙面膠紙 Double-sided tape × 每組 1 卷 1 roll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想一想：不好用的設計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Think: poorly designed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日常生活中，你遇過哪些「不好用」的設計？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What poorly designed everyday objects have you come across?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例如：常常卡住的拉鏈、拿不穩的水樽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E.g. a zip that always gets stuck, a bottle that is hard to grip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它忽略了用家的甚麼需要？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Which user need did it overlook?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舉手分享你的例子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Raise your hand and share your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甚麼是設計思維？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What is design thinking?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一套以「用家」為中心的設計方法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 user-centred method for designing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五個步驟：同理心 → 定義問題 → 構思 → 原型 → 測試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Five steps: empathise → define → ideate → prototype → test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不是一次做對，而是不斷循環改良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Not getting it right at once, but looping and improving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步驟 1＋2：同理心、定義問題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Steps 1–2: empathise, 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同理心：觀察＋聆聽，了解用家的真正需要，不憑空假設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Empathise: observe and listen to learn the user's real needs — no assumptions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定義問題：歸納成一句「需要陳述」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Define: summarise into one "need statement"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公式：需要，因為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Formula: [user] needs [what], because [reason]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Arial"/>
                <a:ea typeface="Microsoft JhengHei"/>
              </a:rPr>
              <a:t>▶ 例子：「小文需要一個能同時放十支筆和計算機的筆袋，因為他的筆袋常常爆開。」 / E.g. "Man needs a pencil case that holds ten pens and a calculator, because his pencil case often bursts open."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訪問小貼士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Interview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多用開放式問題，少用是非題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Use open-ended questions more, yes/no questions less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✗ 不好：「你喜歡大筆袋嗎？」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✗ Poor: "Do you like big pencil cases?"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✓ 好：「你平時帶多少支筆回校？為甚麼？」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✓ Good: "How many pens do you usually bring to school? Why?"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多追問「為甚麼」；記下對方的原話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Keep asking "why"; note the interviewee's own 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步驟 3：構思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Step 3: ideate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想出愈多主意愈好，先求數量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Come up with as many ideas as possible — quantity first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不作批評：先畫出來，再選最好的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No criticism yet: draw everything out, then choose the best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畫二至三個設計草圖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Draw two to three design sketches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步驟 4：原型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Step 4: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用卡紙等便宜物料，快速做出可測試的模型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Build a testable model quickly with cheap materials like card stock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求快不求美：重點是測試意念，不用裝飾外觀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Speed over beauty: the point is testing ideas, not decorating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原型不是成品，粗糙一點沒有關係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 prototype is not a finished product — rough is fine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步驟 5：測試與回饋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Step 5: test and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把原型交給用家試用，收集意見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Let the user try the prototype and collect comments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給回饋：先說喜歡之處，再提改善建議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Giving feedback: first say what you like, then suggest improvements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回饋要具體；回饋是改良的養分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Be specific; feedback nourishes improvement</a:t>
            </a:r>
          </a:p>
        </p:txBody>
      </p:sp>
      <p:pic>
        <p:nvPicPr>
          <p:cNvPr id="5" name="Picture 4" descr="s1-l02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3931920" cy="2621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本課任務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Today's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兩人一組，輪流訪問對方（各 5 分鐘）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Work in pairs; interview each other (5 minutes each)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寫出需要陳述，畫二至三個草圖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Write the need statement; draw 2–3 sketches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用卡紙製作「理想筆袋」紙樣原型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Build the "ideal pencil case" paper prototype from card stock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向同伴展示原型，收集並記錄回饋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Present the prototype to your partner; collect and record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Arial"/>
                <a:ea typeface="Microsoft JhengHei"/>
              </a:rPr>
              <a:t>▶ 嚴格計時：訪問環節最容易超時 / Keep strict time: the interview stage tends to overrun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總結＋課業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Summary and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五步：同理心 → 定義問題 → 構思 → 原型 → 測試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Five steps: empathise → define → ideate → prototype → test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好設計由用家需要出發；原型用來測試意念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Good design starts from user needs; prototypes test ideas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課業：完成「理想筆袋設計記錄表」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Assignment: complete the "Ideal Pencil Case Design Record Sheet"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整理訪問記錄＋需要陳述＋用家回饋＋下次改良（不少於五十字）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Organise interview records + need statement + user feedback + next improvement (≥50 Chinese characters)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/>
              <a:t>設計思維五步 Five Steps of Design Thinking</a:t>
            </a:r>
          </a:p>
        </p:txBody>
      </p:sp>
      <p:pic>
        <p:nvPicPr>
          <p:cNvPr id="3" name="Picture 2" descr="s1-l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1371600"/>
            <a:ext cx="7680959" cy="5120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