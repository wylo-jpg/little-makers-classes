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8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latin typeface="Microsoft JhengHei"/>
              </a:rPr>
              <a:t>第 18 堂｜教電腦認東西</a:t>
            </a:r>
          </a:p>
          <a:p>
            <a:r>
              <a:rPr sz="2800">
                <a:latin typeface="Arial"/>
              </a:rPr>
              <a:t>Lesson 18 | Teaching Computers to Recognise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Teachable Machine 影像辨識：剪刀石頭布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Image recognition with Teachable Machine: rock-paper-scissors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創科班 Little Makers Class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S.K.H. Lui Ming Choi Secondary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共用手提電腦／平板（具鏡頭） Shared laptops / tablets (with camera) × 2–3 部（全班輪用） 2–3 for the class</a:t>
            </a:r>
          </a:p>
          <a:p>
            <a:pPr/>
            <a:r>
              <a:rPr sz="1600">
                <a:eaTypeface typeface="微軟正黑體"/>
              </a:rPr>
              <a:t>工作紙 Worksheets × 每組 1 張 1 per group</a:t>
            </a:r>
          </a:p>
          <a:p>
            <a:pPr/>
            <a:r>
              <a:rPr sz="1600">
                <a:eaTypeface typeface="微軟正黑體"/>
              </a:rPr>
              <a:t>Teachable Machine 網站 Teachable Machine website × 老師預先在示範電腦開啟 Pre-opened by teacher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學習目標</a:t>
            </a:r>
          </a:p>
          <a:p>
            <a:r>
              <a:rPr sz="2200"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按序說出機器學習流程：收集數據 → 訓練 → 測試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State the ML workflow: collect data → train → test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親手完成一次影像分類模型訓練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Personally complete one image-classifier training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用數據解釋模型認錯的原因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Explain errors in terms of data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舉出一個數據偏見的例子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Give one example of data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引入：電腦認得剪刀石頭布！</a:t>
            </a:r>
          </a:p>
          <a:p>
            <a:r>
              <a:rPr sz="2200">
                <a:latin typeface="Arial"/>
              </a:rPr>
              <a:t>Hook: The Computer Recognises Rock-Paper-Scissors!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老師開啟 Teachable Machine，用預先訓練好的模型即時辨識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Teacher opens Teachable Machine and recognises live with a pre-trained model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全班見證「電腦認得」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The class witnesses "the computer can tell"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問題：它為什麼認得？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Question: how does it know?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Teachable Machine 是什麼？</a:t>
            </a:r>
          </a:p>
          <a:p>
            <a:r>
              <a:rPr sz="2200">
                <a:latin typeface="Arial"/>
              </a:rPr>
              <a:t>What is Teachable Machine?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Google 的免費網上工具，不用寫程式也能訓練 AI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Google's free web tool — train AI without coding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可以訓練影像、聲音、姿勢分類模型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Trains image, sound and pose classification models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可在裝置本機運作，鏡頭影像不會離開你的電腦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Runs on-device; webcam images never leave your computer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網址：https://teachablemachine.withgoogle.com/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URL: https://teachablemachine.withgoogle.com/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訓練四步</a:t>
            </a:r>
          </a:p>
          <a:p>
            <a:r>
              <a:rPr sz="2200">
                <a:latin typeface="Arial"/>
              </a:rPr>
              <a:t>Four Training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① 開設三個類別：剪刀／石頭／布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1. Create three classes: scissors / rock / paper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② 每類按住按鈕拍約三十張（轉換角度、轉換手，背景簡潔）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2. Hold the button: ~30 samples per class (vary angles and hands; simple backgrounds)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③ 按「訓練」（約十秒）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3. Click "Train" (about ten seconds)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④ 用新姿勢測試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4. Test with new poses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拍攝要點</a:t>
            </a:r>
          </a:p>
          <a:p>
            <a:r>
              <a:rPr sz="2200">
                <a:latin typeface="Arial"/>
              </a:rPr>
              <a:t>Capturing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背景盡量簡潔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Keep backgrounds simple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每類約三十張是經驗值，太少會不穩定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~30 per class is a rule of thumb; too few is unstable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轉換角度、轉換手——多元比多更重要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Vary angles and hands — diversity matters more than amount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預測：如果只拍五張，會怎樣？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Predict: what if only five samples per class?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小組輪流操作</a:t>
            </a:r>
          </a:p>
          <a:p>
            <a:r>
              <a:rPr sz="2200">
                <a:latin typeface="Arial"/>
              </a:rPr>
              <a:t>Group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2–3 部具鏡頭裝置，每組約六至八分鐘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2–3 camera devices, 6–8 minutes per group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每組重建一次模型並測試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Each group rebuilds and tests a model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輪候組：記錄預測與觀察，填寫實驗記錄表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Waiting groups: log predictions and observations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鏡頭勿直射強光；課後蓋上鏡頭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Avoid pointing cameras at strong light; cover cameras afterwards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7</a:t>
            </a:r>
          </a:p>
        </p:txBody>
      </p:sp>
      <p:pic>
        <p:nvPicPr>
          <p:cNvPr id="5" name="Picture 4" descr="s1-l18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847" y="4410000"/>
            <a:ext cx="324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偏見實驗：作弊版</a:t>
            </a:r>
          </a:p>
          <a:p>
            <a:r>
              <a:rPr sz="2200">
                <a:latin typeface="Arial"/>
              </a:rPr>
              <a:t>Bias Experiment: The "Cheat"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只用右手訓練 → 用左手測試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Train with the right hand only → test with the left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全班看著模型認錯！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The class watches the model fail!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討論：為什麼會錯？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Discuss: why did it fail?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答案：數據太單一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Answer: the data was too uniform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數據偏見</a:t>
            </a:r>
          </a:p>
          <a:p>
            <a:r>
              <a:rPr sz="2200">
                <a:latin typeface="Arial"/>
              </a:rPr>
              <a:t>Data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定義：訓練數據有偏差，AI 就學到偏差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Definition: biased training data teaches the AI the bias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真實例子：國際研究曾發現，某些人臉辨識系統對部分膚色的準確度較低，原因是訓練數據不夠多元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Real case: research found some face-recognition systems less accurate for certain skin tones — training data lacked diversity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科技並非中立：人選擇用什麼數據，會影響 AI 的判斷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Technology is not neutral: human data choices shape AI's judgements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總結</a:t>
            </a:r>
          </a:p>
          <a:p>
            <a:r>
              <a:rPr sz="2200"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完整流程：收集數據 → 訓練 → 測試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Full cycle: collect data → train → test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數據的質和量決定 AI 的表現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Data quality and quantity decide AI performance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有偏見的數據 → 有偏見的 AI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Biased data → biased AI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電腦只是在比對圖案特徵，不是真正思考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The computer only matches visual features; it does not truly 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小測驗＋預告</a:t>
            </a:r>
          </a:p>
          <a:p>
            <a:r>
              <a:rPr sz="2200">
                <a:latin typeface="Arial"/>
              </a:rPr>
              <a:t>Mini Quiz + Next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抽問：什麼是數據偏見？舉一個例子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Quick quiz: what is data bias? Give an example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下堂：AI 倫理（一）真假難分——Deepfake 查證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Next: AI Ethics (1) — deepfakes and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-l1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847" y="1629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