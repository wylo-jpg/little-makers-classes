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11 堂：演算法——人體機械人</a:t>
            </a:r>
          </a:p>
          <a:p>
            <a:r>
              <a:rPr sz="2400" b="0" i="0">
                <a:solidFill>
                  <a:srgbClr val="DCE6F5"/>
                </a:solidFill>
                <a:latin typeface="Arial"/>
                <a:ea typeface="Microsoft JhengHei"/>
              </a:rPr>
              <a:t>Lesson 11: Algorithms — Human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latin typeface="Arial"/>
                <a:ea typeface="Microsoft JhengHei"/>
              </a:rPr>
              <a:t>單元三：編程思維（不插電）</a:t>
            </a:r>
          </a:p>
          <a:p>
            <a:r>
              <a:rPr sz="1800" b="0" i="0">
                <a:solidFill>
                  <a:srgbClr val="555555"/>
                </a:solidFill>
                <a:latin typeface="Arial"/>
                <a:ea typeface="Microsoft JhengHei"/>
              </a:rPr>
              <a:t>Unit 3: Computational Thinking (Unplugged)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迷宮格線紙（A3） Maze grid paper (A3) × 每組 2 張 2 per group</a:t>
            </a:r>
          </a:p>
          <a:p>
            <a:pPr/>
            <a:r>
              <a:rPr sz="1600">
                <a:eaTypeface typeface="微軟正黑體"/>
              </a:rPr>
              <a:t>指令寫作紙／「為長者設計」指令卡 Instruction sheets / "design for the elderly" cards × 每組 4 張 4 per group</a:t>
            </a:r>
          </a:p>
          <a:p>
            <a:pPr/>
            <a:r>
              <a:rPr sz="1600">
                <a:eaTypeface typeface="微軟正黑體"/>
              </a:rPr>
              <a:t>原子筆 Ballpoint pens × 每人 1 支 1 per student</a:t>
            </a:r>
          </a:p>
          <a:p>
            <a:pPr/>
            <a:r>
              <a:rPr sz="1600">
                <a:eaTypeface typeface="微軟正黑體"/>
              </a:rPr>
              <a:t>計時器 Timer × 老師 1 個 1 for the teacher</a:t>
            </a:r>
          </a:p>
          <a:p>
            <a:pPr/>
            <a:r>
              <a:rPr sz="1600">
                <a:eaTypeface typeface="微軟正黑體"/>
              </a:rPr>
              <a:t>迷宮起點／終點標記貼紙 Start/finish marker stickers × 每組 2 張 2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本課目標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用自己的語言解釋何謂「演算法」，並指出「精確性」與「序列」兩個要點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Explain what an “algorithm” is; name precision and sequencing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為指定任務撰寫完整、精確的指令（不少於五步）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Write complete, precise instructions (≥ 5 steps)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指出指令中含糊或遺漏之處，並提出具體修正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Spot vague/missing parts and suggest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什麼是演算法？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What is an algorithm?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演算法＝為了解決問題／完成任務而定出的一組明確步驟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An algorithm = a clear set of steps to solve a problem / complete a task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要點一：精確性 — 每步一個動作，用詞清楚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Precision — one action per step, clear wording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要點二：序列 — 步驟按正確次序執行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Sequencing — steps in the correct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為什麼電腦需要精確指令？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Why do computers need precise instructions?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電腦和機械人一樣，只會照字面意思執行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Computers follow only the literal meaning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不會猜測你心裡真正想說什麼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They cannot guess what you really mean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指令含糊 → 結果出錯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Vague instructions → wrong results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寫精確指令＝編程思維第一步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Writing precise instructions = first step of computational thinking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生活例子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Everyday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食譜：泡茶五步 — 煲水 → 放茶包 → 倒水 → 等三分鐘 → 取出茶包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Recipe: making tea in 5 steps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摺紙步驟、傢具組裝說明書也是演算法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Origami steps &amp; assembly manuals are algorithms too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次序例子：先穿襪子，後穿鞋子 — 調亂就穿不上！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Order matters: socks BEFORE shoes!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含糊 vs 精確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Vague vs precise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✗ 含糊：「行過去嗰邊」— 去哪？行幾步？何時停？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Vague: “walk over there” — where? how far?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✓ 精確：「向前行三格，然後向右轉」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Precise: “walk forward 3 squares, then turn right”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機械人不會猜，只能照做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 robot cannot guess — it just obeys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人體機械人：遊戲規則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Human robots: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每組 4–5 人，一人扮演機械人，其餘寫指令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Groups of 4–5; one is the robot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機械人必須「扮蠢」：照字面執行，不可自行修正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Robot “plays dumb”: follows literally, no fixing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組員逐句讀出指令，機械人在迷宮紙上執行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Read instructions aloud; robot acts on the maze sheet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注意安全：不可衝撞他人或物件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Stay safe: no bumping into people or objects</a:t>
            </a:r>
          </a:p>
        </p:txBody>
      </p:sp>
      <p:pic>
        <p:nvPicPr>
          <p:cNvPr id="5" name="Picture 4" descr="s1-l11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7" y="5166360"/>
            <a:ext cx="25146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迷宮挑戰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The maze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目標：引導機械人由起點走到終點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Goal: guide the robot from START to GOAL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失敗後全組討論：指令寫得差？還是機械人行錯？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After failure: bad instructions, or robot error?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記錄失敗原因，修改指令再試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Log the cause, revise, and try again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失敗四類：指令含糊／次序錯誤／遺漏步驟／機械人行錯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4 causes: vague / wrong order / missing step / robot 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關愛任務：為長者設計指令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Caring task: instructions for the elderly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任務：例如「使用遙控器開啟電視」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Task e.g.: turning on the TV with the remote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檢查清單：每步一個動作／用詞長者能明白／次序正確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Checklist: one action per step / plain wording / correct order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讀出請全班評分：夠不夠清楚？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Read aloud — class judges: clear enough?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精確的表達，可以幫助有需要的人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Precise expression helps people in need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總結＋家課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Summary +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演算法＝明確步驟；要點：精確性、序列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Algorithm = clear steps; keys: precision, sequencing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電腦照字面執行；大任務拆成小步驟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Computers follow literally; break big tasks down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家課：家庭演算法 — 為家中長輩寫≥六步精確指令＋指出最易誤解的一步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Homework: “Family algorithm” — ≥6 precise steps for an elderly family member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圖：演算法是一組明確、有次序的步驟（例如食譜、泡茶步驟）</a:t>
            </a:r>
          </a:p>
        </p:txBody>
      </p:sp>
      <p:pic>
        <p:nvPicPr>
          <p:cNvPr id="3" name="Picture 2" descr="s1-l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