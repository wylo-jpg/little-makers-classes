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5" r:id="rId16"/>
    <p:sldId id="266" r:id="rId1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2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0">
                <a:solidFill>
                  <a:srgbClr val="FFFFFF"/>
                </a:solidFill>
                <a:latin typeface="Microsoft JhengHei"/>
              </a:rPr>
              <a:t>第 10 堂</a:t>
            </a:r>
          </a:p>
          <a:p>
            <a:pPr algn="ctr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Microsoft JhengHei"/>
              </a:rPr>
              <a:t>發明家日記</a:t>
            </a:r>
          </a:p>
          <a:p>
            <a:pPr algn="ctr">
              <a:spcAft>
                <a:spcPts val="600"/>
              </a:spcAft>
            </a:pPr>
            <a:r>
              <a:rPr sz="3000" b="0">
                <a:solidFill>
                  <a:srgbClr val="FFC000"/>
                </a:solidFill>
                <a:latin typeface="Microsoft JhengHei"/>
              </a:rPr>
              <a:t>Inventor's Diary</a:t>
            </a:r>
          </a:p>
          <a:p>
            <a:pPr algn="ctr">
              <a:spcBef>
                <a:spcPts val="2400"/>
              </a:spcBef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Microsoft JhengHei"/>
              </a:rPr>
              <a:t>聖公會呂明才中學 創科班</a:t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DDDDDD"/>
                </a:solidFill>
                <a:latin typeface="Microsoft JhengHei"/>
              </a:rPr>
              <a:t>單元二：動手做 STEAM  Unit 2: Hands-on STEAM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「發明家日記」工作紙 “Inventor's Diary” worksheet × 每人 1 份 1 per student</a:t>
            </a:r>
          </a:p>
          <a:p>
            <a:pPr/>
            <a:r>
              <a:rPr sz="1600">
                <a:eaTypeface typeface="微軟正黑體"/>
              </a:rPr>
              <a:t>膠水 Glue × 每組 1 支 1 per group</a:t>
            </a:r>
          </a:p>
          <a:p>
            <a:pPr/>
            <a:r>
              <a:rPr sz="1600">
                <a:eaTypeface typeface="微軟正黑體"/>
              </a:rPr>
              <a:t>顏色筆 Colour pens × 課室現有 Available in classroom</a:t>
            </a:r>
          </a:p>
          <a:p>
            <a:pPr/>
            <a:r>
              <a:rPr sz="1600">
                <a:eaTypeface typeface="微軟正黑體"/>
              </a:rPr>
              <a:t>學生作品相片 Photos of students' work × — —</a:t>
            </a:r>
          </a:p>
          <a:p>
            <a:pPr/>
            <a:r>
              <a:rPr sz="1600">
                <a:eaTypeface typeface="微軟正黑體"/>
              </a:rPr>
              <a:t>釘書機 Stapler × 全班共用 Shared by class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單元回顧：七堂動手做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Unit Review: Seven Hands-on 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第 4 堂：紙橋承重挑戰 —— 結構力學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L4: Paper bridge challenge — structural mechanics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第 5 堂：橡筋動力車 —— 能量轉換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L5: Rubber-band car — energy conversion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第 6 堂：電磁鐵＋磁浮貓 —— 電磁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L6: Electromagnet + levitating cat — electromagnetism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第 7 堂：萬花筒／潛望鏡 —— 光的反射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L7: Kaleidoscope / periscope — reflection of light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第 8 堂：關愛夜燈 —— 簡單電路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L8: Caring night light — simple circuits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第 9 堂：水火箭發射 —— 氣壓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L9: Water rocket launch — air pressure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六個科學概念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Six Science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形狀影響承重：三角形最穩固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Shape affects load-bearing: triangles are most stable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彈性勢能 → 動能；摩擦把部分能量變成熱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Elastic potential energy → kinetic energy; friction turns some into heat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電生磁；同極相斥、異極相吸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Electricity produces magnetism; like poles repel, unlike poles attract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入射角＝反射角；影子是光被擋住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Incidence = reflection; shadows are blocked light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電源＋導線＋負載；LED 單向導電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Source + conductor + load; LEDs conduct one way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氣壓推水向下 → 反作用力推火箭向上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Air pressure pushes water down → reaction pushes rocket 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甚麼是好的反思？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What Is Good Reflection?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✘ 不是讚美自己，也不是「我學到很多」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NOT praising yourself, NOT "I learned a lot"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✔ 具體事例：真實發生的事＋數字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Concrete examples: real events + numbers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✔ 概念連結：事例扣連科學概念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Concept links: examples tied to science concepts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✔ 進步與改進：誠實寫不足＋下次做法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Progress and improvements: honest shortcomings + next steps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例子：空泛 vs 具體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Example: Vague vs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空泛：「這次活動很有趣，我學到很多。」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Vague: "This activity was fun. I learned a lot."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具體：「我們的橡筋車只走了 1.5 米，因為車輪不對齊。這令我明白公平測試為甚麼要求車輪對齊。下次我會先檢查車輪再測試。」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Concrete: "Our car travelled only 1.5 m because the wheels were misaligned. This taught me why a fair test requires aligned wheels. Next time I will check the wheels first."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整理個人作品集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Organise Your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收集六堂的作品相片和工作紙，按堂次排列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Collect photos and worksheets from six lessons, in lesson order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每件作品加一句說明：是甚麼、用甚麼原理、結果如何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One caption per piece: what it is, which principle, what resulted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最少包含四堂的作品記錄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Include work records from at least four lessons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用膠水／釘書機整理成冊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Bind with glue / staples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撰寫發明家日記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Write the Inventor's Diary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一、作品相片黏貼欄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1. Photo collage box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二、本單元學到的三個科學概念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2. Three science concepts learned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三、我的進步與不足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3. My progress and shortcomings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四、最滿意的作品介紹（圖文並茂）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4. My most satisfying work (pictures + words)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五、給下一單元的自己一句話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5. One sentence to myself for the next unit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小組分享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Group Sharing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6400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每人約兩分鐘，介紹最滿意的作品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About two minutes each: present your most satisfying work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說出設計意念、科學概念、測試結果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Describe the design idea, science concept and test result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聆聽組員，說出一件你欣賞的作品及原因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Listen and name one piece you admire, with a reason</a:t>
            </a:r>
          </a:p>
        </p:txBody>
      </p:sp>
      <p:pic>
        <p:nvPicPr>
          <p:cNvPr id="5" name="Picture 4" descr="s1-l10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651760"/>
            <a:ext cx="384048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單元小結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Unit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七堂動手做，六個科學概念，一個關愛主題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Seven hands-on lessons, six science concepts, one caring theme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正能量 —— 用創科關愛弱勢社群（關愛夜燈）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Positive energy — caring for the underprivileged with innovation (night light)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完成發明家日記，提交個人作品集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Finish the inventor's diary and submit your portfolio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下一單元預告：繼續動手，挑戰更多！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Next unit preview: keep making, more challenges ahead!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整理個人作品集｜Organise Your Portfolio</a:t>
            </a:r>
          </a:p>
        </p:txBody>
      </p:sp>
      <p:pic>
        <p:nvPicPr>
          <p:cNvPr id="1009" name="Picture 1008" descr="s1-l10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6" y="158496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