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6" r:id="rId17"/>
    <p:sldId id="267" r:id="rId18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2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0">
                <a:solidFill>
                  <a:srgbClr val="FFFFFF"/>
                </a:solidFill>
                <a:latin typeface="Microsoft JhengHei"/>
              </a:rPr>
              <a:t>第 8 堂</a:t>
            </a:r>
          </a:p>
          <a:p>
            <a:pPr algn="ctr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Microsoft JhengHei"/>
              </a:rPr>
              <a:t>簡單電路——關愛夜燈</a:t>
            </a:r>
          </a:p>
          <a:p>
            <a:pPr algn="ctr">
              <a:spcAft>
                <a:spcPts val="600"/>
              </a:spcAft>
            </a:pPr>
            <a:r>
              <a:rPr sz="3000" b="0">
                <a:solidFill>
                  <a:srgbClr val="FFC000"/>
                </a:solidFill>
                <a:latin typeface="Microsoft JhengHei"/>
              </a:rPr>
              <a:t>Simple Circuits — Caring Night Light</a:t>
            </a:r>
          </a:p>
          <a:p>
            <a:pPr algn="ctr">
              <a:spcBef>
                <a:spcPts val="2400"/>
              </a:spcBef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Microsoft JhengHei"/>
              </a:rPr>
              <a:t>聖公會呂明才中學 創科班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DDDDDD"/>
                </a:solidFill>
                <a:latin typeface="Microsoft JhengHei"/>
              </a:rPr>
              <a:t>單元二：動手做 STEAM  Unit 2: Hands-on STEAM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銅箔膠帶 Copper foil tape × 每組約 50 厘米 approx. 50 cm per group</a:t>
            </a:r>
          </a:p>
          <a:p>
            <a:pPr/>
            <a:r>
              <a:rPr sz="1600">
                <a:eaTypeface typeface="微軟正黑體"/>
              </a:rPr>
              <a:t>LED（3mm 或 5mm） LED (3 mm or 5 mm) × 每組 2 粒 2 per group</a:t>
            </a:r>
          </a:p>
          <a:p>
            <a:pPr/>
            <a:r>
              <a:rPr sz="1600">
                <a:eaTypeface typeface="微軟正黑體"/>
              </a:rPr>
              <a:t>CR2032 鈕扣電池 CR2032 button cell × 每組 1 粒 1 per group</a:t>
            </a:r>
          </a:p>
          <a:p>
            <a:pPr/>
            <a:r>
              <a:rPr sz="1600">
                <a:eaTypeface typeface="微軟正黑體"/>
              </a:rPr>
              <a:t>厚卡紙 Thick card × 每組 1 張 1 per group</a:t>
            </a:r>
          </a:p>
          <a:p>
            <a:pPr/>
            <a:r>
              <a:rPr sz="1600">
                <a:eaTypeface typeface="微軟正黑體"/>
              </a:rPr>
              <a:t>顏色筆 Colour pens × 課室現有 Available in classroom</a:t>
            </a:r>
          </a:p>
          <a:p>
            <a:pPr/>
            <a:r>
              <a:rPr sz="1600">
                <a:eaTypeface typeface="微軟正黑體"/>
              </a:rPr>
              <a:t>膠紙、剪刀 Tape, scissors × 課室現有 Available in classroom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學習目標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鋪設一條能令 LED 發光的紙電路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Lay a paper circuit that lights an LED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說出電路三要素及 LED 正負極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Name the three circuit elements and LED terminals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說出設計如何幫助長者解決夜間摸黑問題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Explain how the design helps the elderly at night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為門牌設計一句關懷標語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Design a caring slogan for the doorplate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引入：長者夜晚的處境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Elderly People at Night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想像：半夜起身，四周漆黑，要摸索去洗手間……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Imagine: getting up at midnight, pitch dark, groping your way to the bathroom…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長者視力較差，摸黑容易跌倒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Elderly people with poor vision can easily fall in the dark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問題：我們可以用電路幫助他們嗎？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Question: can we help them with circuits?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電路三要素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Three Elements of a Circuit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🔋 電源：提供電能（鈕扣電池 CR2032）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Power source: supplies energy (CR2032 button cell)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🟧 導線：傳送電流（銅箔膠帶）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Conductor: carries current (copper foil tape)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💡 負載：使用電能（LED 燈）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Load: uses the energy (LED lamp)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電流：正極 → 導線 → 負載 → 負極（完整一圈）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Current: positive → conductor → load → negative (a complete loop)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通路與斷路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Closed and Open Circuits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通路：電路完整接通 → LED 發光 ✔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Closed: circuit complete → LED lights ✔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斷路：中間斷開 → LED 不亮 ✘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Open: circuit broken → LED dark ✘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常見斷路原因：銅箔沒壓實、LED 接反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Common causes: loose foil, reversed LED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LED 的秘密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Secrets of the 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LED 是發光二極管：電流只容許單向通過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An LED is a light-emitting diode: current flows one way only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長腳＝正極，接電池正極；短腳＝負極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Long leg = positive, to battery positive; short leg = negative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接反了不會亮，也不會燒毀 —— 調轉再接即可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Reversed it won't light, but won't burn out — just flip it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省電、壽命長，一粒電池就夠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Power-saving and long-lasting; one cell is enough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鋪設紙電路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Laying the Paper Circuit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在卡紙上用銅箔膠帶由電池鋪到 LED，再回到電池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Lay foil tape on card from battery to LED and back to battery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轉彎處：摺疊壓實，否則接觸不良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At corners: fold and press firmly, or contact fails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先測試 LED 發光，才黏貼裝飾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Test the LED first, decorate afterwards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E74B5"/>
                </a:solidFill>
                <a:latin typeface="Microsoft JhengHei"/>
              </a:rPr>
              <a:t>⚠ 鈕扣電池不可放入口；用完由教師回收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以用家為本的設計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User-centred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用家：夜晚起身的長者；需要：在黑暗中看清門口和通道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User: elderly people up at night; need: to see the doorway in the dark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設計：夜間發光的門牌，照亮門口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Design: a doorplate that glows at night, lighting the doorway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加上你的關懷標語，例如：「夜裡起身不用怕，門燈為您照亮路」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Add your caring slogan, e.g. "No need to fear getting up at night; the door light brightens your way"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關燈測試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Lights-off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6400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完成後關燈：看看各組的門牌有多亮！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When finished, lights off: see how bright each doorplate glows!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展示門牌，讀出你的關懷標語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Show your doorplate and read out your caring slogan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成功標準：LED 正常發光；能說出三要素及正負極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Success criteria: LED lights normally; can name the three elements and terminals</a:t>
            </a:r>
          </a:p>
        </p:txBody>
      </p:sp>
      <p:pic>
        <p:nvPicPr>
          <p:cNvPr id="5" name="Picture 4" descr="s1-l08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651760"/>
            <a:ext cx="384048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總結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電源＋導線＋負載＝完整電路；斷開即斷路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Source + conductor + load = complete circuit; a break means open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LED 單向導電，長腳正極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LEDs conduct one way; long leg is positive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好設計從用家需要出發 —— 用創科關愛社群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Good design starts from user needs — care for the community with innovation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下堂預告：動手大挑戰 —— 水火箭發射（戶外）！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Next lesson: grand challenge — water rocket launch (outdoor)!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紙電路：銅箔＋電池＋LED｜Paper Circuit: Copper Foil + Battery + LED</a:t>
            </a:r>
          </a:p>
        </p:txBody>
      </p:sp>
      <p:pic>
        <p:nvPicPr>
          <p:cNvPr id="1010" name="Picture 1009" descr="s1-l08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6" y="158496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