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66" r:id="rId17"/>
    <p:sldId id="267" r:id="rId18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2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latin typeface="Microsoft JhengHei"/>
              </a:rPr>
              <a:t>第 19 堂｜AI 倫理（一）：真假難分</a:t>
            </a:r>
          </a:p>
          <a:p>
            <a:r>
              <a:rPr sz="2800">
                <a:latin typeface="Arial"/>
              </a:rPr>
              <a:t>Lesson 19 | AI Ethics (1): Hard to Tell True from False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Deepfake 與假資訊＋查證練習、AI 幻覺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Deepfakes, misinformation, verification practice, AI hallucination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創科班 Little Makers Class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S.K.H. Lui Ming Choi Secondary School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物資表 Materials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eaTypeface typeface="微軟正黑體"/>
              </a:rPr>
              <a:t>可疑訊息卡 Suspicious message cards × 每組 1 套（3 張） 1 set (3 cards) per group</a:t>
            </a:r>
          </a:p>
          <a:p>
            <a:pPr/>
            <a:r>
              <a:rPr sz="1600">
                <a:eaTypeface typeface="微軟正黑體"/>
              </a:rPr>
              <a:t>查證清單卡 Verification checklist cards × 每人 1 張 1 per student</a:t>
            </a:r>
          </a:p>
          <a:p>
            <a:pPr/>
            <a:r>
              <a:rPr sz="1600">
                <a:eaTypeface typeface="微軟正黑體"/>
              </a:rPr>
              <a:t>投影機 Projector × 1 套 1 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學習目標</a:t>
            </a:r>
          </a:p>
          <a:p>
            <a:r>
              <a:rPr sz="2200">
                <a:latin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說出 deepfake 的定義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Define deepfake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列出至少三個查證方法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List at least three verification methods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小組判斷可疑訊息並說出理由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Judge suspicious messages in groups with reasons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解釋「AI 幻覺」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Explain "AI hallucination"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引入投票：哪張是真？</a:t>
            </a:r>
          </a:p>
          <a:p>
            <a:r>
              <a:rPr sz="2200">
                <a:latin typeface="Arial"/>
              </a:rPr>
              <a:t>Hook: Which One Is Real?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投影兩張圖：一張真實新聞相片、一張 AI 生成圖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Project two images: one real news photo, one AI-generated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舉手投票，並說出判斷依據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Vote and explain your reasoning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公佈答案：眼見不一定為實！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Reveal the answer: seeing is not always believing!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什麼是 Deepfake？</a:t>
            </a:r>
          </a:p>
          <a:p>
            <a:r>
              <a:rPr sz="2200">
                <a:latin typeface="Arial"/>
              </a:rPr>
              <a:t>What is Deepfake?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用 AI 偽造的逼真影像或聲音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Realistic images or audio faked with AI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例如：換臉影片、模仿某人聲音的錄音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E.g. face-swap videos, voice-cloning recordings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國際上曾有騙徒用 AI 模仿聲音詐騙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International cases of AI voice-cloning scams exist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所有課堂例子經老師預先篩選，適合中一程度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All class examples are pre-screened as age-appropriate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AI 假資訊三手法</a:t>
            </a:r>
          </a:p>
          <a:p>
            <a:r>
              <a:rPr sz="2200">
                <a:latin typeface="Arial"/>
              </a:rPr>
              <a:t>Three AI-Misinformation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以假亂真的圖片：AI 生成圖冒充新聞相片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Deceptively real images: AI pictures passed off as news photos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② 斷章取義的標題：標題與內容不符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2. Clickbait headlines taken out of context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③ 假冒名人發言：名人根本沒說過的話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3. Fake celebrity quotes: words never said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查證三步</a:t>
            </a:r>
          </a:p>
          <a:p>
            <a:r>
              <a:rPr sz="2200">
                <a:latin typeface="Arial"/>
              </a:rPr>
              <a:t>Three Verification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① 停一停：太驚人／太令人憤怒的，先別轉發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1. Pause: shocking or enraging? Don't forward yet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② 查來源：誰發的？是官方嗎？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2. Check the source: who sent it? Is it official?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③ 找多個來源：有無其他可靠媒體報導？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3. Find multiple sources: have other reliable outlets reported it?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熟習後只需約一分鐘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Takes about a minute once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小組練習：可疑訊息卡</a:t>
            </a:r>
          </a:p>
          <a:p>
            <a:r>
              <a:rPr sz="2200">
                <a:latin typeface="Arial"/>
              </a:rPr>
              <a:t>Group Practice: Suspicious Message Cards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每組三則訊息卡，判斷「可信／可疑／假」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Three cards per group; judge "credible / suspicious / false"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寫下理由和所用查證方法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Write reasons and verification methods used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重點：講理由，不只猜對錯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Focus: give reasons, not just guesses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7</a:t>
            </a:r>
          </a:p>
        </p:txBody>
      </p:sp>
      <p:pic>
        <p:nvPicPr>
          <p:cNvPr id="5" name="Picture 4" descr="s1-l19-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5847" y="4410000"/>
            <a:ext cx="3240000" cy="216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AI 幻覺</a:t>
            </a:r>
          </a:p>
          <a:p>
            <a:r>
              <a:rPr sz="2200">
                <a:latin typeface="Arial"/>
              </a:rPr>
              <a:t>AI Hallucination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即場示範：問 AI 一條它不可能知道的問題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Live demo: ask AI an unknowable question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會一本正經地編出答案！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fabricates a confident answer!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原因：AI 按機率推測下一個字，不會查證事實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Why: AI predicts likely next words; it never checks facts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啟示：問 AI 功課答案，也要再查證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Lesson: verify AI answers about homework too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總結</a:t>
            </a:r>
          </a:p>
          <a:p>
            <a:r>
              <a:rPr sz="2200">
                <a:latin typeface="Arial"/>
              </a:rP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Deepfake ＝ AI 偽造的影像／聲音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Deepfake = AI-faked images/audio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查證三步：停一停、查來源、找多個來源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Three steps: pause, check the source, find multiple sources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AI 幻覺：AI 會自信地編造答案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AI hallucination: AI confidently fabricates answers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金句：先查證，後轉發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Motto: verify before forwarding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latin typeface="Microsoft JhengHei"/>
              </a:rPr>
              <a:t>查證清單卡＋預告</a:t>
            </a:r>
          </a:p>
          <a:p>
            <a:r>
              <a:rPr sz="2200">
                <a:latin typeface="Arial"/>
              </a:rPr>
              <a:t>Checklist Card + Next Lesson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3736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每人領取查證清單卡，貼在書桌當眼處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Each student gets a verification checklist card for the desk</a:t>
            </a:r>
          </a:p>
          <a:p>
            <a:pPr>
              <a:spcAft>
                <a:spcPts val="800"/>
              </a:spcAft>
            </a:pPr>
            <a:r>
              <a:rPr sz="2000">
                <a:latin typeface="Microsoft JhengHei"/>
              </a:rPr>
              <a:t>•  下堂：AI 倫理（二）偏見與私隱——AI 會歧視嗎？</a:t>
            </a:r>
          </a:p>
          <a:p>
            <a:pPr>
              <a:spcAft>
                <a:spcPts val="1000"/>
              </a:spcAft>
            </a:pPr>
            <a:r>
              <a:rPr sz="1500">
                <a:latin typeface="Arial"/>
              </a:rPr>
              <a:t>    Next: AI Ethics (2) — can AI discriminate? Privacy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-l19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847" y="1629000"/>
            <a:ext cx="5400000" cy="36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