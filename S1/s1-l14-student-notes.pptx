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6" r:id="rId17"/>
    <p:sldId id="267" r:id="rId18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2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8803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Arial"/>
                <a:ea typeface="Microsoft JhengHei"/>
              </a:rPr>
              <a:t>第 14 堂：Debug 大作戰</a:t>
            </a:r>
          </a:p>
          <a:p>
            <a:r>
              <a:rPr sz="2400" b="0" i="0">
                <a:solidFill>
                  <a:srgbClr val="DCE6F5"/>
                </a:solidFill>
                <a:latin typeface="Arial"/>
                <a:ea typeface="Microsoft JhengHei"/>
              </a:rPr>
              <a:t>Lesson 14: Debugging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 i="0">
                <a:latin typeface="Arial"/>
                <a:ea typeface="Microsoft JhengHei"/>
              </a:rPr>
              <a:t>紙上程式找錯＋改良迷宮指令｜單元三：編程思維（不插電）</a:t>
            </a:r>
          </a:p>
          <a:p>
            <a:r>
              <a:rPr sz="1800" b="0" i="0">
                <a:solidFill>
                  <a:srgbClr val="555555"/>
                </a:solidFill>
                <a:latin typeface="Arial"/>
                <a:ea typeface="Microsoft JhengHei"/>
              </a:rPr>
              <a:t>Find the Bugs + Improve the Maze | Unit 3 (Unplugged)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物資表 Materials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>
                <a:eaTypeface typeface="微軟正黑體"/>
              </a:rPr>
              <a:t>「紙上程式找錯」工作紙 "Find the bugs on paper" worksheet × 每人 1 張 1 per student</a:t>
            </a:r>
          </a:p>
          <a:p>
            <a:pPr/>
            <a:r>
              <a:rPr sz="1600">
                <a:eaTypeface typeface="微軟正黑體"/>
              </a:rPr>
              <a:t>「改良我的迷宮指令」工作紙 "Improve my maze instructions" worksheet × 每人 1 張 1 per student</a:t>
            </a:r>
          </a:p>
          <a:p>
            <a:pPr/>
            <a:r>
              <a:rPr sz="1600">
                <a:eaTypeface typeface="微軟正黑體"/>
              </a:rPr>
              <a:t>第 11 堂迷宮指令（學生自備） Lesson 11 maze instructions (students' own) × 每人 1 份 1 per student</a:t>
            </a:r>
          </a:p>
          <a:p>
            <a:pPr/>
            <a:r>
              <a:rPr sz="1600">
                <a:eaTypeface typeface="微軟正黑體"/>
              </a:rPr>
              <a:t>原子筆／紅筆（圈出錯處用） Ballpoint / red pens (for circling bugs) × 每人 1 支 1 per student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Arial"/>
                <a:ea typeface="Microsoft JhengHei"/>
              </a:rPr>
              <a:t>本課目標</a:t>
            </a:r>
          </a:p>
          <a:p>
            <a:r>
              <a:rPr sz="1800" b="0" i="0">
                <a:solidFill>
                  <a:srgbClr val="DCE6F5"/>
                </a:solidFill>
                <a:latin typeface="Arial"/>
                <a:ea typeface="Microsoft JhengHei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說出除錯三步法：重現、追蹤、逐段測試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State the 3 debugging steps</a:t>
            </a:r>
          </a:p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在紙上程式找出≥2 個預設錯誤並說明成因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Find ≥2 planted bugs and explain causes</a:t>
            </a:r>
          </a:p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改良第 11 堂迷宮指令：指出改了什麼、為什麼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Improve Lesson 11 instructions with reasons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Arial"/>
                <a:ea typeface="Microsoft JhengHei"/>
              </a:rPr>
              <a:t>什麼是 bug？</a:t>
            </a:r>
          </a:p>
          <a:p>
            <a:r>
              <a:rPr sz="1800" b="0" i="0">
                <a:solidFill>
                  <a:srgbClr val="DCE6F5"/>
                </a:solidFill>
                <a:latin typeface="Arial"/>
                <a:ea typeface="Microsoft JhengHei"/>
              </a:rPr>
              <a:t>What is a bug?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bug＝指令／程式中的錯誤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A bug = an error in instructions / code</a:t>
            </a:r>
          </a:p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debug＝找出並修正錯誤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Debugging = finding and fixing it</a:t>
            </a:r>
          </a:p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出錯是正常的！重點是有系統地找原因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Mistakes are normal! Find causes systematically</a:t>
            </a:r>
          </a:p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胡亂重寫整段，通常更慢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Blind rewriting is usually slower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Arial"/>
                <a:ea typeface="Microsoft JhengHei"/>
              </a:rPr>
              <a:t>除錯三步法</a:t>
            </a:r>
          </a:p>
          <a:p>
            <a:r>
              <a:rPr sz="1800" b="0" i="0">
                <a:solidFill>
                  <a:srgbClr val="DCE6F5"/>
                </a:solidFill>
                <a:latin typeface="Arial"/>
                <a:ea typeface="Microsoft JhengHei"/>
              </a:rPr>
              <a:t>The three debugging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1. 重現問題 Reproduce：把出錯再做一次，確認哪一步出錯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Make it happen again; confirm which step fails</a:t>
            </a:r>
          </a:p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2. 追蹤執行 Trace：扮成電腦，逐行走，記下每步狀態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Act as the computer; follow line by line</a:t>
            </a:r>
          </a:p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3. 逐段測試 Test in sections：分段檢查，縮小範圍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Check section by section; narrow it down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Arial"/>
                <a:ea typeface="Microsoft JhengHei"/>
              </a:rPr>
              <a:t>常見錯誤類型</a:t>
            </a:r>
          </a:p>
          <a:p>
            <a:r>
              <a:rPr sz="1800" b="0" i="0">
                <a:solidFill>
                  <a:srgbClr val="DCE6F5"/>
                </a:solidFill>
                <a:latin typeface="Arial"/>
                <a:ea typeface="Microsoft JhengHei"/>
              </a:rPr>
              <a:t>Common bug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次序錯誤：先後調亂（如先行後轉）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Wrong order</a:t>
            </a:r>
          </a:p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遺漏步驟：少寫關鍵一步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Missing step</a:t>
            </a:r>
          </a:p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含糊用詞：「行前少少」— 多遠？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Vague wording: “move a little” — how far?</a:t>
            </a:r>
          </a:p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多餘步驟：不用轉彎卻寫了轉彎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Redundant step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Arial"/>
                <a:ea typeface="Microsoft JhengHei"/>
              </a:rPr>
              <a:t>追蹤執行示範</a:t>
            </a:r>
          </a:p>
          <a:p>
            <a:r>
              <a:rPr sz="1800" b="0" i="0">
                <a:solidFill>
                  <a:srgbClr val="DCE6F5"/>
                </a:solidFill>
                <a:latin typeface="Arial"/>
                <a:ea typeface="Microsoft JhengHei"/>
              </a:rPr>
              <a:t>Tracing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指令第 4 步「向右轉」→ 機械人面向左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Step 4 “turn right” → faces left</a:t>
            </a:r>
          </a:p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第 5 步向前行 → 撞牆！(2,0) 是牆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Step 5 → CRASH! (2,0) is a wall</a:t>
            </a:r>
          </a:p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錯處：第 4 步應為「向左轉」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Bug: step 4 should be “turn left”</a:t>
            </a:r>
          </a:p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修正後重新追蹤，確認全程無誤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Fix it, then re-trace to confirm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Arial"/>
                <a:ea typeface="Microsoft JhengHei"/>
              </a:rPr>
              <a:t>紙上程式找錯</a:t>
            </a:r>
          </a:p>
          <a:p>
            <a:r>
              <a:rPr sz="1800" b="0" i="0">
                <a:solidFill>
                  <a:srgbClr val="DCE6F5"/>
                </a:solidFill>
                <a:latin typeface="Arial"/>
                <a:ea typeface="Microsoft JhengHei"/>
              </a:rPr>
              <a:t>Find the bugs on paper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（甲）7 步指令：找 2 個錯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(A) 7 steps: find 2 bugs</a:t>
            </a:r>
          </a:p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（乙）5 步指令：找 2 個錯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(B) 5 steps: find 2 bugs</a:t>
            </a:r>
          </a:p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（丙）3 步指令：找 1 個錯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(C) 3 steps: find 1 bug</a:t>
            </a:r>
          </a:p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方法：先重現，再逐行追蹤 — 不要靠估！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Reproduce first, then trace — no guessing!</a:t>
            </a:r>
          </a:p>
        </p:txBody>
      </p:sp>
      <p:pic>
        <p:nvPicPr>
          <p:cNvPr id="5" name="Picture 4" descr="s1-l14-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8547" y="5166360"/>
            <a:ext cx="2514600" cy="167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Arial"/>
                <a:ea typeface="Microsoft JhengHei"/>
              </a:rPr>
              <a:t>改良我的迷宮指令</a:t>
            </a:r>
          </a:p>
          <a:p>
            <a:r>
              <a:rPr sz="1800" b="0" i="0">
                <a:solidFill>
                  <a:srgbClr val="DCE6F5"/>
                </a:solidFill>
                <a:latin typeface="Arial"/>
                <a:ea typeface="Microsoft JhengHei"/>
              </a:rPr>
              <a:t>Improve my maze instructions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取出第 11 堂的迷宮指令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Take out your Lesson 11 instructions</a:t>
            </a:r>
          </a:p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用三步法重審一次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Review with the 3 steps</a:t>
            </a:r>
          </a:p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最少兩處具體改良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At least 2 concrete improvements</a:t>
            </a:r>
          </a:p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填寫對照表：原版／問題／改良／原因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Fill in: original / problem / fix / why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Arial"/>
                <a:ea typeface="Microsoft JhengHei"/>
              </a:rPr>
              <a:t>長者版指令</a:t>
            </a:r>
          </a:p>
          <a:p>
            <a:r>
              <a:rPr sz="1800" b="0" i="0">
                <a:solidFill>
                  <a:srgbClr val="DCE6F5"/>
                </a:solidFill>
                <a:latin typeface="Arial"/>
                <a:ea typeface="Microsoft JhengHei"/>
              </a:rPr>
              <a:t>Elderly-friendly 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字體較大、用詞淺白、每步一個動作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Larger writing, plain words, one action per step</a:t>
            </a:r>
          </a:p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想想：讀者是長輩，他需要什麼？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Think: the reader is elderly — what do they need?</a:t>
            </a:r>
          </a:p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帶回家請家人試讀，記錄意見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Take home; ask family to read and comment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Arial"/>
                <a:ea typeface="Microsoft JhengHei"/>
              </a:rPr>
              <a:t>單元總結＋家課</a:t>
            </a:r>
          </a:p>
          <a:p>
            <a:r>
              <a:rPr sz="1800" b="0" i="0">
                <a:solidFill>
                  <a:srgbClr val="DCE6F5"/>
                </a:solidFill>
                <a:latin typeface="Arial"/>
                <a:ea typeface="Microsoft JhengHei"/>
              </a:rPr>
              <a:t>Unit summary + homework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L11 演算法 → L12 二進制 → L13 效率 → L14 除錯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Algorithms → Binary → Efficiency → Debugging</a:t>
            </a:r>
          </a:p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四堂都是不插電：身體力行學編程思維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All unplugged: learn by doing</a:t>
            </a:r>
          </a:p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家課：Debug 日記（真實出錯＋三步法，≥100 字）＋家人試讀長者版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Homework: “Debugging diary” (≥100 chars) + family read-through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/>
              <a:t>圖：除錯就是找出並修正程式／指令中的 bug（錯誤）</a:t>
            </a:r>
          </a:p>
        </p:txBody>
      </p:sp>
      <p:pic>
        <p:nvPicPr>
          <p:cNvPr id="3" name="Picture 2" descr="s1-l14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047" y="9144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