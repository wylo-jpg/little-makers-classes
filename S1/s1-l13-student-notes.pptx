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13 堂：排序與搜尋</a:t>
            </a:r>
          </a:p>
          <a:p>
            <a:r>
              <a:rPr sz="2400" b="0" i="0">
                <a:solidFill>
                  <a:srgbClr val="DCE6F5"/>
                </a:solidFill>
                <a:latin typeface="Arial"/>
                <a:ea typeface="Microsoft JhengHei"/>
              </a:rPr>
              <a:t>Lesson 13: Sorting and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latin typeface="Arial"/>
                <a:ea typeface="Microsoft JhengHei"/>
              </a:rPr>
              <a:t>人體排序網絡＋二分搜尋｜單元三：編程思維（不插電）</a:t>
            </a:r>
          </a:p>
          <a:p>
            <a:r>
              <a:rPr sz="1800" b="0" i="0">
                <a:solidFill>
                  <a:srgbClr val="555555"/>
                </a:solidFill>
                <a:latin typeface="Arial"/>
                <a:ea typeface="Microsoft JhengHei"/>
              </a:rPr>
              <a:t>Human Sorting Network + Binary Search | Unit 3 (Unplugged)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地貼／粉筆（貼排序網絡格線） Floor tape / chalk (for the sorting-network grid) × 課室 1 卷（可重用） 1 roll per classroom (reusable)</a:t>
            </a:r>
          </a:p>
          <a:p>
            <a:pPr/>
            <a:r>
              <a:rPr sz="1600">
                <a:eaTypeface typeface="微軟正黑體"/>
              </a:rPr>
              <a:t>身高順序卡（1–6 號） Height order cards (no. 1–6) × 每組 1 套 1 set per group</a:t>
            </a:r>
          </a:p>
          <a:p>
            <a:pPr/>
            <a:r>
              <a:rPr sz="1600">
                <a:eaTypeface typeface="微軟正黑體"/>
              </a:rPr>
              <a:t>計時器 Timer × 老師 1 個 1 for the teacher</a:t>
            </a:r>
          </a:p>
          <a:p>
            <a:pPr/>
            <a:r>
              <a:rPr sz="1600">
                <a:eaTypeface typeface="微軟正黑體"/>
              </a:rPr>
              <a:t>猜數字記錄工作紙 Guess-the-number worksheet × 每人 1 張 1 per student</a:t>
            </a:r>
          </a:p>
          <a:p>
            <a:pPr/>
            <a:r>
              <a:rPr sz="1600">
                <a:eaTypeface typeface="微軟正黑體"/>
              </a:rPr>
              <a:t>原子筆 Ballpoint pens × 每人 1 支 1 per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本課目標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描述排序網絡的運作方式（比較—交換）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Describe how a sorting network works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比較隨意排隊 vs 排序網絡，說出更快的原因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Compare random line-up vs sorting network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用二分搜尋在 1–100 內七次猜中數字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Find 1–100 with binary search within 7 guesses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演算法也有快慢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Some algorithms are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同一問題，多種演算法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Same problem, different algorithms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好的演算法＝更少步驟做妥同一件事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Good algorithm = fewer steps, same job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這就是演算法的效率 efficiency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This is called algorithmic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排序網絡：比較—交換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Sorting network: compare-and-swap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比較相鄰兩人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Compare two adjacent people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前面較高 → 交換（矮的往前）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Front person taller → swap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前面較矮／一樣高 → 不動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Front shorter / equal → stay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奇數輪比較 (1,2)(3,4)(5,6)；偶數輪比較 (2,3)(4,5)；共六輪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Odd phases: (1,2)(3,4)(5,6); even phases: (2,3)(4,5); 6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六人執行例子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Six-person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起初：165、150、172、158、160、148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Start: 165, 150, 172, 158, 160, 148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第 1 輪後：150、165、158、172、148、160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After phase 1: 150, 165, 158, 172, 148, 160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第 3 輪後：150、158、148、165、160、172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After phase 3: 150, 158, 148, 165, 160, 172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第 6 輪後：148、150、158、160、165、172 ✓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After phase 6: sorted!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為什麼更快？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Why is it faster?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有固定規則：知道跟誰比較，不用商量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Fixed rules: no discussion needed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步驟有系統：不重複、不遺漏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Systematic: no repeats, no omissions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快的是方法，不是人跑得快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The METHOD is fast, not people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猜數字：逐個猜 vs 二分搜尋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Guessing: one by one vs binary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逐個猜：1、2、3… 最壞 100 次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One by one: worst 100 guesses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二分搜尋三要點：猜中間、聽提示、縮範圍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Binary search: guess middle, heed hint, halve range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「太大」捨棄上半；「太小」捨棄下半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“Too big” drops upper half; “too small” drops lower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每次排除一半可能性 → 1–100 最多七次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Halve each time → at most 7 guesses for 1–100</a:t>
            </a:r>
          </a:p>
        </p:txBody>
      </p:sp>
      <p:pic>
        <p:nvPicPr>
          <p:cNvPr id="5" name="Picture 4" descr="s1-l13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7" y="5166360"/>
            <a:ext cx="25146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二分搜尋例子：找 73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Binary search example: find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50（太小）→ 75（太大）→ 62（太小）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50 too small → 75 too big → 62 too small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→ 68（太小）→ 71（太小）→ 73 猜中！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→ 68 → 71 → 73 found!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六次完成；範圍：100→50→24→12→6→3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6 guesses; range halves each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注意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Watch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二分搜尋不是靠運氣：七次內必然完成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Not luck: guaranteed within 7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資料必須先排序，亂序不能用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Data must be sorted first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1–1000 最多十次（2¹⁰＝1024）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1–1000: at most 10 (2¹⁰ = 1024)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Arial"/>
                <a:ea typeface="Microsoft JhengHei"/>
              </a:rPr>
              <a:t>總結＋家課</a:t>
            </a:r>
          </a:p>
          <a:p>
            <a:r>
              <a:rPr sz="1800" b="0" i="0">
                <a:solidFill>
                  <a:srgbClr val="DCE6F5"/>
                </a:solidFill>
                <a:latin typeface="Arial"/>
                <a:ea typeface="Microsoft JhengHei"/>
              </a:rPr>
              <a:t>Summary +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好演算法＝少步驟；排序網絡快在有系統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Good algorithm = fewer steps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二分搜尋：猜中間、聽提示、縮範圍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Binary search: middle, hint, halve</a:t>
            </a:r>
          </a:p>
          <a:p>
            <a:pPr>
              <a:spcAft>
                <a:spcPts val="1000"/>
              </a:spcAft>
            </a:pPr>
            <a:r>
              <a:rPr sz="2400" b="0" i="0">
                <a:latin typeface="Arial"/>
                <a:ea typeface="Microsoft JhengHei"/>
              </a:rPr>
              <a:t>•  家課：效率實驗報告 — 與家人玩兩次猜數字，記錄＋比較（≥80 字）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5A5A5A"/>
                </a:solidFill>
                <a:latin typeface="Arial"/>
                <a:ea typeface="Microsoft JhengHei"/>
              </a:rPr>
              <a:t>     Homework: “Efficiency experiment report” with family (≥80 chars)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圖：好的演算法更快——排序網絡有系統地比較、交換</a:t>
            </a:r>
          </a:p>
        </p:txBody>
      </p:sp>
      <p:pic>
        <p:nvPicPr>
          <p:cNvPr id="3" name="Picture 2" descr="s1-l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