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</a:rPr>
              <a:t>第 9 堂</a:t>
            </a:r>
          </a:p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Microsoft JhengHei"/>
              </a:rPr>
              <a:t>動手大挑戰——水火箭發射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FFC000"/>
                </a:solidFill>
                <a:latin typeface="Microsoft JhengHei"/>
              </a:rPr>
              <a:t>Grand Challenge — Water Rocket Launch</a:t>
            </a:r>
          </a:p>
          <a:p>
            <a:pPr algn="ctr">
              <a:spcBef>
                <a:spcPts val="2400"/>
              </a:spcBef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Microsoft JhengHei"/>
              </a:rPr>
              <a:t>聖公會呂明才中學 創科班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DDDDDD"/>
                </a:solidFill>
                <a:latin typeface="Microsoft JhengHei"/>
              </a:rPr>
              <a:t>單元二：動手做 STEAM  Unit 2: Hands-on STEAM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1.25L／2L 汽水樽 1.25 L / 2 L soft-drink bottle × 每組 2 個 2 per group</a:t>
            </a:r>
          </a:p>
          <a:p>
            <a:pPr/>
            <a:r>
              <a:rPr sz="1600">
                <a:eaTypeface typeface="微軟正黑體"/>
              </a:rPr>
              <a:t>軟木塞／發射塞 Cork / launch stopper × 每組 1 個 1 per group</a:t>
            </a:r>
          </a:p>
          <a:p>
            <a:pPr/>
            <a:r>
              <a:rPr sz="1600">
                <a:eaTypeface typeface="微軟正黑體"/>
              </a:rPr>
              <a:t>單車打氣筒 Bicycle pump × 全班共用 2 個 2 shared by class</a:t>
            </a:r>
          </a:p>
          <a:p>
            <a:pPr/>
            <a:r>
              <a:rPr sz="1600">
                <a:eaTypeface typeface="微軟正黑體"/>
              </a:rPr>
              <a:t>硬卡紙（尾翼） Card (fins) × 每組 1 張 1 per group</a:t>
            </a:r>
          </a:p>
          <a:p>
            <a:pPr/>
            <a:r>
              <a:rPr sz="1600">
                <a:eaTypeface typeface="微軟正黑體"/>
              </a:rPr>
              <a:t>膠紙、剪刀 Tape, scissors × 課室現有 Available in classroom</a:t>
            </a:r>
          </a:p>
          <a:p>
            <a:pPr/>
            <a:r>
              <a:rPr sz="1600">
                <a:eaTypeface typeface="微軟正黑體"/>
              </a:rPr>
              <a:t>捲尺（量度距離） Measuring tape (for distance) × 每組 1 個 1 per group</a:t>
            </a:r>
          </a:p>
          <a:p>
            <a:pPr/>
            <a:r>
              <a:rPr sz="1600">
                <a:eaTypeface typeface="微軟正黑體"/>
              </a:rPr>
              <a:t>水 Water × 適量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學習目標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製作一個可發射的水火箭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Build a launchable water rocket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準確量度並記錄每次發射的飛行距離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Measure and record each flight distance accurately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指出最少兩個影響飛行距離的因素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Identify at least two factors affecting flight distance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根據數據提出一項改良並實踐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Propose one data-based improvement and carry it 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引入：水火箭靠甚麼升空？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What Lifts a Water Rocket?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汽水樽 ＋ 水 ＋ 打氣 ＝ 沖天而起！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Bottle + water + pumping = blast-off!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想想：吹脹的氣球一鬆手，為甚麼會亂飛？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Think: why does a released balloon dart around?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答案：作用力與反作用力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The answer: action and reaction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氣壓原理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Air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打氣 → 樽內空氣被壓縮 → 氣壓升高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Pump → air inside compressed → pressure rises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壓縮空氣把水從樽口向下猛力推出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Compressed air forces water violently downwards out of the mouth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水量約樽身三分之一效果較佳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About one-third of a bottle of water works best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⚠ 氣壓有安全上限，只准老師操作打氣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Pressure has a safety limit — only the teacher operates the pump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作用力與反作用力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Action and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水被向下推出（作用力）↓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Water pushed downwards (action) ↓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水對火箭產生反向推力（反作用力）↑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Water pushes back on the rocket (reaction) ↑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火箭升空！真實火箭原理相同（噴出燃氣）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Lift-off! Real rockets work the same way (ejecting exhaust gas)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飛得遠的秘訣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Secrets of Flying Further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水量：約三分之一；太多 → 壓縮空氣不足；太少 → 推力維持短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Water: ~1/3; too much → little compressed air; too little → brief thrust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角度：約 45 度最遠（太直飛不高遠，太平很快落地）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Angle: ~45° flies furthest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尾翼：對稱黏貼，保持方向；不對稱會偏航打轉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Fins: symmetric for stability; asymmetric fins veer and spin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安全規則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Safety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⛔ 發射區清空，無關人員不可進入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Clear the launch area; keep others out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⛔ 只准老師操作打氣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Only the teacher operates the pump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⛔ 發射時所有人退到安全線後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Everyone stays behind the safety line during launches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✔ 使用前檢查樽身無裂痕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Check the bottle for cracks before 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製作與發射流程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Build and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400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課室：組裝火箭（樽身、尾翼、錐頭）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Classroom: assemble the rocket (body, fins, nose cone)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操場：劃定發射區與安全線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Playground: mark the launch area and safety line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老師打氣 → 逐組發射 → 量度距離 → 記錄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Teacher pumps → launch group by group → measure → record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分析數據 → 改良 → 第二輪發射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Analyse data → improve → second round of launches</a:t>
            </a:r>
          </a:p>
        </p:txBody>
      </p:sp>
      <p:pic>
        <p:nvPicPr>
          <p:cNvPr id="5" name="Picture 4" descr="s1-l09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651760"/>
            <a:ext cx="38404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數據記錄表示例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Sample Data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第 1 次：水量 1/2 → 8 米（尾翼有點歪）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1st: half water → 8 m (fins slightly crooked)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第 2 次：水量 1/3 → 14 米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2nd: one-third water → 14 m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改良：調直尾翼，把水量減至 1/3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Improvement: straightened fins, reduced water to one-third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第 3 次：水量 1/3 → 17 米 ✔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3rd: one-third water → 17 m 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總結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氣壓推水向下 → 反作用力推火箭向上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Air pressure pushes water down → reaction pushes rocket up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三分之一水量、45 度、對稱尾翼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One-third water, 45°, symmetric fins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工程思維：量度 → 分析 → 改良 → 再測試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Engineering: measure → analyse → improve → retest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下堂預告：發明家日記 —— 整理作品、反思與單元小結！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Next lesson: inventor's diary — organise work, reflect, and conclude the unit!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水火箭的結構｜Water Rocket Structure</a:t>
            </a:r>
          </a:p>
        </p:txBody>
      </p:sp>
      <p:pic>
        <p:nvPicPr>
          <p:cNvPr id="1009" name="Picture 1008" descr="s1-l09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158496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