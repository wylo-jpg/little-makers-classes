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6" r:id="rId17"/>
    <p:sldId id="268" r:id="rId19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9" r:id="rId20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2.xml"/><Relationship Id="rId18" Type="http://schemas.openxmlformats.org/officeDocument/2006/relationships/slide" Target="slides/slide13.xml"/><Relationship Id="rId19" Type="http://schemas.openxmlformats.org/officeDocument/2006/relationships/slide" Target="slides/slide3.xml"/><Relationship Id="rId20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latin typeface="Arial"/>
              </a:rPr>
              <a:t>Lesson 7
雞蛋保護裝置</a:t>
            </a:r>
          </a:p>
          <a:p>
            <a:pPr algn="ctr"/>
            <a:r>
              <a:rPr sz="2400">
                <a:latin typeface="Arial"/>
              </a:rPr>
              <a:t>Egg Drop Protection Device
S2 Little Makers Class - Unit 2: Advanced Hands-on STEAM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物資表 Materials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eaTypeface typeface="微軟正黑體"/>
              </a:rPr>
              <a:t>雞蛋 Eggs × 2 隻（1 隻後備）</a:t>
            </a:r>
          </a:p>
          <a:p>
            <a:pPr/>
            <a:r>
              <a:rPr sz="1600">
                <a:eaTypeface typeface="微軟正黑體"/>
              </a:rPr>
              <a:t>飲管、報紙、膠袋 Straws, newspaper, plastic bags × 1 套</a:t>
            </a:r>
          </a:p>
          <a:p>
            <a:pPr/>
            <a:r>
              <a:rPr sz="1600">
                <a:eaTypeface typeface="微軟正黑體"/>
              </a:rPr>
              <a:t>膠紙、繩、棉花 Adhesive tape, string, cotton wool × 1 套</a:t>
            </a:r>
          </a:p>
          <a:p>
            <a:pPr/>
            <a:r>
              <a:rPr sz="1600">
                <a:eaTypeface typeface="微軟正黑體"/>
              </a:rPr>
              <a:t>氣泡紙 Bubble wrap × 1 小塊</a:t>
            </a:r>
          </a:p>
          <a:p>
            <a:pPr/>
            <a:r>
              <a:rPr sz="1600">
                <a:eaTypeface typeface="微軟正黑體"/>
              </a:rPr>
              <a:t>工作紙 Worksheet × 每人 1 張</a:t>
            </a:r>
          </a:p>
          <a:p>
            <a:pPr/>
            <a:r>
              <a:rPr sz="1600">
                <a:eaTypeface typeface="微軟正黑體"/>
              </a:rPr>
              <a:t>掉落測試 × 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-l07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780" y="777240"/>
            <a:ext cx="7446439" cy="53035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課堂目標</a:t>
            </a:r>
          </a:p>
          <a:p>
            <a:r>
              <a:rPr sz="2000">
                <a:latin typeface="Arial"/>
              </a:rPr>
              <a:t>Lesson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說出空氣阻力及緩衝吸震的作用 Explain air resistance and cushioning</a:t>
            </a:r>
          </a:p>
          <a:p>
            <a:pPr/>
            <a:r>
              <a:rPr sz="2400">
                <a:latin typeface="Arial"/>
              </a:rPr>
              <a:t>•  設計並製作雞蛋降落保護裝置 Design and build an egg-drop device</a:t>
            </a:r>
          </a:p>
          <a:p>
            <a:pPr/>
            <a:r>
              <a:rPr sz="2400">
                <a:latin typeface="Arial"/>
              </a:rPr>
              <a:t>•  預測結果；測試後提出具體改良 Predict, test, then propose an improvement</a:t>
            </a:r>
          </a:p>
          <a:p>
            <a:pPr/>
            <a:r>
              <a:rPr sz="2400">
                <a:latin typeface="Arial"/>
              </a:rPr>
              <a:t>•  全程遵守安全規則 Follow all safety rules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空氣阻力</a:t>
            </a:r>
          </a:p>
          <a:p>
            <a:r>
              <a:rPr sz="2000">
                <a:latin typeface="Arial"/>
              </a:rPr>
              <a:t>Air Resistance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下落時空氣施加與運動方向相反的阻力 Air opposes the falling motion</a:t>
            </a:r>
          </a:p>
          <a:p>
            <a:pPr/>
            <a:r>
              <a:rPr sz="2400">
                <a:latin typeface="Arial"/>
              </a:rPr>
              <a:t>•  降落傘面積愈大 → 阻力愈大 → 下墜愈慢 Larger canopy → greater resistance → slower descent</a:t>
            </a:r>
          </a:p>
          <a:p>
            <a:pPr/>
            <a:r>
              <a:rPr sz="2400">
                <a:latin typeface="Arial"/>
              </a:rPr>
              <a:t>•  目標：把終端速度降到雞蛋可承受的範圍 Goal: bring terminal velocity down to a survivable level</a:t>
            </a:r>
          </a:p>
          <a:p>
            <a:pPr/>
            <a:r>
              <a:rPr sz="2400">
                <a:latin typeface="Arial"/>
              </a:rPr>
              <a:t>•  關鍵：降落傘必須順利張開！ Key: the parachute MUST open properly!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緩衝吸震</a:t>
            </a:r>
          </a:p>
          <a:p>
            <a:r>
              <a:rPr sz="2000">
                <a:latin typeface="Arial"/>
              </a:rPr>
              <a:t>Cushioning and Shock Absorption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衝擊力 × 撞擊時間 ＝ 動量變化 Force × time = momentum change</a:t>
            </a:r>
          </a:p>
          <a:p>
            <a:pPr/>
            <a:r>
              <a:rPr sz="2400">
                <a:latin typeface="Arial"/>
              </a:rPr>
              <a:t>•  延長撞擊時間 → 減低衝擊力 Longer impact time → smaller force</a:t>
            </a:r>
          </a:p>
          <a:p>
            <a:pPr/>
            <a:r>
              <a:rPr sz="2400">
                <a:latin typeface="Arial"/>
              </a:rPr>
              <a:t>•  數字例子：0.01 秒停下約 50 N；0.1 秒停下約 5 N —— 相差十倍！ Example: 50 N vs 5 N — ten times less!</a:t>
            </a:r>
          </a:p>
          <a:p>
            <a:pPr/>
            <a:r>
              <a:rPr sz="2400">
                <a:latin typeface="Arial"/>
              </a:rPr>
              <a:t>•  棉花、氣泡紙、報紙：讓雞蛋「慢慢停下來」 Cushioning lets the egg "stop slowly"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設計要點</a:t>
            </a:r>
          </a:p>
          <a:p>
            <a:r>
              <a:rPr sz="2000">
                <a:latin typeface="Arial"/>
              </a:rPr>
              <a:t>Design Essentials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雞蛋固定於裝置中央，以軟物料包裹 Fix the egg at the centre, wrapped softly</a:t>
            </a:r>
          </a:p>
          <a:p>
            <a:pPr/>
            <a:r>
              <a:rPr sz="2400">
                <a:latin typeface="Arial"/>
              </a:rPr>
              <a:t>•  避免撞擊時移位撞向硬物 Prevent shifting onto hard parts</a:t>
            </a:r>
          </a:p>
          <a:p>
            <a:pPr/>
            <a:r>
              <a:rPr sz="2400">
                <a:latin typeface="Arial"/>
              </a:rPr>
              <a:t>•  減速部分：降落傘；吸震部分：緩衝物料 Slowing: parachute; shock absorption: cushioning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常見陷阱</a:t>
            </a:r>
          </a:p>
          <a:p>
            <a:r>
              <a:rPr sz="2000">
                <a:latin typeface="Arial"/>
              </a:rPr>
              <a:t>Common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包得愈厚 ≠ 愈安全：過重加快下墜 Thicker ≠ safer: extra weight speeds descent</a:t>
            </a:r>
          </a:p>
          <a:p>
            <a:pPr/>
            <a:r>
              <a:rPr sz="2400">
                <a:latin typeface="Arial"/>
              </a:rPr>
              <a:t>•  有傘 ≠ 安全：傘太小或打不開就沒用 A parachute alone is not enough</a:t>
            </a:r>
          </a:p>
          <a:p>
            <a:pPr/>
            <a:r>
              <a:rPr sz="2400">
                <a:latin typeface="Arial"/>
              </a:rPr>
              <a:t>•  「先減速、再吸震」是較佳策略 "Slow first, then cushion" works best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製作步驟</a:t>
            </a:r>
          </a:p>
          <a:p>
            <a:r>
              <a:rPr sz="2000">
                <a:latin typeface="Arial"/>
              </a:rPr>
              <a:t>Construction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繪畫設計圖：標示減速及吸震部分，寫下預測 Draw design; label parts; write prediction</a:t>
            </a:r>
          </a:p>
          <a:p>
            <a:pPr/>
            <a:r>
              <a:rPr sz="2400">
                <a:latin typeface="Arial"/>
              </a:rPr>
              <a:t>•  降落傘：傘面夠大，傘繩長度均等 Parachute: large canopy, equal lines</a:t>
            </a:r>
          </a:p>
          <a:p>
            <a:pPr/>
            <a:r>
              <a:rPr sz="2400">
                <a:latin typeface="Arial"/>
              </a:rPr>
              <a:t>•  雞蛋固定中央，軟物料包裹 Fix egg at centre with soft wrapping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掉落測試規則</a:t>
            </a:r>
          </a:p>
          <a:p>
            <a:r>
              <a:rPr sz="2000">
                <a:latin typeface="Arial"/>
              </a:rPr>
              <a:t>Drop Test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只可在教師指定地點掉落 Designated location only</a:t>
            </a:r>
          </a:p>
          <a:p>
            <a:pPr/>
            <a:r>
              <a:rPr sz="2400">
                <a:latin typeface="Arial"/>
              </a:rPr>
              <a:t>•  圍觀保持距離；掉落範圍清空 Keep distance; clear the drop zone</a:t>
            </a:r>
          </a:p>
          <a:p>
            <a:pPr/>
            <a:r>
              <a:rPr sz="2400">
                <a:latin typeface="Arial"/>
              </a:rPr>
              <a:t>•  記錄：預測結果、實際結果、雞蛋狀況 Record prediction, result, egg condition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安全須知</a:t>
            </a:r>
          </a:p>
          <a:p>
            <a:r>
              <a:rPr sz="2000">
                <a:latin typeface="Arial"/>
              </a:rPr>
              <a:t>Safety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嚴禁在課室或走廊自行掉落 Never drop in classrooms or corridors</a:t>
            </a:r>
          </a:p>
          <a:p>
            <a:pPr/>
            <a:r>
              <a:rPr sz="2400">
                <a:latin typeface="Arial"/>
              </a:rPr>
              <a:t>•  小心輕放雞蛋；打破即時通知教師 Handle eggs gently; report breakage at once</a:t>
            </a:r>
          </a:p>
          <a:p>
            <a:pPr/>
            <a:r>
              <a:rPr sz="2400">
                <a:latin typeface="Arial"/>
              </a:rPr>
              <a:t>•  測試前教師檢查每組裝置 Teacher checks each device before the drop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總結與反思</a:t>
            </a:r>
          </a:p>
          <a:p>
            <a:r>
              <a:rPr sz="2000">
                <a:latin typeface="Arial"/>
              </a:rPr>
              <a:t>Summary and 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空氣阻力減速；緩衝延長撞擊時間減力 Air resistance slows; cushioning cuts force</a:t>
            </a:r>
          </a:p>
          <a:p>
            <a:pPr/>
            <a:r>
              <a:rPr sz="2400">
                <a:latin typeface="Arial"/>
              </a:rPr>
              <a:t>•  預測 — 測試 — 改良：工程師的工作循環 Predict – test – improve</a:t>
            </a:r>
          </a:p>
          <a:p>
            <a:pPr/>
            <a:r>
              <a:rPr sz="2400">
                <a:latin typeface="Arial"/>
              </a:rPr>
              <a:t>•  關愛反思：緩衝設計在現實生活的應用（如頭盔） Caring reflection: cushioning in real life (e.g. helmets)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838200"/>
            <a:ext cx="7772400" cy="518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