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8" r:id="rId19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7" r:id="rId18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latin typeface="Arial"/>
                <a:ea typeface="Microsoft JhengHei"/>
              </a:rPr>
              <a:t>聖公會呂明才中學　創科班（Little Makers Class）</a:t>
            </a:r>
          </a:p>
          <a:p>
            <a:pPr algn="ctr">
              <a:spcAft>
                <a:spcPts val="600"/>
              </a:spcAft>
            </a:pPr>
            <a:r>
              <a:rPr sz="2000" b="0">
                <a:latin typeface="Arial"/>
                <a:ea typeface="Microsoft JhengHei"/>
              </a:rPr>
              <a:t>S2 Unit 1：進階創科人　第二堂</a:t>
            </a:r>
          </a:p>
          <a:p>
            <a:pPr algn="ctr">
              <a:spcAft>
                <a:spcPts val="600"/>
              </a:spcAft>
            </a:pPr>
            <a:r>
              <a:rPr sz="4000" b="1">
                <a:latin typeface="Arial"/>
                <a:ea typeface="Microsoft JhengHei"/>
              </a:rPr>
              <a:t>深入認識弱勢社群</a:t>
            </a:r>
          </a:p>
          <a:p>
            <a:pPr algn="ctr">
              <a:spcAft>
                <a:spcPts val="600"/>
              </a:spcAft>
            </a:pPr>
            <a:r>
              <a:rPr sz="2400" b="0">
                <a:latin typeface="Arial"/>
                <a:ea typeface="Microsoft JhengHei"/>
              </a:rPr>
              <a:t>Understanding Vulnerable Groups in Depth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情境角色卡（打印） × 每組 1 套</a:t>
            </a:r>
          </a:p>
          <a:p>
            <a:pPr/>
            <a:r>
              <a:rPr sz="1600">
                <a:eaTypeface typeface="微軟正黑體"/>
              </a:rPr>
              <a:t>問卷設計工作紙 × 每人 1 張</a:t>
            </a:r>
          </a:p>
          <a:p>
            <a:pPr/>
            <a:r>
              <a:rPr sz="1600">
                <a:eaTypeface typeface="微軟正黑體"/>
              </a:rPr>
              <a:t>訪問技巧筆記 × 每人 1 份</a:t>
            </a:r>
          </a:p>
          <a:p>
            <a:pPr/>
            <a:r>
              <a:rPr sz="1600">
                <a:eaTypeface typeface="微軟正黑體"/>
              </a:rPr>
              <a:t>白板筆、記事貼 × 每組 1 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latin typeface="Arial"/>
                <a:ea typeface="Microsoft JhengHei"/>
              </a:rPr>
              <a:t>本堂目標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rial"/>
                <a:ea typeface="Microsoft JhengHei"/>
              </a:rPr>
              <a:t>Lesson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列出有效訪問的四項技巧。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List four effective interview skills.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分辨開放式與封閉式問題，並改寫三條問題。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Distinguish open-ended from closed questions; rewrite three questions.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設計 ≥八條問題的訪問提綱（≥五條開放式，用詞具同理心）。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Design an interview outline: ≥8 questions, ≥5 open-ended, empathetic wording.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latin typeface="Arial"/>
                <a:ea typeface="Microsoft JhengHei"/>
              </a:rPr>
              <a:t>情境引入：問題出在哪裡？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rial"/>
                <a:ea typeface="Microsoft JhengHei"/>
              </a:rPr>
              <a:t>Scenario: what went wrong?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訪問員一開口就問獨居長者：「你每個月靠什麼生活？」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Interviewer opens with: "What do you live on each month?"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長者即時沉默。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The elderly interviewee falls silent at once.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問題：開首觸及敏感經濟狀況；用詞直接；未先徵得同意、建立信任。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Problems: sensitive finances first; blunt wording; no consent or trust built.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訪問的目的：理解對方的需要，不是滿足好奇心。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Purpose of an interview: understand needs, not satisfy curiosity.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latin typeface="Arial"/>
                <a:ea typeface="Microsoft JhengHei"/>
              </a:rPr>
              <a:t>有效訪問的四項技巧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rial"/>
                <a:ea typeface="Microsoft JhengHei"/>
              </a:rPr>
              <a:t>Four effective interview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一、提出開放式問題：多用「什麼」「怎樣」「為什麼」。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1. Open-ended questions: use "what", "how", "why".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二、專心聆聽：眼神接觸、點頭回應。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2. Listen attentively: eye contact, nodding.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三、不打斷對方說話。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3. Do not interrupt.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四、尊重私隱：先徵得同意，不追問不願談的事。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4. Respect privacy: consent first; don't press unwilling topics.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latin typeface="Arial"/>
                <a:ea typeface="Microsoft JhengHei"/>
              </a:rPr>
              <a:t>開放式 vs 封閉式問題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rial"/>
                <a:ea typeface="Microsoft JhengHei"/>
              </a:rPr>
              <a:t>Open-ended vs closed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封閉式：答案狹窄（是／不是、數字）。例：「你覺得悶嗎？」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Closed: narrow answers (yes/no, numbers). E.g. "Do you feel bored?"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開放式：鼓勵詳細分享。例：「你平日喜歡做些什麼來打發時間？」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Open: encourages detailed sharing. E.g. "What do you enjoy doing to pass the time?"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了解需要、想法 → 用開放式；確認基本資料 → 用封閉式。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Understanding needs → open-ended; confirming facts → closed.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latin typeface="Arial"/>
                <a:ea typeface="Microsoft JhengHei"/>
              </a:rPr>
              <a:t>改寫示例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rial"/>
                <a:ea typeface="Microsoft JhengHei"/>
              </a:rPr>
              <a:t>Rewrite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「你覺得悶嗎？」→「你平日喜歡做些什麼來打發時間？」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"Do you feel bored?" → "What do you enjoy doing to pass the time?"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關鍵：把「是／不是」的提問，轉為邀請分享的提問。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Key: turn a yes/no question into an invitation to share.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避免引導性：「…你一定很少去吧？」→「你平時會去嗎？通常做些什麼？」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Avoid leading: "…you must rarely go, right?" → "Do you usually go? What do you do there?"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latin typeface="Arial"/>
                <a:ea typeface="Microsoft JhengHei"/>
              </a:rPr>
              <a:t>問卷設計原則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rial"/>
                <a:ea typeface="Microsoft JhengHei"/>
              </a:rPr>
              <a:t>Questionnaire design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由淺入深排列：先輕鬆話題，再深入。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General → specific: start light, then deeper.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避免引導性問題：不把立場藏在問題裡。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No leading questions: don't embed your view.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用詞簡單清晰，避免術語。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Simple, clear wording; no jargon.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問題不在多：精簡深入 &gt; 大量淺層。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Fewer, deeper &gt; many shallow.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latin typeface="Arial"/>
                <a:ea typeface="Microsoft JhengHei"/>
              </a:rPr>
              <a:t>訪問倫理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rial"/>
                <a:ea typeface="Microsoft JhengHei"/>
              </a:rPr>
              <a:t>Interview ethics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先徵得同意；對方可拒絕或跳過問題。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Seek consent; interviewee may decline or skip.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不追問傷痛經歷。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Don't probe painful experiences.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保護私隱：不記錄、不拍攝個人資料。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Protect privacy: don't record/photograph personal data.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避免刻板印象：每個人都是獨立個體。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Avoid stereotypes: every person is an individual.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真實探訪須有教師陪同。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Real visits: teacher must accompany.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latin typeface="Arial"/>
                <a:ea typeface="Microsoft JhengHei"/>
              </a:rPr>
              <a:t>分組活動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rial"/>
                <a:ea typeface="Microsoft JhengHei"/>
              </a:rPr>
              <a:t>Group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兩人一組：輪流扮演訪問者／受訪者，五分鐘訪問練習＋互相回饋。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Pairs: role-play interviewer/interviewee, 5-min practice + feedback.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四人一組：設計 ≥八條問題（≥五條開放式）。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Groups of four: design ≥8 questions (≥5 open-ended).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用自我檢查清單檢查：開放式？引導性？會令對方難受？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Self-check: open-ended? leading? upsetting?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latin typeface="Arial"/>
                <a:ea typeface="Microsoft JhengHei"/>
              </a:rPr>
              <a:t>總結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rial"/>
                <a:ea typeface="Microsoft JhengHe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四技巧：開放式問題、專心聆聽、不打斷、尊重私隱。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Four skills: open questions, listening, no interrupting, privacy.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倫理：同意、尊重、保護私隱、反刻板印象。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Ethics: consent, respect, privacy, anti-stereotype.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課業：完成訪問提綱（8 條＋設計用意）＋訪問一位家人（150 字＋體會）。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Assignments: interview outline (8 Qs + purposes) + interview a family member (150 words + reflection).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下一堂：從同情到同理。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Next: from sympathy to empathy.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分組活動：設計訪問提綱</a:t>
            </a:r>
          </a:p>
        </p:txBody>
      </p:sp>
      <p:pic>
        <p:nvPicPr>
          <p:cNvPr id="3" name="Picture 2" descr="s2-l02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847" y="1655999"/>
            <a:ext cx="5040000" cy="336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例子：錯誤示範與改良</a:t>
            </a:r>
          </a:p>
        </p:txBody>
      </p:sp>
      <p:pic>
        <p:nvPicPr>
          <p:cNvPr id="3" name="Picture 2" descr="s2-l02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847" y="1655999"/>
            <a:ext cx="5040000" cy="378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