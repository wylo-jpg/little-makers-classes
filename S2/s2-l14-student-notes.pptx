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8" r:id="rId19"/>
    <p:sldId id="269" r:id="rId20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2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F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  <a:ea typeface="Microsoft JhengHei"/>
              </a:rPr>
              <a:t>第 14 堂：演算法效率</a:t>
            </a:r>
          </a:p>
          <a:p>
            <a:pPr algn="ctr"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Arial"/>
                <a:ea typeface="Microsoft JhengHei"/>
              </a:rPr>
              <a:t>Lesson 14: Algorithmic Efficiency</a:t>
            </a:r>
          </a:p>
          <a:p>
            <a:pPr algn="ctr">
              <a:spcBef>
                <a:spcPts val="2800"/>
              </a:spcBef>
            </a:pPr>
            <a:r>
              <a:rPr sz="2000" b="0" i="0">
                <a:solidFill>
                  <a:srgbClr val="D5DBDB"/>
                </a:solidFill>
                <a:latin typeface="Arial"/>
                <a:ea typeface="Microsoft JhengHei"/>
              </a:rPr>
              <a:t>中二創科班｜Unit 3 進階編程思維｜不插電課堂</a:t>
            </a:r>
          </a:p>
          <a:p>
            <a:pPr algn="ctr"/>
            <a:r>
              <a:rPr sz="1800" b="0" i="0">
                <a:solidFill>
                  <a:srgbClr val="D5DBDB"/>
                </a:solidFill>
                <a:latin typeface="Arial"/>
                <a:ea typeface="Microsoft JhengHei"/>
              </a:rPr>
              <a:t>S2 Little Makers Class | Unit 3 Advanced Programming Thinking | Unplugged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撲克牌（每組取 A 至 8 共 8 張） Playing cards (8 cards, A–8, per group) × 每組 1 副（課室常用，可重用；如需購買約 HK$10／副） 1 pack per group (reusable classroom stock; approx. HK$10 per pack if purchased)</a:t>
            </a:r>
          </a:p>
          <a:p>
            <a:pPr/>
            <a:r>
              <a:rPr sz="1600">
                <a:eaTypeface typeface="微軟正黑體"/>
              </a:rPr>
              <a:t>大示範紙牌（教師自製） Large demonstration cards (teacher-made) × 教師 1 套 1 set for the teacher</a:t>
            </a:r>
          </a:p>
          <a:p>
            <a:pPr/>
            <a:r>
              <a:rPr sz="1600">
                <a:eaTypeface typeface="微軟正黑體"/>
              </a:rPr>
              <a:t>數據紀錄表（列印） Data record sheets (printed) × 每組 1 份 1 per group</a:t>
            </a:r>
          </a:p>
          <a:p>
            <a:pPr/>
            <a:r>
              <a:rPr sz="1600">
                <a:eaTypeface typeface="微軟正黑體"/>
              </a:rPr>
              <a:t>計時器 Timer × 每組 1 個（可用課室時鐘或教師手機） 1 per group (classroom clock or teacher's phone may be used)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  <a:ea typeface="Microsoft JhengHei"/>
              </a:rPr>
              <a:t>本堂目標</a:t>
            </a:r>
            <a:r>
              <a:rPr sz="2000" b="0" i="0">
                <a:solidFill>
                  <a:srgbClr val="D5DBDB"/>
                </a:solidFill>
                <a:latin typeface="Arial"/>
                <a:ea typeface="Microsoft JhengHei"/>
              </a:rPr>
              <a:t>   Lesson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能用撲克牌正確執行氣泡排序及選擇排序。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Perform bubble sort and selection sort correctly with playing cards.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能透過計時及計算比較次數，以數據比較兩種排序法的效率。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Compare the two methods' efficiency with data: timing and comparison counts.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能解釋「同一問題可有多種解法，而效率各異」。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Explain that one problem can have multiple solutions of different efficiency.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  <a:ea typeface="Microsoft JhengHei"/>
              </a:rPr>
              <a:t>複習：排序有快慢之分？</a:t>
            </a:r>
            <a:r>
              <a:rPr sz="2000" b="0" i="0">
                <a:solidFill>
                  <a:srgbClr val="D5DBDB"/>
                </a:solidFill>
                <a:latin typeface="Arial"/>
                <a:ea typeface="Microsoft JhengHei"/>
              </a:rPr>
              <a:t>   Revision: are some sorts faster?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中一玩過「排序網絡」—— 今日問：不同的排序方法，有沒有快慢之分？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In S1 you tried the "sorting network" — today: are some sorting methods faster?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先猜想：哪種方法可能較快？為什麼？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Hypothesise first: which method might be faster, and why?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親手驗證：用數據說話，不憑感覺！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Verify by hand: let data speak, not feeling!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  <a:ea typeface="Microsoft JhengHei"/>
              </a:rPr>
              <a:t>氣泡排序</a:t>
            </a:r>
            <a:r>
              <a:rPr sz="2000" b="0" i="0">
                <a:solidFill>
                  <a:srgbClr val="D5DBDB"/>
                </a:solidFill>
                <a:latin typeface="Arial"/>
                <a:ea typeface="Microsoft JhengHei"/>
              </a:rPr>
              <a:t>   Bubble sort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相鄰兩張兩張比較：若左邊大於右邊，就交換。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Compare adjacent pairs: swap if the left card is larger.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每完成一輪，最大的牌便「浮」到最右。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Each round "bubbles" the largest card to the right end.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n 張牌共做 n−1 輪。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For n cards, run n−1 rounds.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例子 [3, 1, 4, 2]：第 1 輪後 → [1, 3, 2, 4]；第 2 輪後 → [1, 2, 3, 4]。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Example [3, 1, 4, 2]: after round 1 → [1, 3, 2, 4]; after round 2 → [1, 2, 3, 4].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  <a:ea typeface="Microsoft JhengHei"/>
              </a:rPr>
              <a:t>選擇排序</a:t>
            </a:r>
            <a:r>
              <a:rPr sz="2000" b="0" i="0">
                <a:solidFill>
                  <a:srgbClr val="D5DBDB"/>
                </a:solidFill>
                <a:latin typeface="Arial"/>
                <a:ea typeface="Microsoft JhengHei"/>
              </a:rPr>
              <a:t>   Selection sort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每一輪：從未排序的牌中選出最小的一張，放到最前面。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Each round: pick the smallest from the unsorted cards; put it at the front.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n 張牌共做 n−1 輪。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For n cards, run n−1 rounds.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例子 [3, 1, 4, 2]：第 1 輪選 1 → [1, 3, 4, 2]；第 2 輪選 2 → [1, 2, 4, 3]；第 3 輪選 3 → [1, 2, 3, 4]。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Example [3, 1, 4, 2]: round 1 picks 1 → [1, 3, 4, 2]; round 2 picks 2 → [1, 2, 4, 3]; round 3 picks 3 → [1, 2, 3, 4].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  <a:ea typeface="Microsoft JhengHei"/>
              </a:rPr>
              <a:t>數算比較次數</a:t>
            </a:r>
            <a:r>
              <a:rPr sz="2000" b="0" i="0">
                <a:solidFill>
                  <a:srgbClr val="D5DBDB"/>
                </a:solidFill>
                <a:latin typeface="Arial"/>
                <a:ea typeface="Microsoft JhengHei"/>
              </a:rPr>
              <a:t>   Counting comparisons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兩張牌比一次，數一數共比了多少次。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Each pair compared counts once — count them all.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n 張牌：(n−1)＋(n−2)＋…＋1 ＝ n(n−1)／2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For n cards: (n−1)+(n−2)+…+1 = n(n−1)/2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8 張牌 → 28 次比較（兩種方法都是！）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8 cards → 28 comparisons (for both methods!)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選擇排序交換較少：8 張牌最多交換 7 次。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Selection sort swaps less: at most 7 swaps for 8 cards.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  <a:ea typeface="Microsoft JhengHei"/>
              </a:rPr>
              <a:t>實測規則</a:t>
            </a:r>
            <a:r>
              <a:rPr sz="2000" b="0" i="0">
                <a:solidFill>
                  <a:srgbClr val="D5DBDB"/>
                </a:solidFill>
                <a:latin typeface="Arial"/>
                <a:ea typeface="Microsoft JhengHei"/>
              </a:rPr>
              <a:t>   Trial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每組 8 張牌（A 至 8）；每種方法各排 3 次。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8 cards per group (A–8); 3 trials per method.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每次記錄：時間（秒）＋ 比較次數。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Record each trial: time (seconds) + comparison count.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分工：一人排序、一人計時、一人記錄；輪流交換崗位。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Roles: sorter, timer, recorder — rotate each round.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如實記錄，不可編造數據！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Record faithfully — never make up data!</a:t>
            </a:r>
          </a:p>
        </p:txBody>
      </p:sp>
      <p:pic>
        <p:nvPicPr>
          <p:cNvPr id="5" name="Picture 4" descr="s2-l14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4815840"/>
            <a:ext cx="2651760" cy="17678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  <a:ea typeface="Microsoft JhengHei"/>
              </a:rPr>
              <a:t>數據紀錄表示例</a:t>
            </a:r>
            <a:r>
              <a:rPr sz="2000" b="0" i="0">
                <a:solidFill>
                  <a:srgbClr val="D5DBDB"/>
                </a:solidFill>
                <a:latin typeface="Arial"/>
                <a:ea typeface="Microsoft JhengHei"/>
              </a:rPr>
              <a:t>   Data sheet example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463040"/>
          <a:ext cx="94183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4580"/>
                <a:gridCol w="2354580"/>
                <a:gridCol w="2354580"/>
                <a:gridCol w="2354580"/>
              </a:tblGrid>
              <a:tr h="594360"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方法 Method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第幾次 Trial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時間 Time (s)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比較次數 Comparisons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333333"/>
                          </a:solidFill>
                          <a:latin typeface="Arial"/>
                          <a:ea typeface="Microsoft JhengHei"/>
                        </a:rPr>
                        <a:t>氣泡排序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333333"/>
                          </a:solidFill>
                          <a:latin typeface="Arial"/>
                          <a:ea typeface="Microsoft JhengHe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333333"/>
                          </a:solidFill>
                          <a:latin typeface="Arial"/>
                          <a:ea typeface="Microsoft JhengHei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333333"/>
                          </a:solidFill>
                          <a:latin typeface="Arial"/>
                          <a:ea typeface="Microsoft JhengHei"/>
                        </a:rPr>
                        <a:t>28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333333"/>
                          </a:solidFill>
                          <a:latin typeface="Arial"/>
                          <a:ea typeface="Microsoft JhengHei"/>
                        </a:rPr>
                        <a:t>氣泡排序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333333"/>
                          </a:solidFill>
                          <a:latin typeface="Arial"/>
                          <a:ea typeface="Microsoft JhengHe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333333"/>
                          </a:solidFill>
                          <a:latin typeface="Arial"/>
                          <a:ea typeface="Microsoft JhengHei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333333"/>
                          </a:solidFill>
                          <a:latin typeface="Arial"/>
                          <a:ea typeface="Microsoft JhengHei"/>
                        </a:rPr>
                        <a:t>28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333333"/>
                          </a:solidFill>
                          <a:latin typeface="Arial"/>
                          <a:ea typeface="Microsoft JhengHei"/>
                        </a:rPr>
                        <a:t>選擇排序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333333"/>
                          </a:solidFill>
                          <a:latin typeface="Arial"/>
                          <a:ea typeface="Microsoft JhengHe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333333"/>
                          </a:solidFill>
                          <a:latin typeface="Arial"/>
                          <a:ea typeface="Microsoft JhengHei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333333"/>
                          </a:solidFill>
                          <a:latin typeface="Arial"/>
                          <a:ea typeface="Microsoft JhengHei"/>
                        </a:rPr>
                        <a:t>28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420624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E570C"/>
                </a:solidFill>
                <a:latin typeface="Arial"/>
                <a:ea typeface="Microsoft JhengHei"/>
              </a:rPr>
              <a:t>留意：氣泡排序 8 張牌的比較次數固定是 28 次 —— 可作核對！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  <a:ea typeface="Microsoft JhengHei"/>
              </a:rPr>
              <a:t>匯報與討論</a:t>
            </a:r>
            <a:r>
              <a:rPr sz="2000" b="0" i="0">
                <a:solidFill>
                  <a:srgbClr val="D5DBDB"/>
                </a:solidFill>
                <a:latin typeface="Arial"/>
                <a:ea typeface="Microsoft JhengHei"/>
              </a:rPr>
              <a:t>   Report and discuss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各組匯報：兩種方法的平均時間、平均比較次數。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Each group reports: average time and average comparisons for both methods.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討論一：根據數據，哪種方法較有效率？為什麼？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Discussion 1: from the data, which method is more efficient? Why?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討論二：若牌增至 16 張，比較次數變 120 次，差異會如何？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Discussion 2: with 16 cards (120 comparisons), how would the gap change?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  <a:ea typeface="Microsoft JhengHei"/>
              </a:rPr>
              <a:t>為何比較次數更客觀？</a:t>
            </a:r>
            <a:r>
              <a:rPr sz="2000" b="0" i="0">
                <a:solidFill>
                  <a:srgbClr val="D5DBDB"/>
                </a:solidFill>
                <a:latin typeface="Arial"/>
                <a:ea typeface="Microsoft JhengHei"/>
              </a:rPr>
              <a:t>   Why are comparison counts more objective?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時間受手法快慢、反應影響 —— 快手 ≠ 好方法。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Time is affected by hand speed — fast hands ≠ a better method.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比較次數只取決於方法本身，人人一樣。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Comparison counts depend only on the method itself.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實證精神：重複實驗取平均，減少誤差；用證據下結論。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Empirical spirit: repeat trials, average, reduce error; conclude from evidence.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  <a:ea typeface="Microsoft JhengHei"/>
              </a:rPr>
              <a:t>單元總結</a:t>
            </a:r>
            <a:r>
              <a:rPr sz="2000" b="0" i="0">
                <a:solidFill>
                  <a:srgbClr val="D5DBDB"/>
                </a:solidFill>
                <a:latin typeface="Arial"/>
                <a:ea typeface="Microsoft JhengHei"/>
              </a:rPr>
              <a:t>   Unit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第 11 堂 流程圖：把事務拆解為有序步驟。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L11 Flowcharts: decompose tasks into ordered steps.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第 12 堂 條件與迴圈：作決定、重複做，迴圈必須有終止。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L12 Conditions &amp; loops: decide, repeat — loops must terminate.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第 13 堂 密碼學：編碼、密鑰、頻率分析；加密保護個人資料。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L13 Cryptography: encoding, keys, frequency analysis; encryption protects data.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第 14 堂 演算法效率：同一問題多種解法，用數據比較效率。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L14 Efficiency: many solutions to one problem — compare with data.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運算思維四要素：分解、模式識別、抽象化、演算法設計。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Four elements of computational thinking: decomposition, pattern recognition, abstraction, algorithm design.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  <a:ea typeface="Microsoft JhengHei"/>
              </a:rPr>
              <a:t>家課＋延伸探索</a:t>
            </a:r>
            <a:r>
              <a:rPr sz="2000" b="0" i="0">
                <a:solidFill>
                  <a:srgbClr val="D5DBDB"/>
                </a:solidFill>
                <a:latin typeface="Arial"/>
                <a:ea typeface="Microsoft JhengHei"/>
              </a:rPr>
              <a:t>   Homework +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甲部：選擇題 4 題。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Section A: 4 multiple-choice questions.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乙部：用氣泡排序排 [5, 2, 8, 1, 4]，寫出每輪過程；單元反思 150–200 字。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Section B: bubble-sort [5, 2, 8, 1, 4] showing each round; unit reflection (150–200 words).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延伸探索（自選）：Google Teachable Machine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Extension (optional): Google Teachable Machine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https://teachablemachine.withgoogle.com/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https://teachablemachine.withgoogle.com/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下堂課前交回。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Submit before the next lesson.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/>
              <a:t>圖：氣泡排序 ｜ Illustration: bubble sort</a:t>
            </a:r>
          </a:p>
        </p:txBody>
      </p:sp>
      <p:pic>
        <p:nvPicPr>
          <p:cNvPr id="3" name="Picture 2" descr="s2-l14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6" y="158496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