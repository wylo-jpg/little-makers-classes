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67" r:id="rId18"/>
    <p:sldId id="257" r:id="rId8"/>
    <p:sldId id="258" r:id="rId9"/>
    <p:sldId id="259" r:id="rId10"/>
    <p:sldId id="260" r:id="rId11"/>
    <p:sldId id="261" r:id="rId12"/>
    <p:sldId id="266" r:id="rId17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8EB"/>
                </a:solidFill>
                <a:latin typeface="Arial"/>
                <a:ea typeface="Microsoft JhengHei"/>
              </a:rPr>
              <a:t>S2 單元四：AI 進階與倫理深化</a:t>
            </a:r>
          </a:p>
          <a:p>
            <a:pPr algn="ctr"/>
            <a:r>
              <a:rPr sz="1600" b="0" i="1">
                <a:solidFill>
                  <a:srgbClr val="AAC8EB"/>
                </a:solidFill>
                <a:latin typeface="Arial"/>
                <a:ea typeface="Microsoft JhengHei"/>
              </a:rPr>
              <a:t>S2 Unit 4: Advanced AI and Deepening of AI Ethics</a:t>
            </a:r>
          </a:p>
          <a:p>
            <a:pPr algn="ctr">
              <a:spcBef>
                <a:spcPts val="1800"/>
              </a:spcBef>
            </a:pPr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20 堂｜網絡安全進階</a:t>
            </a:r>
          </a:p>
          <a:p>
            <a:pPr algn="ctr"/>
            <a:r>
              <a:rPr sz="2600" b="0" i="0">
                <a:solidFill>
                  <a:srgbClr val="E1EBFA"/>
                </a:solidFill>
                <a:latin typeface="Arial"/>
                <a:ea typeface="Microsoft JhengHei"/>
              </a:rPr>
              <a:t>Lesson 20 | Advanced Cyber Security</a:t>
            </a:r>
          </a:p>
          <a:p>
            <a:pPr algn="ctr">
              <a:spcBef>
                <a:spcPts val="2400"/>
              </a:spcBef>
            </a:pPr>
            <a:r>
              <a:rPr sz="1800" b="0" i="0">
                <a:solidFill>
                  <a:srgbClr val="C8D7F0"/>
                </a:solidFill>
                <a:latin typeface="Arial"/>
                <a:ea typeface="Microsoft JhengHei"/>
              </a:rPr>
              <a:t>識別釣魚電郵與密碼管理實務</a:t>
            </a:r>
          </a:p>
          <a:p>
            <a:pPr algn="ctr"/>
            <a:r>
              <a:rPr sz="1500" b="0" i="1">
                <a:solidFill>
                  <a:srgbClr val="C8D7F0"/>
                </a:solidFill>
                <a:latin typeface="Arial"/>
                <a:ea typeface="Microsoft JhengHei"/>
              </a:rPr>
              <a:t>Spotting Phishing Emails and Password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工作紙「釣魚電郵偵測練習」及「密碼自查表」 × 每人 1 份</a:t>
            </a:r>
          </a:p>
          <a:p>
            <a:pPr/>
            <a:r>
              <a:rPr sz="1600">
                <a:eaTypeface typeface="微軟正黑體"/>
              </a:rPr>
              <a:t>小組挑戰用示例電郵卡 × 每組 1 套（老師預先印製，可重用）</a:t>
            </a:r>
          </a:p>
          <a:p>
            <a:pPr/>
            <a:r>
              <a:rPr sz="1600">
                <a:eaTypeface typeface="微軟正黑體"/>
              </a:rPr>
              <a:t>投影（展示示例電郵） × 課室現有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本堂學習目標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列出釣魚電郵的至少四個特徵。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List at least four hallmarks of phishing emails.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在三封示例電郵中正確判斷至少兩封的真偽，並說出理由。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Correctly judge at least two of three sample emails, with reasons.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說出三個設定安全密碼的原則。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State three principles of secure passwords.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說出遇到可疑情況時的正確求助做法。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State the correct response when encountering suspicious situations.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社交工程：騙的是「人」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Social Engineering: Targeting "People"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騙徒針對的往往不是電腦，而是人。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Fraudsters often target people, not computers.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利用好奇、恐懼、貪心等心理弱點。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They exploit curiosity, fear, greed and other weaknesses.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識破關鍵：看穿「人的弱點被利用了」。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Key to seeing through: spot how human weakness is being exploited.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釣魚電郵五特徵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Five Phishing Hallmarks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① 可疑寄件人 ② 製造緊急語氣 ③ 奇怪連結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1. Suspicious sender 2. Urgent tone 3. Strange links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④ 附件陷阱 ⑤ 索取個人資料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4. Attachment traps 5. Requests for personal data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例：「24 小時內不驗證，帳戶將被停用！」→ 緊急語氣。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E.g. "Verify within 24 hours or your account will be suspended!" → urgent tone.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檢查連結：懸停＋核對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Check Links: Hover +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滑鼠懸停在連結上（不要點擊），看真正網址。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Hover over the link (do not click) to see the real URL.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核對域名拼法：micorsoft ≠ microsoft（多了一個 o）。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Check domain spelling: micorsoft ≠ microsoft (one extra "o").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有懷疑就不要點：直接到官方網站或問老師。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When in doubt, do not click: go to the official site or ask a teacher.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三封示例電郵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Three Sample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A（假）：寄件人 micorsoft-support.com，多一字母 o；緊急語氣＋奇怪連結。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 (phishing): sender "micorsoft-support.com" — one extra "o"; urgent tone + strange link.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B（真）：學校官方地址，內容正常，無索取資料。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B (genuine): school's official address, normal content, no data requests.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C（假）：附件「成績單.exe」＋緊急語氣＋索取密碼。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 (phishing): attachment "report-card.exe" + urgent tone + password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965014"/>
                </a:solidFill>
                <a:latin typeface="Arial"/>
                <a:ea typeface="Microsoft JhengHei"/>
              </a:rPr>
              <a:t>📌 所有示例均為仿真教材，切勿使用真實釣魚電郵。</a:t>
            </a:r>
          </a:p>
          <a:p>
            <a:r>
              <a:rPr sz="1300" b="0" i="1">
                <a:solidFill>
                  <a:srgbClr val="966E50"/>
                </a:solidFill>
                <a:latin typeface="Arial"/>
                <a:ea typeface="Microsoft JhengHei"/>
              </a:rPr>
              <a:t>All samples are simulated materials; never use real phishing emails.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密碼三原則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Three Password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① 夠長：至少 12 個字元。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1. Long: at least 12 characters.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② 獨特：不用生日、電話、名字。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2. Unique: no birthdays, phone numbers or names.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③ 不同網站用不同密碼。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3. Different passwords for different sites.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易記方法：三個不相關詞語串連，如「藍天_單車_圖書館_2026」。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Memorable method: three unrelated words, e.g. "blue-sky_bicycle_library_2026".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自保原則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Self-Protection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懷疑就停手：不要點擊，向老師或家長求助。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When in doubt, stop: do not click; seek help from a teacher or parent.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任何人都不應向你索取密碼——包括自稱老師或客服的人。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No one should ask for your password — including anyone claiming to be a teacher or customer service.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標誌可以偽造：只信寄件人地址和連結域名。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Logos can be forged: trust only the sender address and link domain.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課後持續進修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Continue Learning After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cyberhub.hk 學生培訓：免費網上課程，內容包括保護私隱、保護設備、識別及防止釣魚攻擊。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cyberhub.hk student training: free online course covering privacy protection, device protection, and spotting/preventing phishing.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網址：https://cyberhub.hk/tc/student-training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Website: https://cyberhub.hk/tc/student-training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單元總結：由「使用 AI」邁向「理解、駕馭並批判 AI」。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Unit roundup: from "using AI" to "understanding, steering and critiquing AI".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20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2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