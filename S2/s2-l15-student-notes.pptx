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5" r:id="rId16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6" r:id="rId17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2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C8EB"/>
                </a:solidFill>
                <a:latin typeface="Arial"/>
                <a:ea typeface="Microsoft JhengHei"/>
              </a:rPr>
              <a:t>S2 單元四：AI 進階與倫理深化</a:t>
            </a:r>
          </a:p>
          <a:p>
            <a:pPr algn="ctr"/>
            <a:r>
              <a:rPr sz="1600" b="0" i="1">
                <a:solidFill>
                  <a:srgbClr val="AAC8EB"/>
                </a:solidFill>
                <a:latin typeface="Arial"/>
                <a:ea typeface="Microsoft JhengHei"/>
              </a:rPr>
              <a:t>S2 Unit 4: Advanced AI and Deepening of AI Ethics</a:t>
            </a:r>
          </a:p>
          <a:p>
            <a:pPr algn="ctr">
              <a:spcBef>
                <a:spcPts val="1800"/>
              </a:spcBef>
            </a:pPr>
            <a:r>
              <a:rPr sz="4400" b="1" i="0">
                <a:solidFill>
                  <a:srgbClr val="FFFFFF"/>
                </a:solidFill>
                <a:latin typeface="Arial"/>
                <a:ea typeface="Microsoft JhengHei"/>
              </a:rPr>
              <a:t>第 15 堂｜AI 如何學習</a:t>
            </a:r>
          </a:p>
          <a:p>
            <a:pPr algn="ctr"/>
            <a:r>
              <a:rPr sz="2600" b="0" i="0">
                <a:solidFill>
                  <a:srgbClr val="E1EBFA"/>
                </a:solidFill>
                <a:latin typeface="Arial"/>
                <a:ea typeface="Microsoft JhengHei"/>
              </a:rPr>
              <a:t>Lesson 15 | How AI Learns</a:t>
            </a:r>
          </a:p>
          <a:p>
            <a:pPr algn="ctr">
              <a:spcBef>
                <a:spcPts val="2400"/>
              </a:spcBef>
            </a:pPr>
            <a:r>
              <a:rPr sz="1800" b="0" i="0">
                <a:solidFill>
                  <a:srgbClr val="C8D7F0"/>
                </a:solidFill>
                <a:latin typeface="Arial"/>
                <a:ea typeface="Microsoft JhengHei"/>
              </a:rPr>
              <a:t>Teachable Machine 姿勢／聲音分類</a:t>
            </a:r>
          </a:p>
          <a:p>
            <a:pPr algn="ctr"/>
            <a:r>
              <a:rPr sz="1500" b="0" i="1">
                <a:solidFill>
                  <a:srgbClr val="C8D7F0"/>
                </a:solidFill>
                <a:latin typeface="Arial"/>
                <a:ea typeface="Microsoft JhengHei"/>
              </a:rPr>
              <a:t>Pose / Audio Classification with Teachable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可上網手提電腦或平板電腦（具鏡頭及麥克風） × 每組 1 部，全班約 6–8 部</a:t>
            </a:r>
          </a:p>
          <a:p>
            <a:pPr/>
            <a:r>
              <a:rPr sz="1600">
                <a:eaTypeface typeface="微軟正黑體"/>
              </a:rPr>
              <a:t>工作紙「AI 模型訓練紀錄表」 × 每人 1 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本堂學習目標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Lesson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準確列出模型訓練的三個階段：收集資料、訓練模型、測試評估。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Accurately list the three stages of model training: data collection, training, testing and evaluation.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以小組合作方式，成功訓練一個姿勢或聲音分類模型並即場測試。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Work in groups to successfully train a pose or audio classification model and test it on the spot.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以具體例子解釋訓練資料的數量與質素對模型準確率的影響。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Explain with concrete examples how the quantity and quality of training data affect model accuracy.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甚麼是機器學習？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What Is Machine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傳統程式：人逐條寫死規則 → 電腦執行。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Traditional programs: humans write rules one by one → the computer executes them.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機器學習：電腦從大量例子中自己歸納規律 → 用規律判斷新例子。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Machine learning: the computer generalises patterns from many examples → uses the patterns to judge new examples.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關鍵：模型沒有被人事先寫入答案，答案是從資料中「學」出來的。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Key point: nobody hard-codes the answers; the model "learns" them from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模型訓練三階段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Three Stages of 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① 收集資料：為每個類別準備足夠例子（如每類 50 個樣本）。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1. Data collection: prepare enough examples per class (e.g. 50 samples each).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② 訓練模型：電腦調整內部參數，學會分辨各類別。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2. Model training: the computer adjusts internal parameters and learns the classes.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③ 測試評估：用全新例子測試，計算準確率＝答對 ÷ 測試總數。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3. Testing and evaluation: test with new examples; accuracy = correct ÷ total.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垃圾進，垃圾出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Garbage In, Garbage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資料是模型的「課本」：課本寫錯，學生自然學錯。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Data is the model's "textbook": errors in the textbook mean the student learns errors.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模糊、錯誤、單一的資料 → 表現差的模型。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Blurry, wrong or one-sided data → a poor model.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改善模型，先改善資料。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To improve a model, improve the data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樣本：多樣性比數量更重要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Samples: Diversity Beats Quantity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不同的人、不同的速度、不同的背景 → 模型更穩健。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Different people, speeds and backgrounds → a more robust model.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200 個一模一樣的樣本，不如 60 個多樣化的樣本。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200 identical samples are worth less than 60 diverse ones.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常見迷思：模型不是逐一背誦樣本，而是歸納整體規律。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Myth busted: the model does not memorise samples one by one; it generalises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例子：姿勢分類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Example: Pose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類別 A：舉起右手 ｜ 類別 B：雙手自然放下。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Class A: right hand raised | Class B: hands down by the sides.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每類錄 50 個樣本 → 按「訓練模型」→ 換另一位組員測試 10 次。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Record 50 samples per class → press "Train Model" → another member tests 10 times.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答對 8 次 → 準確率 80%。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8 correct → 80% accuracy.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分組活動安排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Group Activity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4–5 人一組，共用一部裝置，輪流操作。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Groups of 4–5 share one device and take turns operating it.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分工：操作員、紀錄員、測試員、匯報員。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Roles: operator, recorder, tester, presenter.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二選一：姿勢分類（鏡頭）或聲音分類（麥克風）。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Choose one: pose classification (webcam) or audio classification (microphone).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完成「AI 模型訓練紀錄表」並準備匯報。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Complete the "AI Model Training Record" and prepare to present.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965014"/>
                </a:solidFill>
                <a:latin typeface="Arial"/>
                <a:ea typeface="Microsoft JhengHei"/>
              </a:rPr>
              <a:t>📌 姿勢分類需較大活動空間，注意安全距離；聲音分類請到較安靜的角落，各組輪流錄音。</a:t>
            </a:r>
          </a:p>
          <a:p>
            <a:r>
              <a:rPr sz="1300" b="0" i="1">
                <a:solidFill>
                  <a:srgbClr val="966E50"/>
                </a:solidFill>
                <a:latin typeface="Arial"/>
                <a:ea typeface="Microsoft JhengHei"/>
              </a:rPr>
              <a:t>Pose classification needs room to move — keep a safe distance; audio groups should record in a quiet corner, in 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總結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機器學習＝從資料中歸納規律。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Machine learning = generalising patterns from data.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三階段：收集資料 → 訓練模型 → 測試評估。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Three stages: collect → train → test and evaluate.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垃圾進，垃圾出；多樣性比數量更重要。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Garbage in, garbage out; diversity beats quantity.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下堂預告：用生成式 AI 為關愛對象製作正能量影片／音樂。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Next lesson: use generative AI to create positivity videos / music for people we care about.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15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15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