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9" r:id="rId20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2.xml"/><Relationship Id="rId18" Type="http://schemas.openxmlformats.org/officeDocument/2006/relationships/slide" Target="slides/slide13.xml"/><Relationship Id="rId19" Type="http://schemas.openxmlformats.org/officeDocument/2006/relationships/slide" Target="slides/slide3.xml"/><Relationship Id="rId20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latin typeface="Arial"/>
              </a:rPr>
              <a:t>Lesson 5
投石機</a:t>
            </a:r>
          </a:p>
          <a:p>
            <a:pPr algn="ctr"/>
            <a:r>
              <a:rPr sz="2400">
                <a:latin typeface="Arial"/>
              </a:rPr>
              <a:t>Catapult
S2 Little Makers Class - Unit 2: Advanced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雪條棍 Ice-cream sticks × 15–20 支</a:t>
            </a:r>
          </a:p>
          <a:p>
            <a:pPr/>
            <a:r>
              <a:rPr sz="1600">
                <a:eaTypeface typeface="微軟正黑體"/>
              </a:rPr>
              <a:t>橡筋 Rubber bands × 10 條</a:t>
            </a:r>
          </a:p>
          <a:p>
            <a:pPr/>
            <a:r>
              <a:rPr sz="1600">
                <a:eaTypeface typeface="微軟正黑體"/>
              </a:rPr>
              <a:t>膠匙 Plastic spoons × 2 把</a:t>
            </a:r>
          </a:p>
          <a:p>
            <a:pPr/>
            <a:r>
              <a:rPr sz="1600">
                <a:eaTypeface typeface="微軟正黑體"/>
              </a:rPr>
              <a:t>膠紙、繩 Adhesive tape, string × 1 套</a:t>
            </a:r>
          </a:p>
          <a:p>
            <a:pPr/>
            <a:r>
              <a:rPr sz="1600">
                <a:eaTypeface typeface="微軟正黑體"/>
              </a:rPr>
              <a:t>軟質小球（乒乓球／海綿球） Soft balls (table-tennis / sponge balls) × 3 個</a:t>
            </a:r>
          </a:p>
          <a:p>
            <a:pPr/>
            <a:r>
              <a:rPr sz="1600">
                <a:eaTypeface typeface="微軟正黑體"/>
              </a:rPr>
              <a:t>捲尺／長尺 Measuring tape / long ruler × 1 個</a:t>
            </a:r>
          </a:p>
          <a:p>
            <a:pPr/>
            <a:r>
              <a:rPr sz="1600">
                <a:eaTypeface typeface="微軟正黑體"/>
              </a:rPr>
              <a:t>數據記錄工作紙 Data record worksheet × 每人 1 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0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2" y="777240"/>
            <a:ext cx="748145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課堂目標</a:t>
            </a:r>
          </a:p>
          <a:p>
            <a:r>
              <a:rPr sz="2000">
                <a:latin typeface="Arial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指出投石機上的支點、施力臂、受力臂 Identify fulcrum, effort arm and load arm</a:t>
            </a:r>
          </a:p>
          <a:p>
            <a:pPr/>
            <a:r>
              <a:rPr sz="2400">
                <a:latin typeface="Arial"/>
              </a:rPr>
              <a:t>•  製作可正常發射的投石機 Build a working catapult</a:t>
            </a:r>
          </a:p>
          <a:p>
            <a:pPr/>
            <a:r>
              <a:rPr sz="2400">
                <a:latin typeface="Arial"/>
              </a:rPr>
              <a:t>•  記錄最少 5 次射程、計算平均值；以公平測試比較支點位置 Record 5+ ranges, find the mean; fair-test fulcrum positions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槓桿三要素</a:t>
            </a:r>
          </a:p>
          <a:p>
            <a:r>
              <a:rPr sz="2000">
                <a:latin typeface="Arial"/>
              </a:rPr>
              <a:t>Three Elements of a Lever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支點 Fulcrum：槓桿轉動的固定點 —— 發射臂的轉軸 the fixed pivot — the arm's axle</a:t>
            </a:r>
          </a:p>
          <a:p>
            <a:pPr/>
            <a:r>
              <a:rPr sz="2400">
                <a:latin typeface="Arial"/>
              </a:rPr>
              <a:t>•  施力點 Effort point：施力處 —— 橡筋拉動發射臂的位置 where force is applied — rubber band pull point</a:t>
            </a:r>
          </a:p>
          <a:p>
            <a:pPr/>
            <a:r>
              <a:rPr sz="2400">
                <a:latin typeface="Arial"/>
              </a:rPr>
              <a:t>•  受力點 Load point：負載處 —— 膠匙／發射物 where the load acts — the spoon / projectile</a:t>
            </a:r>
          </a:p>
          <a:p>
            <a:pPr/>
            <a:r>
              <a:rPr sz="2400">
                <a:latin typeface="Arial"/>
              </a:rPr>
              <a:t>•  施力臂：支點→施力點；受力臂：支點→受力點 Effort arm: fulcrum→effort; load arm: fulcrum→load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速度與力量的取捨</a:t>
            </a:r>
          </a:p>
          <a:p>
            <a:r>
              <a:rPr sz="2000">
                <a:latin typeface="Arial"/>
              </a:rPr>
              <a:t>Speed vs Force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末端線速度 ＝ 角速度 × 半徑（v ＝ ωr） Tip speed = angular speed × radius</a:t>
            </a:r>
          </a:p>
          <a:p>
            <a:pPr/>
            <a:r>
              <a:rPr sz="2400">
                <a:latin typeface="Arial"/>
              </a:rPr>
              <a:t>•  受力臂愈長 → 末端速度愈大 → 射程愈遠 Longer load arm → faster tip → longer range</a:t>
            </a:r>
          </a:p>
          <a:p>
            <a:pPr/>
            <a:r>
              <a:rPr sz="2400">
                <a:latin typeface="Arial"/>
              </a:rPr>
              <a:t>•  代價：方向愈難控制，準確度下降 Trade-off: poorer directional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公平測試三步</a:t>
            </a:r>
          </a:p>
          <a:p>
            <a:r>
              <a:rPr sz="2000">
                <a:latin typeface="Arial"/>
              </a:rPr>
              <a:t>Three Steps of Fair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定變量：每次只改變一個變量 Fix variables: change only one at a time</a:t>
            </a:r>
          </a:p>
          <a:p>
            <a:pPr/>
            <a:r>
              <a:rPr sz="2400">
                <a:latin typeface="Arial"/>
              </a:rPr>
              <a:t>•  量多次：每組條件發射最少 5 次 Repeat: at least 5 launches per setting</a:t>
            </a:r>
          </a:p>
          <a:p>
            <a:pPr/>
            <a:r>
              <a:rPr sz="2400">
                <a:latin typeface="Arial"/>
              </a:rPr>
              <a:t>•  計平均：以平均數減少偶然誤差 Mean: reduce random error</a:t>
            </a:r>
          </a:p>
          <a:p>
            <a:pPr/>
            <a:r>
              <a:rPr sz="2400">
                <a:latin typeface="Arial"/>
              </a:rPr>
              <a:t>•  本課：改變支點位置；橡筋圈數、拉後位置、發射物不變 Here: change fulcrum position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數字例子</a:t>
            </a:r>
          </a:p>
          <a:p>
            <a:r>
              <a:rPr sz="2000">
                <a:latin typeface="Arial"/>
              </a:rPr>
              <a:t>Numerical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支點位置 A：210、225、218、232、215 cm → 平均 220 cm Position A mean = 220 cm</a:t>
            </a:r>
          </a:p>
          <a:p>
            <a:pPr/>
            <a:r>
              <a:rPr sz="2400">
                <a:latin typeface="Arial"/>
              </a:rPr>
              <a:t>•  支點位置 B（近發射物端）：260、272、255、268、265 cm → 平均 264 cm Position B mean = 264 cm</a:t>
            </a:r>
          </a:p>
          <a:p>
            <a:pPr/>
            <a:r>
              <a:rPr sz="2400">
                <a:latin typeface="Arial"/>
              </a:rPr>
              <a:t>•  結論：支點愈靠近發射物端，射程愈遠 Conclusion: fulcrum nearer the projectile end → longer range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製作要點</a:t>
            </a:r>
          </a:p>
          <a:p>
            <a:r>
              <a:rPr sz="2000">
                <a:latin typeface="Arial"/>
              </a:rPr>
              <a:t>Construction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標示預計的支點位置 Mark the planned fulcrum position</a:t>
            </a:r>
          </a:p>
          <a:p>
            <a:pPr/>
            <a:r>
              <a:rPr sz="2400">
                <a:latin typeface="Arial"/>
              </a:rPr>
              <a:t>•  橡筋多圈綑緊，儲存扭力 Wind rubber bands tightly over several turns</a:t>
            </a:r>
          </a:p>
          <a:p>
            <a:pPr/>
            <a:r>
              <a:rPr sz="2400">
                <a:latin typeface="Arial"/>
              </a:rPr>
              <a:t>•  發射角度固定：每次拉到同一位置 Fix the launch angle: pull back to the same mark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比賽與數據分析</a:t>
            </a:r>
          </a:p>
          <a:p>
            <a:r>
              <a:rPr sz="2000">
                <a:latin typeface="Arial"/>
              </a:rPr>
              <a:t>Competition and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每組發射 5 次記錄射程 → 改支點 → 再 5 次 5 launches, change fulcrum, 5 more</a:t>
            </a:r>
          </a:p>
          <a:p>
            <a:pPr/>
            <a:r>
              <a:rPr sz="2400">
                <a:latin typeface="Arial"/>
              </a:rPr>
              <a:t>•  計算兩組平均射程，繪畫棒形圖 Calculate both means; draw a bar chart</a:t>
            </a:r>
          </a:p>
          <a:p>
            <a:pPr/>
            <a:r>
              <a:rPr sz="2400">
                <a:latin typeface="Arial"/>
              </a:rPr>
              <a:t>•  比賽：每組以最佳成績參賽 Race: best result counts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安全須知</a:t>
            </a:r>
          </a:p>
          <a:p>
            <a:r>
              <a:rPr sz="2000">
                <a:latin typeface="Arial"/>
              </a:rPr>
              <a:t>Safety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只准發射軟質小球（乒乓球／海綿球） Soft balls only</a:t>
            </a:r>
          </a:p>
          <a:p>
            <a:pPr/>
            <a:r>
              <a:rPr sz="2400">
                <a:latin typeface="Arial"/>
              </a:rPr>
              <a:t>•  發射前確認發射方向無人 Check the launch direction is clear</a:t>
            </a:r>
          </a:p>
          <a:p>
            <a:pPr/>
            <a:r>
              <a:rPr sz="2400">
                <a:latin typeface="Arial"/>
              </a:rPr>
              <a:t>•  不可指向他人，不可彈射橡筋嬉戲 Never aim at anyone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總結與反思</a:t>
            </a:r>
          </a:p>
          <a:p>
            <a:r>
              <a:rPr sz="2000">
                <a:latin typeface="Arial"/>
              </a:rPr>
              <a:t>Summary and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槓桿三要素決定速度與力量的取捨 Lever elements set the speed–force trade-off</a:t>
            </a:r>
          </a:p>
          <a:p>
            <a:pPr/>
            <a:r>
              <a:rPr sz="2400">
                <a:latin typeface="Arial"/>
              </a:rPr>
              <a:t>•  公平測試＋平均數＝可靠的工程決策 Fair test + mean = reliable engineering decisions</a:t>
            </a:r>
          </a:p>
          <a:p>
            <a:pPr/>
            <a:r>
              <a:rPr sz="2400">
                <a:latin typeface="Arial"/>
              </a:rPr>
              <a:t>•  關愛反思：拋射原理能否安全傳送物資給有需要的人？ Caring reflection: can launching deliver supplies safely to people in need?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777240"/>
            <a:ext cx="707136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