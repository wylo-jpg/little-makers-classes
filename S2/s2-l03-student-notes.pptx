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7" r:id="rId18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latin typeface="Arial"/>
                <a:ea typeface="Microsoft JhengHei"/>
              </a:rPr>
              <a:t>聖公會呂明才中學　創科班（Little Makers Class）</a:t>
            </a:r>
          </a:p>
          <a:p>
            <a:pPr algn="ctr">
              <a:spcAft>
                <a:spcPts val="600"/>
              </a:spcAft>
            </a:pPr>
            <a:r>
              <a:rPr sz="2000" b="0">
                <a:latin typeface="Arial"/>
                <a:ea typeface="Microsoft JhengHei"/>
              </a:rPr>
              <a:t>S2 Unit 1：進階創科人　第三堂</a:t>
            </a:r>
          </a:p>
          <a:p>
            <a:pPr algn="ctr">
              <a:spcAft>
                <a:spcPts val="600"/>
              </a:spcAft>
            </a:pPr>
            <a:r>
              <a:rPr sz="4000" b="1">
                <a:latin typeface="Arial"/>
                <a:ea typeface="Microsoft JhengHei"/>
              </a:rPr>
              <a:t>從同情到同理</a:t>
            </a:r>
          </a:p>
          <a:p>
            <a:pPr algn="ctr">
              <a:spcAft>
                <a:spcPts val="600"/>
              </a:spcAft>
            </a:pPr>
            <a:r>
              <a:rPr sz="2400" b="0">
                <a:latin typeface="Arial"/>
                <a:ea typeface="Microsoft JhengHei"/>
              </a:rPr>
              <a:t>From Sympathy to Empathy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眼罩（遮光眼罩） × 每人 1 個</a:t>
            </a:r>
          </a:p>
          <a:p>
            <a:pPr/>
            <a:r>
              <a:rPr sz="1600">
                <a:eaTypeface typeface="微軟正黑體"/>
              </a:rPr>
              <a:t>個案研討卡（打印） × 每組 1 套</a:t>
            </a:r>
          </a:p>
          <a:p>
            <a:pPr/>
            <a:r>
              <a:rPr sz="1600">
                <a:eaTypeface typeface="微軟正黑體"/>
              </a:rPr>
              <a:t>對照工作紙、分析框架工作紙 × 每人各 1 張</a:t>
            </a:r>
          </a:p>
          <a:p>
            <a:pPr/>
            <a:r>
              <a:rPr sz="1600">
                <a:eaTypeface typeface="微軟正黑體"/>
              </a:rPr>
              <a:t>文具（筆、記事貼） × 每組 1 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本堂目標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以自己的話解釋同情與同理的分別，各舉一生活例子。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Explain sympathy vs empathy in your own words, with an example each.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分析個案，指出至少兩處體現同理心的設計特點。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Analyse a case; identify ≥2 empathetic design features.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針對個案提出一項具體改善建議，並書面說明理由。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Propose one concrete improvement with written reasons.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蒙眼體驗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Blindfold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戴上眼罩，憑觸覺在兩分鐘內從筆袋找出指定文具。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Blindfolded: find a stationery item by touch in 2 minutes.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分享：哪些地方不便？何時需要協助？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Share: what was inconvenient? When did you need help?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重要：短暫體驗 ≠ 真正理解視障生活；切勿輕率下結論。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Important: brief simulation ≠ true understanding; no hasty conclusions.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同情 vs 同理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Sympathy vs empathy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同情：由上而下的憐憫——「我為你難過」。焦點在「我」的感受。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Sympathy: top-down pity — "I feel sorry for you." Focus: my feelings.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同理：設身處地理解——「我明白你的處境」。焦點在對方的需要。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Empathy: in their shoes — "I understand your situation." Focus: their needs.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例：見視障人士覺得「他很可憐」(同情) → 理解他需要可靠過路提示(同理)。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E.g. "how pitiful" (sympathy) → understanding the need for crossing cues (empathy).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分析框架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Analytical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使用者需要：使用者真正面對什麼困難？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User needs: what difficulties do users genuinely face?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設計回應：設計如何回應這些需要？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Design response: how does the design address these needs?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成效反思：有效嗎？有不足嗎？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Effectiveness reflection: does it work? Any shortcomings?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最後判斷：同情還是同理？理據是什麼？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Final judgement: sympathy or empathy? Reasons?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個案一：點字標籤生活用品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Case 1: Braille-labelled daily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背景：視障人士看不懂藥物說明；誤服藥物危害健康。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Background: can't read medicine instructions; wrong medicine endangers health.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特點：藥物加點字標籤；標籤設於瓶身固定位置，方便觸覺尋找。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Features: Braille labels on medicines; fixed position for reliable touch location.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相關機構：香港盲人輔導會（1956 年成立）提供點字製作服務。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Related: Hong Kong Society for the Blind (est. 1956) provides Braille production.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同理心：理解依賴觸覺的習慣；針對真正用藥安全需要。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Empathy: understands touch reliance; addresses genuine safety needs.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個案二：具語音提示的家用產品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Case 2: household product with voice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例：語音血壓計——看不清螢幕數字的視障人士／長者，難以自行量血壓。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E.g. talking blood pressure monitor — users who can't read the screen.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特點：量度後語音報讀結果；按鍵簡單，步驟少。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Features: results read aloud; simple buttons, few steps.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同理心：讓使用者獨立完成量度，維護自主與尊嚴。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Empathy: independent use; preserves autonomy and dignity.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這類產品在市面真實有售，屬視障輔助器具。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Genuinely available as assistive devices.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如何判斷同理心設計？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How to judge empathetic design?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設計者有否真正諮詢使用者？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Did the designer genuinely consult users?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針對使用者真正需要，還是只令設計者自我感覺良好？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Users' genuine needs, or just the designer's feel-good?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科技先進 ≠ 有同理心；關鍵在是否理解使用者需要。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Advanced tech ≠ empathy; key: understanding user needs.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分組研討＋辯論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Group discussion + debate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四人一組研讀個案卡，用框架討論並填寫工作紙。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Groups of four: study the case card with the framework; complete the worksheet.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找出至少兩處體現同理心的設計特點。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Identify ≥2 empathetic design features.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辯論題：「這個設計是同情還是同理？為什麼？」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Debate: "Is this design sympathy or empathy, and why?"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有理據的不同觀點都會被肯定。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All well-reasoned views are affirmed.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總結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同情＝憐憫；同理＝設身處地理解需要。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Sympathy = pity; empathy = understanding needs.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同理心設計來自理解使用者，而非先進技術。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Empathetic design comes from understanding users, not advanced tech.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課業：三百字短評（兩處同理心特點＋一項改善建議＋理由）。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Assignment: 300-word commentary (2 empathetic features + 1 improvement + reasons).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全年主題：正能量——用創科關愛弱勢社群。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Annual theme: positive energy — caring for vulnerable groups through innovation and technology.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下一單元：社區探訪＋動手製作關愛產品。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Next unit: community visits + hands-on caring products.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分組研討：個案分析</a:t>
            </a:r>
          </a:p>
        </p:txBody>
      </p:sp>
      <p:pic>
        <p:nvPicPr>
          <p:cNvPr id="3" name="Picture 2" descr="s2-l03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847" y="1655999"/>
            <a:ext cx="5040000" cy="37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個案一：點字標籤生活用品</a:t>
            </a:r>
          </a:p>
        </p:txBody>
      </p:sp>
      <p:pic>
        <p:nvPicPr>
          <p:cNvPr id="3" name="Picture 2" descr="s2-l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847" y="1655999"/>
            <a:ext cx="5040000" cy="33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