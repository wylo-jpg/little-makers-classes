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8EB"/>
                </a:solidFill>
                <a:latin typeface="Arial"/>
                <a:ea typeface="Microsoft JhengHei"/>
              </a:rPr>
              <a:t>S2 單元四：AI 進階與倫理深化</a:t>
            </a:r>
          </a:p>
          <a:p>
            <a:pPr algn="ctr"/>
            <a:r>
              <a:rPr sz="1600" b="0" i="1">
                <a:solidFill>
                  <a:srgbClr val="AAC8EB"/>
                </a:solidFill>
                <a:latin typeface="Arial"/>
                <a:ea typeface="Microsoft JhengHei"/>
              </a:rPr>
              <a:t>S2 Unit 4: Advanced AI and Deepening of AI Ethics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18 堂｜AI 倫理個案研討</a:t>
            </a:r>
          </a:p>
          <a:p>
            <a:pPr algn="ctr"/>
            <a:r>
              <a:rPr sz="2600" b="0" i="0">
                <a:solidFill>
                  <a:srgbClr val="E1EBFA"/>
                </a:solidFill>
                <a:latin typeface="Arial"/>
                <a:ea typeface="Microsoft JhengHei"/>
              </a:rPr>
              <a:t>Lesson 18 | AI Ethics Case Study</a:t>
            </a:r>
          </a:p>
          <a:p>
            <a:pPr algn="ctr">
              <a:spcBef>
                <a:spcPts val="2400"/>
              </a:spcBef>
            </a:pPr>
            <a:r>
              <a:rPr sz="1800" b="0" i="0">
                <a:solidFill>
                  <a:srgbClr val="C8D7F0"/>
                </a:solidFill>
                <a:latin typeface="Arial"/>
                <a:ea typeface="Microsoft JhengHei"/>
              </a:rPr>
              <a:t>deepfake 騙案與 AI 招聘偏見</a:t>
            </a:r>
          </a:p>
          <a:p>
            <a:pPr algn="ctr"/>
            <a:r>
              <a:rPr sz="1500" b="0" i="1">
                <a:solidFill>
                  <a:srgbClr val="C8D7F0"/>
                </a:solidFill>
                <a:latin typeface="Arial"/>
                <a:ea typeface="Microsoft JhengHei"/>
              </a:rPr>
              <a:t>Deepfake Fraud and AI Hiring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個案資料及工作紙 × 每人 1 份</a:t>
            </a:r>
          </a:p>
          <a:p>
            <a:pPr/>
            <a:r>
              <a:rPr sz="1600">
                <a:eaTypeface typeface="微軟正黑體"/>
              </a:rPr>
              <a:t>白板／投影（展示辯論規則及計時） × 課室現有</a:t>
            </a:r>
          </a:p>
          <a:p>
            <a:pPr/>
            <a:r>
              <a:rPr sz="1600">
                <a:eaTypeface typeface="微軟正黑體"/>
              </a:rPr>
              <a:t>計時器（老師手機） × 1 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本堂學習目標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準確複述兩個個案的事實重點。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Accurately recount the key facts of both cases.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運用「道德判斷三問」分析 AI 倫理個案。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Analyse AI ethics cases using the "three questions of moral judgement".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在辯論中提出至少一個有理據支持的立場。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Put forward at least one evidence-backed position in the debate.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甚麼是 deepfake？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What Is Deepfake?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AI 生成的合成媒體：學習某人的容貌＋聲音特徵，再生成全新影像／聲音。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AI-generated synthetic media: learns a person's facial + voice features, then generates new images/audio.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正當用途：電影特效、創意製作。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Legitimate uses: film effects, creative production.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濫用風險：詐騙、造假、冒充。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Abuse risks: fraud, fabrication, impersonation.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個案一：deepfake 視像會議騙案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Case 1: Deepfake Video-Conference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2024 年初，香港：職員收到偽冒財務總監的電郵，參加視像會議。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Early 2024, Hong Kong: an employee received a fake CFO email and joined a video call.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會議中的財務總監及同事，全屬 AI 深偽偽造。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 CFO and colleagues on the call were all AI deepfakes.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15 次轉帳，合共 2 億港元；一星期後才識破。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15 transfers totalling HK$200 million; exposed a week later.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（根據真實新聞改編，細節已簡化。）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(Adapted from real news; details simplified.)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個案二：AI 招聘系統的性別偏見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Case 2: Gender Bias in AI Hiring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2014 年起：用過去十年履歷訓練 AI，自動評一至五星。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From 2014: AI trained on ten years of resumes, scoring applicants 1–5 stars.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2015 年發現：女性求職者被系統性評低分。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2015 discovery: female applicants systematically scored lower.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成因：訓練履歷大多來自男性；含「女子」字眼的履歷被扣分。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Cause: most training resumes were from men; resumes with "women's" were penalised.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結果：公司放棄該系統。（根據 2018 年路透社報導改編。）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Outcome: the company scrapped the system. (Adapted from a 2018 Reuters report.)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演算法偏見的成因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Causes of Algorithmic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AI 從人類資料中學習。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AI learns from human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資料反映現實中的不平等 → AI 複製，甚至放大偏見。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Data reflects real-world inequality → AI copies and may amplify the bias.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不是 AI「有心歧視」，而是它學會了資料中的不公平規律。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Not AI "deliberately discriminating" — it learnt the unfair patterns in the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扣連第 15 堂：這就是「垃圾進，垃圾出」的嚴重版本。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Link to Lesson 15: this is the serious version of "garbage in, garbage out".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道德判斷三問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Questions of Moral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① 誰受影響？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1. Who is affected?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② 是否公平？為甚麼？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2. Is it fair? Why?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③ 誰應負責？為甚麼？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3. Who should be responsible? Why?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只寫「不公平」三字，不算完成分析。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Writing only "unfair" does not count as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三層責任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Layers of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技術本身 ｜ 設計者 ｜ 使用者。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 technology itself | its designers | its users.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個案一：責任在行騙的騙徒（使用者作惡）。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Case 1: responsibility lies with the fraudsters (users committing wrongdoing).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個案二：責任在採用未經偏見檢測系統的企業及設計者。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Case 2: responsibility lies with the company deploying an untested-for-bias system and its designers.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「技術無罪」≠「無人需要負責」。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"Technology is blameless" ≠ "no one is responsible".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辯論：AI 技術本身是中立的嗎？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Debate: Is AI Technology Itself Neutral?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先完成兩個個案的三問分析表。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First complete the three-question tables for both cases.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每組提出至少一個有理據支持的立場。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Each group puts forward at least one evidence-backed position.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引用個案事實支持你的立場。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Support your stance with case facts.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老師擔任主席，保持中立，不預設正確答案。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 teacher chairs neutrally, presuming no "correct answer".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965014"/>
                </a:solidFill>
                <a:latin typeface="Arial"/>
                <a:ea typeface="Microsoft JhengHei"/>
              </a:rPr>
              <a:t>📌 辯論前先訂立規則：輪流發言、針對理據不針對人、保持理性氣氛。</a:t>
            </a:r>
          </a:p>
          <a:p>
            <a:r>
              <a:rPr sz="1300" b="0" i="1">
                <a:solidFill>
                  <a:srgbClr val="966E50"/>
                </a:solidFill>
                <a:latin typeface="Arial"/>
                <a:ea typeface="Microsoft JhengHei"/>
              </a:rPr>
              <a:t>Set rules before the debate: take turns, challenge reasoning not people, keep it rational.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總結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Deepfake 可造福也可作惡；偏見源於有偏差的訓練資料。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Deepfake can benefit or harm; bias comes from biased training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三問：誰受影響？是否公平？誰應負責？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Three questions: affected? fair? responsible?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不盲從「AI 說的」：保持合理懷疑。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Do not blindly follow "what the AI says": stay reasonably sceptical.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下堂預告：AI 與社會——工作會被取代嗎？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Next lesson: AI and society — will jobs be replaced?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8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