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latin typeface="Arial"/>
                <a:ea typeface="Microsoft JhengHei"/>
              </a:rPr>
              <a:t>聖公會呂明才中學　創科班（Little Makers Class）</a:t>
            </a:r>
          </a:p>
          <a:p>
            <a:pPr algn="ctr">
              <a:spcAft>
                <a:spcPts val="600"/>
              </a:spcAft>
            </a:pPr>
            <a:r>
              <a:rPr sz="2000" b="0">
                <a:latin typeface="Arial"/>
                <a:ea typeface="Microsoft JhengHei"/>
              </a:rPr>
              <a:t>S2 Unit 1：進階創科人　第一堂</a:t>
            </a:r>
          </a:p>
          <a:p>
            <a:pPr algn="ctr">
              <a:spcAft>
                <a:spcPts val="600"/>
              </a:spcAft>
            </a:pPr>
            <a:r>
              <a:rPr sz="4000" b="1">
                <a:latin typeface="Arial"/>
                <a:ea typeface="Microsoft JhengHei"/>
              </a:rPr>
              <a:t>創科人 2.0：逆向工程</a:t>
            </a:r>
          </a:p>
          <a:p>
            <a:pPr algn="ctr">
              <a:spcAft>
                <a:spcPts val="600"/>
              </a:spcAft>
            </a:pPr>
            <a:r>
              <a:rPr sz="2400" b="0">
                <a:latin typeface="Arial"/>
                <a:ea typeface="Microsoft JhengHei"/>
              </a:rPr>
              <a:t>Innovator 2.0: Reverse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舊玩具或小型無電器具（例如舊鬧鐘、已移除電池的舊滑鼠、舊玩具車） × 每組 1 件</a:t>
            </a:r>
          </a:p>
          <a:p>
            <a:pPr/>
            <a:r>
              <a:rPr sz="1600">
                <a:eaTypeface typeface="微軟正黑體"/>
              </a:rPr>
              <a:t>螺絲批套裝（十字、一字） × 每組 1 套</a:t>
            </a:r>
          </a:p>
          <a:p>
            <a:pPr/>
            <a:r>
              <a:rPr sz="1600">
                <a:eaTypeface typeface="微軟正黑體"/>
              </a:rPr>
              <a:t>防護手套（工作手套） × 每人 1 對</a:t>
            </a:r>
          </a:p>
          <a:p>
            <a:pPr/>
            <a:r>
              <a:rPr sz="1600">
                <a:eaTypeface typeface="微軟正黑體"/>
              </a:rPr>
              <a:t>放大鏡 × 每組 1 個</a:t>
            </a:r>
          </a:p>
          <a:p>
            <a:pPr/>
            <a:r>
              <a:rPr sz="1600">
                <a:eaTypeface typeface="微軟正黑體"/>
              </a:rPr>
              <a:t>A3 白紙 × 每組 2 張</a:t>
            </a:r>
          </a:p>
          <a:p>
            <a:pPr/>
            <a:r>
              <a:rPr sz="1600">
                <a:eaTypeface typeface="微軟正黑體"/>
              </a:rPr>
              <a:t>鉛筆、間尺、擦膠 × 每組 1 套</a:t>
            </a:r>
          </a:p>
          <a:p>
            <a:pPr/>
            <a:r>
              <a:rPr sz="1600">
                <a:eaTypeface typeface="微軟正黑體"/>
              </a:rPr>
              <a:t>零件收納盤／小盒 × 每組 1 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本堂目標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列出逆向工程的三個基本步驟（拆解、記錄、分析）。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List the three basic steps of reverse engineering.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繪製結構圖，標示至少五個主要部件的名稱與連接方式。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Draw a structural diagram labelling at least five major components and connections.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推測至少兩項設計決定的意圖，並寫出理由。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Infer at least two design intentions with written reasons.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什麼是逆向工程？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What is reverse engineering?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透過拆解成品，倒推其設計原理與製作方法的分析過程。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Working backwards from a finished product to its design principles and methods.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關鍵在「逆向」：正向＝想法 → 成品；逆向＝成品 → 想法。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Key: "reverse" — forward: idea → product; reverse: product → idea.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用途：維修找損壞部件、研究同類產品、改良舊產品。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Uses: repairing, studying similar products, improving old products.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中一：由零開始的設計思維 → 中二：由成品開始的逆向思維。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S1: design thinking from zero → S2: reverse thinking from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三個基本步驟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Three basic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一、拆解：由外而內，小心分離；只拆無電、無電池物品；按次序排列零件。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1. Disassemble: outside-in, with care; unpowered items only; parts in order.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二、記錄：繪圖記錄＋部件清單（次序、名稱、數量、物料、觀察）。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2. Document: drawings + parts list (order, name, quantity, material, observations).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三、分析：從記錄推測設計意圖（物料選擇、結構安排）。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3. Analyse: infer design intentions from records (materials, structure).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結構分析的方法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Methods of 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由外而內：先看外觀整體，再逐層拆入內部。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Outside-in: overall appearance first, then layer by layer inward.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由整體到部件：先分幾大部分，再細看每個部件。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Whole-to-parts: main sections first, then each component in detail.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結構圖繪製規範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Structural diagram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畫出外觀輪廓。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Draw the outer outline.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標示至少五個主要部件的名稱。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Label at least five major components.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說明部件之間的連接方式（如螺絲固定、卡榫接合）。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Describe connections (e.g. screws, clips).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比例大致準確，線條清晰整潔。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Roughly accurate proportions; clear, neat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安全規則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只拆無電、無電池物品；嚴禁拆曾接電源的電器。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Unpowered, battery-free items only; never ex-mains appliances.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戴防護手套用螺絲批；不對準人或自己用力。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Wear gloves with screwdrivers; never force towards people.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細零件放入收納盤，課後清點。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Small parts in the tray; count after class.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拆解後洗手。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Wash hands after dismantling.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例子：從成品倒推設計意圖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Examples: reasoning backwards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可替換筆芯的原子筆 → 減少浪費、延長壽命、降低成本（環保＋成本）。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Refillable pen → less waste, longer life, lower cost.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玩具車橡膠車輪（非塑膠）→ 增加摩擦力，防打滑。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Rubber toy-car wheels → more friction, no slipping.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車殼用三顆螺絲（非兩顆）→ 更穩固，受力平均，不易鬆脫。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Three screws (not two) → more stable, even force.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分組活動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Group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四人一組，戴手套，用螺絲批拆解舊玩具／小器具。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Groups of four: gloves on, dismantle with screwdrivers.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按拆解次序擺放零件，填寫拆解記錄表。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Lay out parts in order; complete the record sheet.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繪製結構圖（≥五個部件標示＋連接方式）。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Draw the structural diagram (≥5 labels + connections).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寫下至少兩項設計意圖推測及理由。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Write at least two design-intention inferences with reasons.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latin typeface="Arial"/>
                <a:ea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逆向工程＝由成品倒推設計原理的分析過程。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Reverse engineering: product → design principles.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三步驟：拆解 → 記錄 → 分析。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Three steps: disassemble → document → analyse.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沒有記錄的拆解＝破壞。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Dismantling without records = destruction.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課業：結構圖上色（A3）＋二百字書面反思。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Assignments: colour the diagram (A3) + 200-word reflection.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Arial"/>
                <a:ea typeface="Microsoft JhengHei"/>
              </a:rPr>
              <a:t>• 下一堂：把分析對象由物件轉向人物——訪問技巧。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Arial"/>
                <a:ea typeface="Microsoft JhengHei"/>
              </a:rPr>
              <a:t>   Next: from objects to people — interview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分組活動：拆解與記錄</a:t>
            </a:r>
          </a:p>
        </p:txBody>
      </p:sp>
      <p:pic>
        <p:nvPicPr>
          <p:cNvPr id="3" name="Picture 2" descr="s2-l01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47" y="1655999"/>
            <a:ext cx="5040000" cy="33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例子：從成品倒推設計意圖</a:t>
            </a:r>
          </a:p>
        </p:txBody>
      </p:sp>
      <p:pic>
        <p:nvPicPr>
          <p:cNvPr id="3" name="Picture 2" descr="s2-l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847" y="1655999"/>
            <a:ext cx="5040000" cy="16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