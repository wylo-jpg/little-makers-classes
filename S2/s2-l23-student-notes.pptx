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聖公會呂明才中學 S.K.H. Lui Ming Choi Secondary School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創科班 Little Makers Class</a:t>
            </a:r>
          </a:p>
          <a:p>
            <a:pPr algn="ctr"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rFonts latin="Arial" ea="Microsoft JhengHei" cs="Arial"/>
              </a:rPr>
              <a:t>第 23 堂 Lesson 23</a:t>
            </a:r>
          </a:p>
          <a:p>
            <a:pPr algn="ctr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rFonts latin="Arial" ea="Microsoft JhengHei" cs="Arial"/>
              </a:rPr>
              <a:t>動手做（一）：實物原型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rFonts latin="Arial" ea="Microsoft JhengHei" cs="Arial"/>
              </a:rPr>
              <a:t>Hands-on Making I: Physical Prototype</a:t>
            </a:r>
          </a:p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rFonts latin="Arial" ea="Microsoft JhengHei" cs="Arial"/>
              </a:rPr>
              <a:t>學生筆記 Student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瓦楞紙板 Corrugated cardboard × 每組 4 塊 4 boards per group</a:t>
            </a:r>
          </a:p>
          <a:p>
            <a:pPr/>
            <a:r>
              <a:rPr sz="1600">
                <a:eaTypeface typeface="微軟正黑體"/>
              </a:rPr>
              <a:t>熱熔膠槍及膠棒 Hot glue gun and glue sticks × 每組 1 把槍（學校借用）＋ 5 枝棒 1 gun per group (borrowed from school) + 5 sticks</a:t>
            </a:r>
          </a:p>
          <a:p>
            <a:pPr/>
            <a:r>
              <a:rPr sz="1600">
                <a:eaTypeface typeface="微軟正黑體"/>
              </a:rPr>
              <a:t>剪刀 Scissors × 每組 2 把 2 per group</a:t>
            </a:r>
          </a:p>
          <a:p>
            <a:pPr/>
            <a:r>
              <a:rPr sz="1600">
                <a:eaTypeface typeface="微軟正黑體"/>
              </a:rPr>
              <a:t>美工刀 Craft knife × 每組 1 把 1 per group</a:t>
            </a:r>
          </a:p>
          <a:p>
            <a:pPr/>
            <a:r>
              <a:rPr sz="1600">
                <a:eaTypeface typeface="微軟正黑體"/>
              </a:rPr>
              <a:t>雙面膠紙 Double-sided tape × 每組 1 卷 1 roll per group</a:t>
            </a:r>
          </a:p>
          <a:p>
            <a:pPr/>
            <a:r>
              <a:rPr sz="1600">
                <a:eaTypeface typeface="微軟正黑體"/>
              </a:rPr>
              <a:t>雪條棒 Ice-cream sticks × 每組 1 包 1 pack per group</a:t>
            </a:r>
          </a:p>
          <a:p>
            <a:pPr/>
            <a:r>
              <a:rPr sz="1600">
                <a:eaTypeface typeface="微軟正黑體"/>
              </a:rPr>
              <a:t>彩紙及裝飾物料 Coloured paper and decorations × 每組 1 份 1 set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課堂目標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Lesson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按工序表完成原型主要結構（≥70%）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Main structure ≥70% complete per the procedure table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遇問題能提出方案並動手嘗試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Propose and try solutions when problems arise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正確、安全使用手工工具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Use hand tools correctly and safely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製作五步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Five Making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1. 量度並標記（摺邊預留 0.5cm）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1. Measure &amp; mark (0.5 cm fold allowance)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2. 切割（直尺壓邊，慢慢切）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2. Cut (ruler on edge, cut slowly)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3. 黏合組裝（先試裝，後上膠）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3. Glue &amp; assemble (dry-fit first)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4. 加固結構（三角支撐／加厚底座）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4. Reinforce (triangular supports / thicker base)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5. 對照設計圖驗收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5. Verify against the drawing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物料特性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Material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瓦楞紙板：順紋易彎、橫紋硬挺；承重用橫紋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Cardboard: bends along flutes, stiff across; load-bearing across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雪條棒：硬身，適合做支架、轉軸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Sticks: rigid, good for frames and axles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熱熔膠：約一分鐘定型；宜少不宜多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Hot glue: sets in ~1 min; sparingly, not more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未乾前用膠紙暫時固定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Tape parts temporarily before glue 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解難四步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Four Problem-Solving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1. 發現：具體說出問題（例：轉盤裝上後擰不動）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1. Identify: state it precisely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2. 分析：提出可能成因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2. Analyse: suggest possible causes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3. 試行：每次只改一個變量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3. Try: change one variable at a time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4. 檢驗：記錄結果，有效保留、無效重來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4. Verify: record; keep what 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工具安全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Tool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美工刀：指定組員＋切割墊＋用後即交還教師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Craft knife: designated user + mat + return immediately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熱熔膠槍：槍頭高溫不觸碰；放回支架冷卻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Glue gun: never touch nozzle; rest on stand to cool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剪刀：刀鋒向外，不指向他人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Scissors: blades outward, never at others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受傷：立即通知教師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If injured: inform the teacher at once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常見問題對策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Common Problems &amp;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黏合不牢 → 熱熔膠＋壓實＋膠紙輔助定位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Weak joints → hot glue + press + tape assist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切割毛邊 → 直尺壓邊慢慢切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Rough edges → ruler on edge, cut slowly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結構不穩 → 三角支撐／加厚底座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Wobbly → triangular supports / thicker base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膠水溢出 → 減量、分兩次上、趁未乾抹走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Overflow → less glue, two goes, wipe early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進度檢查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Progress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對照工序表：完成了幾步？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Against the table: how many steps done?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主要結構完成度達七成嗎？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Is the main structure 70% complete?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把未完成部分寫進第 24 堂計劃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Write unfinished parts into the Lesson 24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分組任務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Group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確認分工，領取工具物料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Confirm roles; collect tools and materials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按工序表分工製作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Build per the procedure table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用解難四步處理問題，填寫記錄表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Solve problems with the 4 steps; log them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收拾：交還美工刀，清潔工作枱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Tidy up: return craft knives; clean benches</a:t>
            </a:r>
          </a:p>
        </p:txBody>
      </p:sp>
      <p:pic>
        <p:nvPicPr>
          <p:cNvPr id="5" name="Picture 4" descr="s2-l23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00" y="4926001"/>
            <a:ext cx="252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4E79"/>
                </a:solidFill>
                <a:rFonts latin="Arial" ea="Microsoft JhengHei" cs="Arial"/>
              </a:rPr>
              <a:t>總結</a:t>
            </a:r>
          </a:p>
          <a:p>
            <a:r>
              <a:rPr sz="1800" b="0">
                <a:solidFill>
                  <a:srgbClr val="595959"/>
                </a:solidFill>
                <a:rFonts latin="Arial" ea="Microsoft JhengHei" cs="Arial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43000"/>
            <a:ext cx="841248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五步：量度 → 切割 → 黏合 → 加固 → 驗收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Measure → cut → glue → reinforce → verify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先試裝，後上膠水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Dry-fit before gluing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安全鐵律：刀、槍、剪刀各有規矩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Safety rules for knife, glue gun and scissors</a:t>
            </a:r>
          </a:p>
          <a:p>
            <a:pPr>
              <a:spcAft>
                <a:spcPts val="1000"/>
              </a:spcAft>
            </a:pPr>
            <a:r>
              <a:rPr sz="2000" b="0">
                <a:rFonts latin="Arial" ea="Microsoft JhengHei" cs="Arial"/>
              </a:rPr>
              <a:t>▸ 家課：記錄一個製作問題及解決方法（文字＋相片）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95959"/>
                </a:solidFill>
                <a:rFonts latin="Arial" ea="Microsoft JhengHei" cs="Arial"/>
              </a:rPr>
              <a:t>　Homework: log one making problem + fix (words + photos)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-l2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909000"/>
            <a:ext cx="7560000" cy="50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