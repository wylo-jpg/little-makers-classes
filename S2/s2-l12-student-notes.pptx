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7" r:id="rId18"/>
    <p:sldId id="268" r:id="rId19"/>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4F72"/>
        </a:solidFill>
        <a:effectLst/>
      </p:bgPr>
    </p:bg>
    <p:spTree>
      <p:nvGrpSpPr>
        <p:cNvPr id="1" name=""/>
        <p:cNvGrpSpPr/>
        <p:nvPr/>
      </p:nvGrpSpPr>
      <p:grpSpPr/>
      <p:sp>
        <p:nvSpPr>
          <p:cNvPr id="2" name="TextBox 1"/>
          <p:cNvSpPr txBox="1"/>
          <p:nvPr/>
        </p:nvSpPr>
        <p:spPr>
          <a:xfrm>
            <a:off x="731520" y="1463040"/>
            <a:ext cx="10698480" cy="3840480"/>
          </a:xfrm>
          <a:prstGeom prst="rect">
            <a:avLst/>
          </a:prstGeom>
          <a:noFill/>
        </p:spPr>
        <p:txBody>
          <a:bodyPr wrap="square">
            <a:spAutoFit/>
          </a:bodyPr>
          <a:lstStyle/>
          <a:p>
            <a:pPr algn="ctr"/>
            <a:r>
              <a:rPr sz="4400" b="1" i="0">
                <a:solidFill>
                  <a:srgbClr val="FFFFFF"/>
                </a:solidFill>
                <a:latin typeface="Arial"/>
                <a:ea typeface="Microsoft JhengHei"/>
              </a:rPr>
              <a:t>第 12 堂：條件與迴圈</a:t>
            </a:r>
          </a:p>
          <a:p>
            <a:pPr algn="ctr">
              <a:spcBef>
                <a:spcPts val="800"/>
              </a:spcBef>
            </a:pPr>
            <a:r>
              <a:rPr sz="2800" b="1" i="0">
                <a:solidFill>
                  <a:srgbClr val="FFFFFF"/>
                </a:solidFill>
                <a:latin typeface="Arial"/>
                <a:ea typeface="Microsoft JhengHei"/>
              </a:rPr>
              <a:t>Lesson 12: Conditions and Loops</a:t>
            </a:r>
          </a:p>
          <a:p>
            <a:pPr algn="ctr">
              <a:spcBef>
                <a:spcPts val="2800"/>
              </a:spcBef>
            </a:pPr>
            <a:r>
              <a:rPr sz="2000" b="0" i="0">
                <a:solidFill>
                  <a:srgbClr val="D5DBDB"/>
                </a:solidFill>
                <a:latin typeface="Arial"/>
                <a:ea typeface="Microsoft JhengHei"/>
              </a:rPr>
              <a:t>中二創科班｜Unit 3 進階編程思維｜不插電課堂</a:t>
            </a:r>
          </a:p>
          <a:p>
            <a:pPr algn="ctr"/>
            <a:r>
              <a:rPr sz="1800" b="0" i="0">
                <a:solidFill>
                  <a:srgbClr val="D5DBDB"/>
                </a:solidFill>
                <a:latin typeface="Arial"/>
                <a:ea typeface="Microsoft JhengHei"/>
              </a:rPr>
              <a:t>S2 Little Makers Class | Unit 3 Advanced Programming Thinking | Unplugged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物資表 Materials List</a:t>
            </a:r>
          </a:p>
        </p:txBody>
      </p:sp>
      <p:sp>
        <p:nvSpPr>
          <p:cNvPr id="3" name="Content Placeholder 2"/>
          <p:cNvSpPr>
            <a:spLocks noGrp="1"/>
          </p:cNvSpPr>
          <p:nvPr>
            <p:ph idx="1"/>
          </p:nvPr>
        </p:nvSpPr>
        <p:spPr/>
        <p:txBody>
          <a:bodyPr/>
          <a:lstStyle/>
          <a:p>
            <a:pPr/>
            <a:r>
              <a:rPr sz="1600">
                <a:eaTypeface typeface="微軟正黑體"/>
              </a:rPr>
              <a:t>指令卡、條件卡、重複卡（預先列印） Instruction, condition and repeat cards (pre-printed) × 每組 1 套 1 set per group</a:t>
            </a:r>
          </a:p>
          <a:p>
            <a:pPr/>
            <a:r>
              <a:rPr sz="1600">
                <a:eaTypeface typeface="微軟正黑體"/>
              </a:rPr>
              <a:t>A4 白紙 A4 paper × 每人 1 張 1 sheet per student</a:t>
            </a:r>
          </a:p>
          <a:p>
            <a:pPr/>
            <a:r>
              <a:rPr sz="1600">
                <a:eaTypeface typeface="微軟正黑體"/>
              </a:rPr>
              <a:t>顏色筆 Colour pens × 每組 1 盒（課室常用，可重用） 1 box per group (reusable classroom stock)</a:t>
            </a:r>
          </a:p>
          <a:p>
            <a:pPr/>
            <a:r>
              <a:rPr sz="1600">
                <a:eaTypeface typeface="微軟正黑體"/>
              </a:rPr>
              <a:t>計時器 Timer × 教師共用 1 個（可用課室時鐘） 1 shared by the teacher (classroom clock may be used)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本堂目標</a:t>
            </a:r>
            <a:r>
              <a:rPr sz="2000" b="0" i="0">
                <a:solidFill>
                  <a:srgbClr val="D5DBDB"/>
                </a:solidFill>
                <a:latin typeface="Arial"/>
                <a:ea typeface="Microsoft JhengHei"/>
              </a:rPr>
              <a:t>   Lesson objectives</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能以自己的話解釋「條件」與「迴圈」的概念。</a:t>
            </a:r>
          </a:p>
          <a:p>
            <a:pPr>
              <a:spcAft>
                <a:spcPts val="1000"/>
              </a:spcAft>
            </a:pPr>
            <a:r>
              <a:rPr sz="1600" b="0" i="0">
                <a:solidFill>
                  <a:srgbClr val="666666"/>
                </a:solidFill>
                <a:latin typeface="Arial"/>
                <a:ea typeface="Microsoft JhengHei"/>
              </a:rPr>
              <a:t>     Explain "condition" and "loop" in your own words.</a:t>
            </a:r>
          </a:p>
          <a:p>
            <a:pPr>
              <a:spcAft>
                <a:spcPts val="1000"/>
              </a:spcAft>
            </a:pPr>
            <a:r>
              <a:rPr sz="2000" b="0" i="0">
                <a:solidFill>
                  <a:srgbClr val="333333"/>
                </a:solidFill>
                <a:latin typeface="Arial"/>
                <a:ea typeface="Microsoft JhengHei"/>
              </a:rPr>
              <a:t>•  能在紙牌遊戲中正確執行包含條件與迴圈的指令序列。</a:t>
            </a:r>
          </a:p>
          <a:p>
            <a:pPr>
              <a:spcAft>
                <a:spcPts val="1000"/>
              </a:spcAft>
            </a:pPr>
            <a:r>
              <a:rPr sz="1600" b="0" i="0">
                <a:solidFill>
                  <a:srgbClr val="666666"/>
                </a:solidFill>
                <a:latin typeface="Arial"/>
                <a:ea typeface="Microsoft JhengHei"/>
              </a:rPr>
              <a:t>     Correctly execute instruction sequences with conditions and loops in card games.</a:t>
            </a:r>
          </a:p>
          <a:p>
            <a:pPr>
              <a:spcAft>
                <a:spcPts val="1000"/>
              </a:spcAft>
            </a:pPr>
            <a:r>
              <a:rPr sz="2000" b="0" i="0">
                <a:solidFill>
                  <a:srgbClr val="333333"/>
                </a:solidFill>
                <a:latin typeface="Arial"/>
                <a:ea typeface="Microsoft JhengHei"/>
              </a:rPr>
              <a:t>•  能設計一個包含一個條件及一個具終止條件的迴圈的日常生活演算法。</a:t>
            </a:r>
          </a:p>
          <a:p>
            <a:pPr>
              <a:spcAft>
                <a:spcPts val="1000"/>
              </a:spcAft>
            </a:pPr>
            <a:r>
              <a:rPr sz="1600" b="0" i="0">
                <a:solidFill>
                  <a:srgbClr val="666666"/>
                </a:solidFill>
                <a:latin typeface="Arial"/>
                <a:ea typeface="Microsoft JhengHei"/>
              </a:rPr>
              <a:t>     Design an everyday algorithm with one condition and one loop that terminates.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複習：判斷 ＝ 條件</a:t>
            </a:r>
            <a:r>
              <a:rPr sz="2000" b="0" i="0">
                <a:solidFill>
                  <a:srgbClr val="D5DBDB"/>
                </a:solidFill>
                <a:latin typeface="Arial"/>
                <a:ea typeface="Microsoft JhengHei"/>
              </a:rPr>
              <a:t>   Revision: decision = condition</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上一堂的菱形（判斷），其實就是條件的一種！</a:t>
            </a:r>
          </a:p>
          <a:p>
            <a:pPr>
              <a:spcAft>
                <a:spcPts val="1000"/>
              </a:spcAft>
            </a:pPr>
            <a:r>
              <a:rPr sz="1600" b="0" i="0">
                <a:solidFill>
                  <a:srgbClr val="666666"/>
                </a:solidFill>
                <a:latin typeface="Arial"/>
                <a:ea typeface="Microsoft JhengHei"/>
              </a:rPr>
              <a:t>     Last lesson's diamond (decision) is actually a condition in disguise!</a:t>
            </a:r>
          </a:p>
          <a:p>
            <a:pPr>
              <a:spcAft>
                <a:spcPts val="1000"/>
              </a:spcAft>
            </a:pPr>
            <a:r>
              <a:rPr sz="2000" b="0" i="0">
                <a:solidFill>
                  <a:srgbClr val="333333"/>
                </a:solidFill>
                <a:latin typeface="Arial"/>
                <a:ea typeface="Microsoft JhengHei"/>
              </a:rPr>
              <a:t>•  「已烤至金黃色嗎？」＝ 如果烤至金黃色，就取出；否則，繼續烘烤。</a:t>
            </a:r>
          </a:p>
          <a:p>
            <a:pPr>
              <a:spcAft>
                <a:spcPts val="1000"/>
              </a:spcAft>
            </a:pPr>
            <a:r>
              <a:rPr sz="1600" b="0" i="0">
                <a:solidFill>
                  <a:srgbClr val="666666"/>
                </a:solidFill>
                <a:latin typeface="Arial"/>
                <a:ea typeface="Microsoft JhengHei"/>
              </a:rPr>
              <a:t>     "Is it golden brown?" = If golden brown, take it out; otherwise, keep toasting.</a:t>
            </a:r>
          </a:p>
          <a:p>
            <a:pPr>
              <a:spcAft>
                <a:spcPts val="1000"/>
              </a:spcAft>
            </a:pPr>
            <a:r>
              <a:rPr sz="2000" b="0" i="0">
                <a:solidFill>
                  <a:srgbClr val="333333"/>
                </a:solidFill>
                <a:latin typeface="Arial"/>
                <a:ea typeface="Microsoft JhengHei"/>
              </a:rPr>
              <a:t>•  今日把「條件」和「迴圈」兩個機制學透。</a:t>
            </a:r>
          </a:p>
          <a:p>
            <a:pPr>
              <a:spcAft>
                <a:spcPts val="1000"/>
              </a:spcAft>
            </a:pPr>
            <a:r>
              <a:rPr sz="1600" b="0" i="0">
                <a:solidFill>
                  <a:srgbClr val="666666"/>
                </a:solidFill>
                <a:latin typeface="Arial"/>
                <a:ea typeface="Microsoft JhengHei"/>
              </a:rPr>
              <a:t>     Today we master both mechanisms: conditions and loops.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條件：如果……就……否則……</a:t>
            </a:r>
            <a:r>
              <a:rPr sz="2000" b="0" i="0">
                <a:solidFill>
                  <a:srgbClr val="D5DBDB"/>
                </a:solidFill>
                <a:latin typeface="Arial"/>
                <a:ea typeface="Microsoft JhengHei"/>
              </a:rPr>
              <a:t>   Conditions: if…then…else…</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條件讓程式懂得「作決定」。</a:t>
            </a:r>
          </a:p>
          <a:p>
            <a:pPr>
              <a:spcAft>
                <a:spcPts val="1000"/>
              </a:spcAft>
            </a:pPr>
            <a:r>
              <a:rPr sz="1600" b="0" i="0">
                <a:solidFill>
                  <a:srgbClr val="666666"/>
                </a:solidFill>
                <a:latin typeface="Arial"/>
                <a:ea typeface="Microsoft JhengHei"/>
              </a:rPr>
              <a:t>     A condition lets a program "make decisions".</a:t>
            </a:r>
          </a:p>
          <a:p>
            <a:pPr>
              <a:spcAft>
                <a:spcPts val="1000"/>
              </a:spcAft>
            </a:pPr>
            <a:r>
              <a:rPr sz="2000" b="0" i="0">
                <a:solidFill>
                  <a:srgbClr val="333333"/>
                </a:solidFill>
                <a:latin typeface="Arial"/>
                <a:ea typeface="Microsoft JhengHei"/>
              </a:rPr>
              <a:t>•  句式：如果……，就……；否則，……。（「否則」可省略）</a:t>
            </a:r>
          </a:p>
          <a:p>
            <a:pPr>
              <a:spcAft>
                <a:spcPts val="1000"/>
              </a:spcAft>
            </a:pPr>
            <a:r>
              <a:rPr sz="1600" b="0" i="0">
                <a:solidFill>
                  <a:srgbClr val="666666"/>
                </a:solidFill>
                <a:latin typeface="Arial"/>
                <a:ea typeface="Microsoft JhengHei"/>
              </a:rPr>
              <a:t>     Pattern: If…, then…; otherwise,…. ("Otherwise" may be omitted.)</a:t>
            </a:r>
          </a:p>
          <a:p>
            <a:pPr>
              <a:spcAft>
                <a:spcPts val="1000"/>
              </a:spcAft>
            </a:pPr>
            <a:r>
              <a:rPr sz="2000" b="0" i="0">
                <a:solidFill>
                  <a:srgbClr val="333333"/>
                </a:solidFill>
                <a:latin typeface="Arial"/>
                <a:ea typeface="Microsoft JhengHei"/>
              </a:rPr>
              <a:t>•  例子：商場自動門 —— 如果感應到有人，就開啟；否則，保持關閉。</a:t>
            </a:r>
          </a:p>
          <a:p>
            <a:pPr>
              <a:spcAft>
                <a:spcPts val="1000"/>
              </a:spcAft>
            </a:pPr>
            <a:r>
              <a:rPr sz="1600" b="0" i="0">
                <a:solidFill>
                  <a:srgbClr val="666666"/>
                </a:solidFill>
                <a:latin typeface="Arial"/>
                <a:ea typeface="Microsoft JhengHei"/>
              </a:rPr>
              <a:t>     Example: automatic door — if someone is detected, open; otherwise, stay closed.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活動：條件動作遊戲</a:t>
            </a:r>
            <a:r>
              <a:rPr sz="2000" b="0" i="0">
                <a:solidFill>
                  <a:srgbClr val="D5DBDB"/>
                </a:solidFill>
                <a:latin typeface="Arial"/>
                <a:ea typeface="Microsoft JhengHei"/>
              </a:rPr>
              <a:t>   Activity: condition action game</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老師出示條件，大家做動作！</a:t>
            </a:r>
          </a:p>
          <a:p>
            <a:pPr>
              <a:spcAft>
                <a:spcPts val="1000"/>
              </a:spcAft>
            </a:pPr>
            <a:r>
              <a:rPr sz="1600" b="0" i="0">
                <a:solidFill>
                  <a:srgbClr val="666666"/>
                </a:solidFill>
                <a:latin typeface="Arial"/>
                <a:ea typeface="Microsoft JhengHei"/>
              </a:rPr>
              <a:t>     The teacher gives a condition — act it out!</a:t>
            </a:r>
          </a:p>
          <a:p>
            <a:pPr>
              <a:spcAft>
                <a:spcPts val="1000"/>
              </a:spcAft>
            </a:pPr>
            <a:r>
              <a:rPr sz="2000" b="0" i="0">
                <a:solidFill>
                  <a:srgbClr val="333333"/>
                </a:solidFill>
                <a:latin typeface="Arial"/>
                <a:ea typeface="Microsoft JhengHei"/>
              </a:rPr>
              <a:t>•  例如：「如果我舉起左手，就拍手兩下。」</a:t>
            </a:r>
          </a:p>
          <a:p>
            <a:pPr>
              <a:spcAft>
                <a:spcPts val="1000"/>
              </a:spcAft>
            </a:pPr>
            <a:r>
              <a:rPr sz="1600" b="0" i="0">
                <a:solidFill>
                  <a:srgbClr val="666666"/>
                </a:solidFill>
                <a:latin typeface="Arial"/>
                <a:ea typeface="Microsoft JhengHei"/>
              </a:rPr>
              <a:t>     E.g. "If I raise my left hand, clap twice."</a:t>
            </a:r>
          </a:p>
          <a:p>
            <a:pPr>
              <a:spcAft>
                <a:spcPts val="1000"/>
              </a:spcAft>
            </a:pPr>
            <a:r>
              <a:rPr sz="2000" b="0" i="0">
                <a:solidFill>
                  <a:srgbClr val="333333"/>
                </a:solidFill>
                <a:latin typeface="Arial"/>
                <a:ea typeface="Microsoft JhengHei"/>
              </a:rPr>
              <a:t>•  逐步升級：加入「否則」分支 —— 「否則，踏腳一下。」</a:t>
            </a:r>
          </a:p>
          <a:p>
            <a:pPr>
              <a:spcAft>
                <a:spcPts val="1000"/>
              </a:spcAft>
            </a:pPr>
            <a:r>
              <a:rPr sz="1600" b="0" i="0">
                <a:solidFill>
                  <a:srgbClr val="666666"/>
                </a:solidFill>
                <a:latin typeface="Arial"/>
                <a:ea typeface="Microsoft JhengHei"/>
              </a:rPr>
              <a:t>     Level up: add an "else" — "Otherwise, stamp once."</a:t>
            </a:r>
          </a:p>
          <a:p>
            <a:pPr>
              <a:spcAft>
                <a:spcPts val="1000"/>
              </a:spcAft>
            </a:pPr>
            <a:r>
              <a:rPr sz="2000" b="0" i="0">
                <a:solidFill>
                  <a:srgbClr val="333333"/>
                </a:solidFill>
                <a:latin typeface="Arial"/>
                <a:ea typeface="Microsoft JhengHei"/>
              </a:rPr>
              <a:t>•  這跟菱形判斷有什麼關係？</a:t>
            </a:r>
          </a:p>
          <a:p>
            <a:pPr>
              <a:spcAft>
                <a:spcPts val="1000"/>
              </a:spcAft>
            </a:pPr>
            <a:r>
              <a:rPr sz="1600" b="0" i="0">
                <a:solidFill>
                  <a:srgbClr val="666666"/>
                </a:solidFill>
                <a:latin typeface="Arial"/>
                <a:ea typeface="Microsoft JhengHei"/>
              </a:rPr>
              <a:t>     How is this related to the diamond decision symbol?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迴圈：重複做</a:t>
            </a:r>
            <a:r>
              <a:rPr sz="2000" b="0" i="0">
                <a:solidFill>
                  <a:srgbClr val="D5DBDB"/>
                </a:solidFill>
                <a:latin typeface="Arial"/>
                <a:ea typeface="Microsoft JhengHei"/>
              </a:rPr>
              <a:t>   Loops: repeat</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迴圈讓程式懂得「重複做」。</a:t>
            </a:r>
          </a:p>
          <a:p>
            <a:pPr>
              <a:spcAft>
                <a:spcPts val="1000"/>
              </a:spcAft>
            </a:pPr>
            <a:r>
              <a:rPr sz="1600" b="0" i="0">
                <a:solidFill>
                  <a:srgbClr val="666666"/>
                </a:solidFill>
                <a:latin typeface="Arial"/>
                <a:ea typeface="Microsoft JhengHei"/>
              </a:rPr>
              <a:t>     A loop lets a program "repeat".</a:t>
            </a:r>
          </a:p>
          <a:p>
            <a:pPr>
              <a:spcAft>
                <a:spcPts val="1000"/>
              </a:spcAft>
            </a:pPr>
            <a:r>
              <a:rPr sz="2000" b="0" i="0">
                <a:solidFill>
                  <a:srgbClr val="333333"/>
                </a:solidFill>
                <a:latin typeface="Arial"/>
                <a:ea typeface="Microsoft JhengHei"/>
              </a:rPr>
              <a:t>•  句式一：重複 N 次：……</a:t>
            </a:r>
          </a:p>
          <a:p>
            <a:pPr>
              <a:spcAft>
                <a:spcPts val="1000"/>
              </a:spcAft>
            </a:pPr>
            <a:r>
              <a:rPr sz="1600" b="0" i="0">
                <a:solidFill>
                  <a:srgbClr val="666666"/>
                </a:solidFill>
                <a:latin typeface="Arial"/>
                <a:ea typeface="Microsoft JhengHei"/>
              </a:rPr>
              <a:t>     Pattern 1: Repeat N times: …</a:t>
            </a:r>
          </a:p>
          <a:p>
            <a:pPr>
              <a:spcAft>
                <a:spcPts val="1000"/>
              </a:spcAft>
            </a:pPr>
            <a:r>
              <a:rPr sz="2000" b="0" i="0">
                <a:solidFill>
                  <a:srgbClr val="333333"/>
                </a:solidFill>
                <a:latin typeface="Arial"/>
                <a:ea typeface="Microsoft JhengHei"/>
              </a:rPr>
              <a:t>•  句式二：重複……，直至……。</a:t>
            </a:r>
          </a:p>
          <a:p>
            <a:pPr>
              <a:spcAft>
                <a:spcPts val="1000"/>
              </a:spcAft>
            </a:pPr>
            <a:r>
              <a:rPr sz="1600" b="0" i="0">
                <a:solidFill>
                  <a:srgbClr val="666666"/>
                </a:solidFill>
                <a:latin typeface="Arial"/>
                <a:ea typeface="Microsoft JhengHei"/>
              </a:rPr>
              <a:t>     Pattern 2: Repeat …, until ….</a:t>
            </a:r>
          </a:p>
          <a:p>
            <a:pPr>
              <a:spcAft>
                <a:spcPts val="1000"/>
              </a:spcAft>
            </a:pPr>
            <a:r>
              <a:rPr sz="2000" b="0" i="0">
                <a:solidFill>
                  <a:srgbClr val="333333"/>
                </a:solidFill>
                <a:latin typeface="Arial"/>
                <a:ea typeface="Microsoft JhengHei"/>
              </a:rPr>
              <a:t>•  例子：重複 4 次：畫一個星形 → ★★★★</a:t>
            </a:r>
          </a:p>
          <a:p>
            <a:pPr>
              <a:spcAft>
                <a:spcPts val="1000"/>
              </a:spcAft>
            </a:pPr>
            <a:r>
              <a:rPr sz="1600" b="0" i="0">
                <a:solidFill>
                  <a:srgbClr val="666666"/>
                </a:solidFill>
                <a:latin typeface="Arial"/>
                <a:ea typeface="Microsoft JhengHei"/>
              </a:rPr>
              <a:t>     Example: Repeat 4 times: draw a star →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終止條件與無限迴圈</a:t>
            </a:r>
            <a:r>
              <a:rPr sz="2000" b="0" i="0">
                <a:solidFill>
                  <a:srgbClr val="D5DBDB"/>
                </a:solidFill>
                <a:latin typeface="Arial"/>
                <a:ea typeface="Microsoft JhengHei"/>
              </a:rPr>
              <a:t>   Termination conditions &amp; infinite loops</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每個迴圈都必須有「終止條件」—— 讓迴圈停下來的條件。</a:t>
            </a:r>
          </a:p>
          <a:p>
            <a:pPr>
              <a:spcAft>
                <a:spcPts val="1000"/>
              </a:spcAft>
            </a:pPr>
            <a:r>
              <a:rPr sz="1600" b="0" i="0">
                <a:solidFill>
                  <a:srgbClr val="666666"/>
                </a:solidFill>
                <a:latin typeface="Arial"/>
                <a:ea typeface="Microsoft JhengHei"/>
              </a:rPr>
              <a:t>     Every loop needs a "termination condition" — what stops it.</a:t>
            </a:r>
          </a:p>
          <a:p>
            <a:pPr>
              <a:spcAft>
                <a:spcPts val="1000"/>
              </a:spcAft>
            </a:pPr>
            <a:r>
              <a:rPr sz="2000" b="0" i="0">
                <a:solidFill>
                  <a:srgbClr val="333333"/>
                </a:solidFill>
                <a:latin typeface="Arial"/>
                <a:ea typeface="Microsoft JhengHei"/>
              </a:rPr>
              <a:t>•  沒有終止條件的迴圈會無限重複 → 無限迴圈。</a:t>
            </a:r>
          </a:p>
          <a:p>
            <a:pPr>
              <a:spcAft>
                <a:spcPts val="1000"/>
              </a:spcAft>
            </a:pPr>
            <a:r>
              <a:rPr sz="1600" b="0" i="0">
                <a:solidFill>
                  <a:srgbClr val="666666"/>
                </a:solidFill>
                <a:latin typeface="Arial"/>
                <a:ea typeface="Microsoft JhengHei"/>
              </a:rPr>
              <a:t>     A loop with no termination condition repeats forever → infinite loop.</a:t>
            </a:r>
          </a:p>
          <a:p>
            <a:pPr>
              <a:spcAft>
                <a:spcPts val="1000"/>
              </a:spcAft>
            </a:pPr>
            <a:r>
              <a:rPr sz="2000" b="0" i="0">
                <a:solidFill>
                  <a:srgbClr val="333333"/>
                </a:solidFill>
                <a:latin typeface="Arial"/>
                <a:ea typeface="Microsoft JhengHei"/>
              </a:rPr>
              <a:t>•  現實例子：一個永遠響不停的鬧鐘。</a:t>
            </a:r>
          </a:p>
          <a:p>
            <a:pPr>
              <a:spcAft>
                <a:spcPts val="1000"/>
              </a:spcAft>
            </a:pPr>
            <a:r>
              <a:rPr sz="1600" b="0" i="0">
                <a:solidFill>
                  <a:srgbClr val="666666"/>
                </a:solidFill>
                <a:latin typeface="Arial"/>
                <a:ea typeface="Microsoft JhengHei"/>
              </a:rPr>
              <a:t>     Real-life example: an alarm clock that never stops ringing.</a:t>
            </a:r>
          </a:p>
          <a:p>
            <a:pPr>
              <a:spcAft>
                <a:spcPts val="1000"/>
              </a:spcAft>
            </a:pPr>
            <a:r>
              <a:rPr sz="2000" b="0" i="0">
                <a:solidFill>
                  <a:srgbClr val="333333"/>
                </a:solidFill>
                <a:latin typeface="Arial"/>
                <a:ea typeface="Microsoft JhengHei"/>
              </a:rPr>
              <a:t>•  思考：如果洗衣機「重複清洗」但沒有「直至乾淨」，會怎樣？</a:t>
            </a:r>
          </a:p>
          <a:p>
            <a:pPr>
              <a:spcAft>
                <a:spcPts val="1000"/>
              </a:spcAft>
            </a:pPr>
            <a:r>
              <a:rPr sz="1600" b="0" i="0">
                <a:solidFill>
                  <a:srgbClr val="666666"/>
                </a:solidFill>
                <a:latin typeface="Arial"/>
                <a:ea typeface="Microsoft JhengHei"/>
              </a:rPr>
              <a:t>     Think: a washing machine that "repeats washing" with no "until clean"?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綜合例子：服藥提醒演算法</a:t>
            </a:r>
            <a:r>
              <a:rPr sz="2000" b="0" i="0">
                <a:solidFill>
                  <a:srgbClr val="D5DBDB"/>
                </a:solidFill>
                <a:latin typeface="Arial"/>
                <a:ea typeface="Microsoft JhengHei"/>
              </a:rPr>
              <a:t>   Combined example: medication reminder</a:t>
            </a:r>
          </a:p>
        </p:txBody>
      </p:sp>
      <p:sp>
        <p:nvSpPr>
          <p:cNvPr id="4" name="TextBox 3"/>
          <p:cNvSpPr txBox="1"/>
          <p:nvPr/>
        </p:nvSpPr>
        <p:spPr>
          <a:xfrm>
            <a:off x="640080" y="1280160"/>
            <a:ext cx="10881360" cy="548640"/>
          </a:xfrm>
          <a:prstGeom prst="rect">
            <a:avLst/>
          </a:prstGeom>
          <a:noFill/>
        </p:spPr>
        <p:txBody>
          <a:bodyPr wrap="square">
            <a:spAutoFit/>
          </a:bodyPr>
          <a:lstStyle/>
          <a:p>
            <a:pPr algn="l"/>
            <a:r>
              <a:rPr sz="2200" b="1" i="0">
                <a:solidFill>
                  <a:srgbClr val="1B4F72"/>
                </a:solidFill>
                <a:latin typeface="Arial"/>
                <a:ea typeface="Microsoft JhengHei"/>
              </a:rPr>
              <a:t>重複每一天，直至一星期結束：</a:t>
            </a:r>
          </a:p>
        </p:txBody>
      </p:sp>
      <p:sp>
        <p:nvSpPr>
          <p:cNvPr id="5" name="TextBox 4"/>
          <p:cNvSpPr txBox="1"/>
          <p:nvPr/>
        </p:nvSpPr>
        <p:spPr>
          <a:xfrm>
            <a:off x="640080" y="1920240"/>
            <a:ext cx="10881360" cy="548640"/>
          </a:xfrm>
          <a:prstGeom prst="rect">
            <a:avLst/>
          </a:prstGeom>
          <a:noFill/>
        </p:spPr>
        <p:txBody>
          <a:bodyPr wrap="square">
            <a:spAutoFit/>
          </a:bodyPr>
          <a:lstStyle/>
          <a:p>
            <a:pPr algn="l"/>
            <a:r>
              <a:rPr sz="2200" b="1" i="0">
                <a:solidFill>
                  <a:srgbClr val="1B4F72"/>
                </a:solidFill>
                <a:latin typeface="Arial"/>
                <a:ea typeface="Microsoft JhengHei"/>
              </a:rPr>
              <a:t>　　如果早上，就提醒服白色藥丸；</a:t>
            </a:r>
          </a:p>
        </p:txBody>
      </p:sp>
      <p:sp>
        <p:nvSpPr>
          <p:cNvPr id="6" name="TextBox 5"/>
          <p:cNvSpPr txBox="1"/>
          <p:nvPr/>
        </p:nvSpPr>
        <p:spPr>
          <a:xfrm>
            <a:off x="640080" y="2560320"/>
            <a:ext cx="10881360" cy="548640"/>
          </a:xfrm>
          <a:prstGeom prst="rect">
            <a:avLst/>
          </a:prstGeom>
          <a:noFill/>
        </p:spPr>
        <p:txBody>
          <a:bodyPr wrap="square">
            <a:spAutoFit/>
          </a:bodyPr>
          <a:lstStyle/>
          <a:p>
            <a:pPr algn="l"/>
            <a:r>
              <a:rPr sz="2200" b="1" i="0">
                <a:solidFill>
                  <a:srgbClr val="1B4F72"/>
                </a:solidFill>
                <a:latin typeface="Arial"/>
                <a:ea typeface="Microsoft JhengHei"/>
              </a:rPr>
              <a:t>　　否則如果晚上，就提醒服黃色藥丸。</a:t>
            </a:r>
          </a:p>
        </p:txBody>
      </p:sp>
      <p:sp>
        <p:nvSpPr>
          <p:cNvPr id="7" name="TextBox 6"/>
          <p:cNvSpPr txBox="1"/>
          <p:nvPr/>
        </p:nvSpPr>
        <p:spPr>
          <a:xfrm>
            <a:off x="640080" y="3200400"/>
            <a:ext cx="10881360" cy="457200"/>
          </a:xfrm>
          <a:prstGeom prst="rect">
            <a:avLst/>
          </a:prstGeom>
          <a:noFill/>
        </p:spPr>
        <p:txBody>
          <a:bodyPr wrap="square">
            <a:spAutoFit/>
          </a:bodyPr>
          <a:lstStyle/>
          <a:p>
            <a:pPr algn="l"/>
            <a:r>
              <a:rPr sz="1600" b="0" i="0">
                <a:solidFill>
                  <a:srgbClr val="666666"/>
                </a:solidFill>
                <a:latin typeface="Arial"/>
                <a:ea typeface="Microsoft JhengHei"/>
              </a:rPr>
              <a:t>Repeat each day, until the week ends: if morning, remind white pill; else if evening, remind yellow pill.</a:t>
            </a:r>
          </a:p>
        </p:txBody>
      </p:sp>
      <p:sp>
        <p:nvSpPr>
          <p:cNvPr id="8" name="TextBox 7"/>
          <p:cNvSpPr txBox="1"/>
          <p:nvPr/>
        </p:nvSpPr>
        <p:spPr>
          <a:xfrm>
            <a:off x="640080" y="4023360"/>
            <a:ext cx="10881360" cy="548640"/>
          </a:xfrm>
          <a:prstGeom prst="rect">
            <a:avLst/>
          </a:prstGeom>
          <a:noFill/>
        </p:spPr>
        <p:txBody>
          <a:bodyPr wrap="square">
            <a:spAutoFit/>
          </a:bodyPr>
          <a:lstStyle/>
          <a:p>
            <a:pPr algn="l"/>
            <a:r>
              <a:rPr sz="2000" b="1" i="0">
                <a:solidFill>
                  <a:srgbClr val="1B4F72"/>
                </a:solidFill>
                <a:latin typeface="Arial"/>
                <a:ea typeface="Microsoft JhengHei"/>
              </a:rPr>
              <a:t>追蹤：星期一早上 → 提醒白色藥丸；星期一晚上 → 提醒黃色藥丸；星期一下午 → 什麼都不做</a:t>
            </a:r>
          </a:p>
        </p:txBody>
      </p:sp>
      <p:sp>
        <p:nvSpPr>
          <p:cNvPr id="9" name="TextBox 8"/>
          <p:cNvSpPr txBox="1"/>
          <p:nvPr/>
        </p:nvSpPr>
        <p:spPr>
          <a:xfrm>
            <a:off x="640080" y="4754880"/>
            <a:ext cx="10881360" cy="548640"/>
          </a:xfrm>
          <a:prstGeom prst="rect">
            <a:avLst/>
          </a:prstGeom>
          <a:noFill/>
        </p:spPr>
        <p:txBody>
          <a:bodyPr wrap="square">
            <a:spAutoFit/>
          </a:bodyPr>
          <a:lstStyle/>
          <a:p>
            <a:pPr algn="l"/>
            <a:r>
              <a:rPr sz="2000" b="1" i="0">
                <a:solidFill>
                  <a:srgbClr val="B03A2E"/>
                </a:solidFill>
                <a:latin typeface="Arial"/>
                <a:ea typeface="Microsoft JhengHei"/>
              </a:rPr>
              <a:t>終止：第 7 天結束後停止。沒有「直至一星期結束」，便成無限迴圈！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分組任務：服藥提醒演算法</a:t>
            </a:r>
            <a:r>
              <a:rPr sz="2000" b="0" i="0">
                <a:solidFill>
                  <a:srgbClr val="D5DBDB"/>
                </a:solidFill>
                <a:latin typeface="Arial"/>
                <a:ea typeface="Microsoft JhengHei"/>
              </a:rPr>
              <a:t>   Group task: medication reminder</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為長者設計「定時服藥提醒演算法」。</a:t>
            </a:r>
          </a:p>
          <a:p>
            <a:pPr>
              <a:spcAft>
                <a:spcPts val="1000"/>
              </a:spcAft>
            </a:pPr>
            <a:r>
              <a:rPr sz="1600" b="0" i="0">
                <a:solidFill>
                  <a:srgbClr val="666666"/>
                </a:solidFill>
                <a:latin typeface="Arial"/>
                <a:ea typeface="Microsoft JhengHei"/>
              </a:rPr>
              <a:t>     Design a scheduled medication reminder algorithm for the elderly.</a:t>
            </a:r>
          </a:p>
          <a:p>
            <a:pPr>
              <a:spcAft>
                <a:spcPts val="1000"/>
              </a:spcAft>
            </a:pPr>
            <a:r>
              <a:rPr sz="2000" b="0" i="0">
                <a:solidFill>
                  <a:srgbClr val="333333"/>
                </a:solidFill>
                <a:latin typeface="Arial"/>
                <a:ea typeface="Microsoft JhengHei"/>
              </a:rPr>
              <a:t>•  必須包含：一個條件、一個具終止條件的迴圈。</a:t>
            </a:r>
          </a:p>
          <a:p>
            <a:pPr>
              <a:spcAft>
                <a:spcPts val="1000"/>
              </a:spcAft>
            </a:pPr>
            <a:r>
              <a:rPr sz="1600" b="0" i="0">
                <a:solidFill>
                  <a:srgbClr val="666666"/>
                </a:solidFill>
                <a:latin typeface="Arial"/>
                <a:ea typeface="Microsoft JhengHei"/>
              </a:rPr>
              <a:t>     Must include: one condition, and one loop with a termination condition.</a:t>
            </a:r>
          </a:p>
          <a:p>
            <a:pPr>
              <a:spcAft>
                <a:spcPts val="1000"/>
              </a:spcAft>
            </a:pPr>
            <a:r>
              <a:rPr sz="2000" b="0" i="0">
                <a:solidFill>
                  <a:srgbClr val="333333"/>
                </a:solidFill>
                <a:latin typeface="Arial"/>
                <a:ea typeface="Microsoft JhengHei"/>
              </a:rPr>
              <a:t>•  情境：早上服白色藥丸、晚上服黃色藥丸；漏服一次怎辦？</a:t>
            </a:r>
          </a:p>
          <a:p>
            <a:pPr>
              <a:spcAft>
                <a:spcPts val="1000"/>
              </a:spcAft>
            </a:pPr>
            <a:r>
              <a:rPr sz="1600" b="0" i="0">
                <a:solidFill>
                  <a:srgbClr val="666666"/>
                </a:solidFill>
                <a:latin typeface="Arial"/>
                <a:ea typeface="Microsoft JhengHei"/>
              </a:rPr>
              <a:t>     Scenario: white pills in the morning, yellow pills at night. What if a dose is missed?</a:t>
            </a:r>
          </a:p>
          <a:p>
            <a:pPr>
              <a:spcAft>
                <a:spcPts val="1000"/>
              </a:spcAft>
            </a:pPr>
            <a:r>
              <a:rPr sz="2000" b="0" i="0">
                <a:solidFill>
                  <a:srgbClr val="333333"/>
                </a:solidFill>
                <a:latin typeface="Arial"/>
                <a:ea typeface="Microsoft JhengHei"/>
              </a:rPr>
              <a:t>•  組內試演一次，檢查邏輯通順；一組上台示範，全班驗證。</a:t>
            </a:r>
          </a:p>
          <a:p>
            <a:pPr>
              <a:spcAft>
                <a:spcPts val="1000"/>
              </a:spcAft>
            </a:pPr>
            <a:r>
              <a:rPr sz="1600" b="0" i="0">
                <a:solidFill>
                  <a:srgbClr val="666666"/>
                </a:solidFill>
                <a:latin typeface="Arial"/>
                <a:ea typeface="Microsoft JhengHei"/>
              </a:rPr>
              <a:t>     Rehearse once in your group; one group demonstrates for class verification.</a:t>
            </a:r>
          </a:p>
        </p:txBody>
      </p:sp>
      <p:pic>
        <p:nvPicPr>
          <p:cNvPr id="5" name="Picture 4" descr="s2-l12-b.png"/>
          <p:cNvPicPr>
            <a:picLocks noChangeAspect="1"/>
          </p:cNvPicPr>
          <p:nvPr/>
        </p:nvPicPr>
        <p:blipFill>
          <a:blip r:embed="rId2"/>
          <a:stretch>
            <a:fillRect/>
          </a:stretch>
        </p:blipFill>
        <p:spPr>
          <a:xfrm>
            <a:off x="9079992" y="4815840"/>
            <a:ext cx="2651760" cy="176783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總結</a:t>
            </a:r>
            <a:r>
              <a:rPr sz="2000" b="0" i="0">
                <a:solidFill>
                  <a:srgbClr val="D5DBDB"/>
                </a:solidFill>
                <a:latin typeface="Arial"/>
                <a:ea typeface="Microsoft JhengHei"/>
              </a:rPr>
              <a:t>   Summary</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條件等於作決定：如果……就……，否則……。</a:t>
            </a:r>
          </a:p>
          <a:p>
            <a:pPr>
              <a:spcAft>
                <a:spcPts val="1000"/>
              </a:spcAft>
            </a:pPr>
            <a:r>
              <a:rPr sz="1600" b="0" i="0">
                <a:solidFill>
                  <a:srgbClr val="666666"/>
                </a:solidFill>
                <a:latin typeface="Arial"/>
                <a:ea typeface="Microsoft JhengHei"/>
              </a:rPr>
              <a:t>     A condition means making a decision: if…then…else….</a:t>
            </a:r>
          </a:p>
          <a:p>
            <a:pPr>
              <a:spcAft>
                <a:spcPts val="1000"/>
              </a:spcAft>
            </a:pPr>
            <a:r>
              <a:rPr sz="2000" b="0" i="0">
                <a:solidFill>
                  <a:srgbClr val="333333"/>
                </a:solidFill>
                <a:latin typeface="Arial"/>
                <a:ea typeface="Microsoft JhengHei"/>
              </a:rPr>
              <a:t>•  迴圈等於重複做：重複 N 次，或重複……直至……。</a:t>
            </a:r>
          </a:p>
          <a:p>
            <a:pPr>
              <a:spcAft>
                <a:spcPts val="1000"/>
              </a:spcAft>
            </a:pPr>
            <a:r>
              <a:rPr sz="1600" b="0" i="0">
                <a:solidFill>
                  <a:srgbClr val="666666"/>
                </a:solidFill>
                <a:latin typeface="Arial"/>
                <a:ea typeface="Microsoft JhengHei"/>
              </a:rPr>
              <a:t>     A loop means repeating: repeat N times, or repeat…until….</a:t>
            </a:r>
          </a:p>
          <a:p>
            <a:pPr>
              <a:spcAft>
                <a:spcPts val="1000"/>
              </a:spcAft>
            </a:pPr>
            <a:r>
              <a:rPr sz="2000" b="0" i="0">
                <a:solidFill>
                  <a:srgbClr val="333333"/>
                </a:solidFill>
                <a:latin typeface="Arial"/>
                <a:ea typeface="Microsoft JhengHei"/>
              </a:rPr>
              <a:t>•  每個迴圈都必須有終止條件！</a:t>
            </a:r>
          </a:p>
          <a:p>
            <a:pPr>
              <a:spcAft>
                <a:spcPts val="1000"/>
              </a:spcAft>
            </a:pPr>
            <a:r>
              <a:rPr sz="1600" b="0" i="0">
                <a:solidFill>
                  <a:srgbClr val="666666"/>
                </a:solidFill>
                <a:latin typeface="Arial"/>
                <a:ea typeface="Microsoft JhengHei"/>
              </a:rPr>
              <a:t>     Every loop must have a termination condition!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square">
            <a:spAutoFit/>
          </a:bodyPr>
          <a:lstStyle/>
          <a:p>
            <a:r>
              <a:rPr sz="3000" b="1" i="0">
                <a:solidFill>
                  <a:srgbClr val="FFFFFF"/>
                </a:solidFill>
                <a:latin typeface="Arial"/>
                <a:ea typeface="Microsoft JhengHei"/>
              </a:rPr>
              <a:t>家課</a:t>
            </a:r>
            <a:r>
              <a:rPr sz="2000" b="0" i="0">
                <a:solidFill>
                  <a:srgbClr val="D5DBDB"/>
                </a:solidFill>
                <a:latin typeface="Arial"/>
                <a:ea typeface="Microsoft JhengHei"/>
              </a:rPr>
              <a:t>   Homework</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1000"/>
              </a:spcAft>
            </a:pPr>
            <a:r>
              <a:rPr sz="2000" b="0" i="0">
                <a:solidFill>
                  <a:srgbClr val="333333"/>
                </a:solidFill>
                <a:latin typeface="Arial"/>
                <a:ea typeface="Microsoft JhengHei"/>
              </a:rPr>
              <a:t>•  甲部：選擇題 5 題。</a:t>
            </a:r>
          </a:p>
          <a:p>
            <a:pPr>
              <a:spcAft>
                <a:spcPts val="1000"/>
              </a:spcAft>
            </a:pPr>
            <a:r>
              <a:rPr sz="1600" b="0" i="0">
                <a:solidFill>
                  <a:srgbClr val="666666"/>
                </a:solidFill>
                <a:latin typeface="Arial"/>
                <a:ea typeface="Microsoft JhengHei"/>
              </a:rPr>
              <a:t>     Section A: 5 multiple-choice questions.</a:t>
            </a:r>
          </a:p>
          <a:p>
            <a:pPr>
              <a:spcAft>
                <a:spcPts val="1000"/>
              </a:spcAft>
            </a:pPr>
            <a:r>
              <a:rPr sz="2000" b="0" i="0">
                <a:solidFill>
                  <a:srgbClr val="333333"/>
                </a:solidFill>
                <a:latin typeface="Arial"/>
                <a:ea typeface="Microsoft JhengHei"/>
              </a:rPr>
              <a:t>•  乙部：執行指令並記錄結果；為小芬的迴圈改錯。</a:t>
            </a:r>
          </a:p>
          <a:p>
            <a:pPr>
              <a:spcAft>
                <a:spcPts val="1000"/>
              </a:spcAft>
            </a:pPr>
            <a:r>
              <a:rPr sz="1600" b="0" i="0">
                <a:solidFill>
                  <a:srgbClr val="666666"/>
                </a:solidFill>
                <a:latin typeface="Arial"/>
                <a:ea typeface="Microsoft JhengHei"/>
              </a:rPr>
              <a:t>     Section B: execute instructions and record; fix Fun's loop.</a:t>
            </a:r>
          </a:p>
          <a:p>
            <a:pPr>
              <a:spcAft>
                <a:spcPts val="1000"/>
              </a:spcAft>
            </a:pPr>
            <a:r>
              <a:rPr sz="2000" b="0" i="0">
                <a:solidFill>
                  <a:srgbClr val="333333"/>
                </a:solidFill>
                <a:latin typeface="Arial"/>
                <a:ea typeface="Microsoft JhengHei"/>
              </a:rPr>
              <a:t>•  觀察家中一件電器，以「條件＋迴圈」句式寫出它的運作邏輯。</a:t>
            </a:r>
          </a:p>
          <a:p>
            <a:pPr>
              <a:spcAft>
                <a:spcPts val="1000"/>
              </a:spcAft>
            </a:pPr>
            <a:r>
              <a:rPr sz="1600" b="0" i="0">
                <a:solidFill>
                  <a:srgbClr val="666666"/>
                </a:solidFill>
                <a:latin typeface="Arial"/>
                <a:ea typeface="Microsoft JhengHei"/>
              </a:rPr>
              <a:t>     Observe a home appliance; write its logic in condition + loop sentences.</a:t>
            </a:r>
          </a:p>
          <a:p>
            <a:pPr>
              <a:spcAft>
                <a:spcPts val="1000"/>
              </a:spcAft>
            </a:pPr>
            <a:r>
              <a:rPr sz="2000" b="0" i="0">
                <a:solidFill>
                  <a:srgbClr val="333333"/>
                </a:solidFill>
                <a:latin typeface="Arial"/>
                <a:ea typeface="Microsoft JhengHei"/>
              </a:rPr>
              <a:t>•  下堂課前交回。</a:t>
            </a:r>
          </a:p>
          <a:p>
            <a:pPr>
              <a:spcAft>
                <a:spcPts val="1000"/>
              </a:spcAft>
            </a:pPr>
            <a:r>
              <a:rPr sz="1600" b="0" i="0">
                <a:solidFill>
                  <a:srgbClr val="666666"/>
                </a:solidFill>
                <a:latin typeface="Arial"/>
                <a:ea typeface="Microsoft JhengHei"/>
              </a:rPr>
              <a:t>     Submit before the next lesson.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822960"/>
          </a:xfrm>
          <a:prstGeom prst="rect">
            <a:avLst/>
          </a:prstGeom>
          <a:noFill/>
        </p:spPr>
        <p:txBody>
          <a:bodyPr wrap="square">
            <a:spAutoFit/>
          </a:bodyPr>
          <a:lstStyle/>
          <a:p>
            <a:pPr algn="ctr"/>
            <a:r>
              <a:rPr sz="2800" b="1"/>
              <a:t>圖：條件與迴圈 ｜ Illustration: conditions and loops</a:t>
            </a:r>
          </a:p>
        </p:txBody>
      </p:sp>
      <p:pic>
        <p:nvPicPr>
          <p:cNvPr id="3" name="Picture 2" descr="s2-l12-a.png"/>
          <p:cNvPicPr>
            <a:picLocks noChangeAspect="1"/>
          </p:cNvPicPr>
          <p:nvPr/>
        </p:nvPicPr>
        <p:blipFill>
          <a:blip r:embed="rId2"/>
          <a:stretch>
            <a:fillRect/>
          </a:stretch>
        </p:blipFill>
        <p:spPr>
          <a:xfrm>
            <a:off x="2436876" y="1584960"/>
            <a:ext cx="7315200" cy="4876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