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8" r:id="rId19"/>
    <p:sldId id="269" r:id="rId2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2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13 堂：密碼學</a:t>
            </a:r>
          </a:p>
          <a:p>
            <a:pPr algn="ctr"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Arial"/>
                <a:ea typeface="Microsoft JhengHei"/>
              </a:rPr>
              <a:t>Lesson 13: Cryptography</a:t>
            </a:r>
          </a:p>
          <a:p>
            <a:pPr algn="ctr">
              <a:spcBef>
                <a:spcPts val="2800"/>
              </a:spcBef>
            </a:pP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中二創科班｜Unit 3 進階編程思維｜不插電課堂</a:t>
            </a:r>
          </a:p>
          <a:p>
            <a:pPr algn="ctr"/>
            <a:r>
              <a:rPr sz="1800" b="0" i="0">
                <a:solidFill>
                  <a:srgbClr val="D5DBDB"/>
                </a:solidFill>
                <a:latin typeface="Arial"/>
                <a:ea typeface="Microsoft JhengHei"/>
              </a:rPr>
              <a:t>S2 Little Makers Class | Unit 3 Advanced Programming Thinking | Unplugged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密碼輪紙模（預先列印） Cipher wheel template (pre-printed) × 每人 1 份 1 per student</a:t>
            </a:r>
          </a:p>
          <a:p>
            <a:pPr/>
            <a:r>
              <a:rPr sz="1600">
                <a:eaTypeface typeface="微軟正黑體"/>
              </a:rPr>
              <a:t>開口釘 Split pins × 每人 1 枚 1 per student</a:t>
            </a:r>
          </a:p>
          <a:p>
            <a:pPr/>
            <a:r>
              <a:rPr sz="1600">
                <a:eaTypeface typeface="微軟正黑體"/>
              </a:rPr>
              <a:t>A4 白紙 A4 paper × 每人 1 張 1 sheet per student</a:t>
            </a:r>
          </a:p>
          <a:p>
            <a:pPr/>
            <a:r>
              <a:rPr sz="1600">
                <a:eaTypeface typeface="微軟正黑體"/>
              </a:rPr>
              <a:t>顏色筆 Colour pens × 每組 1 盒（課室常用，可重用） 1 box per group (reusable classroom stock)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本堂目標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Lesson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能使用凱撒密碼為英文訊息編碼及解碼。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Encode and decode English messages with the Caesar cipher.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能解釋密鑰（字母位移量）在加密與解密中的作用。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Explain the role of the key (the shift amount).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能運用簡單頻率分析破解凱撒密文，並說出加密對保護個人資料的重要性。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Break a Caesar cipher text by frequency analysis, and explain why encryption protects personal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引入：這串密文是什麼？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Starter: what is this cipher text?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FDUH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FDUH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想把秘密傳給朋友，而不被旁人看懂，有何方法？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How can you pass a secret to a friend without bystanders understanding it?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今日學習最古老的加密法之一：凱撒密碼。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Today we learn one of the oldest encryption methods: the Caesar cipher.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凱撒密碼的原理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How the Caesar cipher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把每個字母按固定的位移量推移。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Shift every letter by a fixed amount.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位移量就是「密鑰」，收發雙方事先約定。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The shift amount is the "key", agreed in advance.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例子（位移 3）：A→D、B→E、C→F……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Example (shift 3): A→D, B→E, C→F…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環繞：移到 Z 之後回到 A —— 位移 3 時，X→A、Y→B、Z→C。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Wrap-around: after Z, back to A — with shift 3: X→A, Y→B, Z→C.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編碼示範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Encoding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4F72"/>
                </a:solidFill>
                <a:latin typeface="Arial"/>
                <a:ea typeface="Microsoft JhengHei"/>
              </a:rPr>
              <a:t>把 "CARE" 以位移 3 編碼：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377440"/>
            <a:ext cx="914400" cy="9144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F72"/>
                </a:solidFill>
                <a:latin typeface="Arial"/>
                <a:ea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377440"/>
            <a:ext cx="914400" cy="9144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377440"/>
            <a:ext cx="914400" cy="9144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F72"/>
                </a:solidFill>
                <a:latin typeface="Arial"/>
                <a:ea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2377440"/>
            <a:ext cx="914400" cy="9144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914400" cy="9144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F72"/>
                </a:solidFill>
                <a:latin typeface="Arial"/>
                <a:ea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377440"/>
            <a:ext cx="914400" cy="9144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377440"/>
            <a:ext cx="914400" cy="9144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F72"/>
                </a:solidFill>
                <a:latin typeface="Arial"/>
                <a:ea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19" y="2377440"/>
            <a:ext cx="914400" cy="9144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 i="0">
                <a:solidFill>
                  <a:srgbClr val="333333"/>
                </a:solidFill>
                <a:latin typeface="Arial"/>
                <a:ea typeface="Microsoft JhengHe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72"/>
                </a:solidFill>
                <a:latin typeface="Arial"/>
                <a:ea typeface="Microsoft JhengHei"/>
              </a:rPr>
              <a:t>"CARE" 的密文是 "FDUH"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Arial"/>
                <a:ea typeface="Microsoft JhengHei"/>
              </a:rPr>
              <a:t>整句： "CARE FOR THE ELDERLY" → "FDUH IRU WKH HOGHUOB"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Arial"/>
                <a:ea typeface="Microsoft JhengHei"/>
              </a:rPr>
              <a:t>The cipher text of "CARE" is "FDUH".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解碼示範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Decoding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解碼＝把字母往相反方向移相同的位移量。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Decoding = move letters the opposite way by the same shift.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"FDUH"（位移 3）：F→C、D→A、U→R、H→E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"FDUH" (shift 3): F→C, D→A, U→R, H→E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原文："CARE" —— 成功還原！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Plaintext: "CARE" — restored!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沒有密鑰，就不知道移多少 —— 這就是加密的威力。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Without the key, you don't know how far to move — that's the power of encryption.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活動：製作密碼輪＋編碼挑戰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Activity: cipher wheel +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製作密碼輪：內圈 A 對準外圈 A，轉動位移量。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Make the cipher wheel: align inner A with outer A, then rotate by the shift.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分組挑戰：每組用自選位移量，把一句關愛訊息加密。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Challenge: each group encrypts a caring message with a chosen shift.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與別組交換密文，限時破解，記錄用時！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Swap cipher texts; crack against the clock and record the time!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破解錦囊：逐一轉動密碼輪試誤，或數字母頻率。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Cracking tips: try every wheel position, or count letter frequencies.</a:t>
            </a:r>
          </a:p>
        </p:txBody>
      </p:sp>
      <p:pic>
        <p:nvPicPr>
          <p:cNvPr id="5" name="Picture 4" descr="s2-l13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4815840"/>
            <a:ext cx="2651760" cy="17678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頻率分析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Frequency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英文中最常見的字母是 E，其次是 T、A……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The most frequent English letter is E, then T, A…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數一數密文各字母出現次數 —— 最多的很可能就是 E。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Count each letter in the cipher text — the most frequent is probably 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四步：數頻率 → 找最高 → 推測位移 → 驗證。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Four steps: count → find the highest → infer the shift → verify.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即使不知道密鑰，也能破解！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You can crack it even without knowing the key!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頻率分析示範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Frequency analysis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4F72"/>
                </a:solidFill>
                <a:latin typeface="Arial"/>
                <a:ea typeface="Microsoft JhengHei"/>
              </a:rPr>
              <a:t>密文：DL JHYL MVY AOL LSKLYSF LCLYF ZPUNSL KHF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Arial"/>
                <a:ea typeface="Microsoft JhengHei"/>
              </a:rPr>
              <a:t>數頻率：L 出現 8 次（最多）、Y 出現 4 次、S 和 F 各出現 3 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Arial"/>
                <a:ea typeface="Microsoft JhengHei"/>
              </a:rPr>
              <a:t>找最高 → 假設 L 就是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Arial"/>
                <a:ea typeface="Microsoft JhengHei"/>
              </a:rPr>
              <a:t>推測位移：L 往回移 7 位是 E → 位移量很可能是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F72"/>
                </a:solidFill>
                <a:latin typeface="Arial"/>
                <a:ea typeface="Microsoft JhengHei"/>
              </a:rPr>
              <a:t>驗證：整段往回移 7 位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8A49"/>
                </a:solidFill>
                <a:latin typeface="Arial"/>
                <a:ea typeface="Microsoft JhengHei"/>
              </a:rPr>
              <a:t>"WE CARE FOR THE ELDERLY EVERY SINGLE DAY" ✓ 意思通順，破解成功！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凱撒密碼有多安全？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How secure is the Caesar cipher?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位移量只有 25 種可能（1–25）。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There are only 25 possible shifts (1–25).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逐一試 25 次，必定破解 —— 電腦不用一秒。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Trying all 25 guarantees success — a computer needs less than a second.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位移量大 ≠ 更安全！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A bigger shift does NOT mean safer!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結論：凱撒密碼非常不安全，現代加密複雜得多。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Conclusion: the Caesar cipher is very insecure; modern encryption is far more complex.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資訊安全＋總結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Information security +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加密保護我們的對話、相片與個人資料。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Encryption protects our messages, photos and personal data.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長者較易成為電話騙案目標 —— 不透露密碼、不把個人資料告訴陌生人。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The elderly are frequent targets of phone scams — never reveal passwords or personal details to strangers.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三個關鍵詞：編碼、密鑰、頻率分析。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Three key terms: encoding, key, frequency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家課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甲部：選擇題 4 題（密鑰、環繞、25 種可能、最高頻字母）。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Section A: 4 multiple-choice questions.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乙部：把 "STAY HEALTHY" 以位移 4 編碼；解碼 "MJQU TYMJWX"（位移 5）。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Section B: encode "STAY HEALTHY" (shift 4); decode "MJQU TYMJWX" (shift 5).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把一句鼓勵弱勢社群的英文句子加密，寫下密文及位移量，下堂交換破解。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Encrypt an encouraging English sentence; write the cipher text and shift; swap to crack next lesson.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下堂課前交回。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Submit before the next lesson.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圖：凱撒密碼輪 ｜ Illustration: the Caesar cipher wheel</a:t>
            </a:r>
          </a:p>
        </p:txBody>
      </p:sp>
      <p:pic>
        <p:nvPicPr>
          <p:cNvPr id="3" name="Picture 2" descr="s2-l1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