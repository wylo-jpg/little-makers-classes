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rFonts latin="Arial" ea="Microsoft JhengHei" cs="Arial"/>
              </a:rPr>
              <a:t>聖公會呂明才中學 S.K.H. Lui Ming Choi Secondary School</a:t>
            </a:r>
          </a:p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rFonts latin="Arial" ea="Microsoft JhengHei" cs="Arial"/>
              </a:rPr>
              <a:t>創科班 Little Makers Class</a:t>
            </a:r>
          </a:p>
          <a:p>
            <a:pPr algn="ctr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rFonts latin="Arial" ea="Microsoft JhengHei" cs="Arial"/>
              </a:rPr>
              <a:t>第 22 堂 Lesson 22</a:t>
            </a:r>
          </a:p>
          <a:p>
            <a:pPr algn="ctr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rFonts latin="Arial" ea="Microsoft JhengHei" cs="Arial"/>
              </a:rPr>
              <a:t>進階設計：迭代改良</a:t>
            </a:r>
          </a:p>
          <a:p>
            <a:pPr algn="ctr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rFonts latin="Arial" ea="Microsoft JhengHei" cs="Arial"/>
              </a:rPr>
              <a:t>Advanced Design: Iteration</a:t>
            </a:r>
          </a:p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rFonts latin="Arial" ea="Microsoft JhengHei" cs="Arial"/>
              </a:rPr>
              <a:t>學生筆記 Student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A3 設計圖紙 A3 drawing paper × 每組 3 張 3 sheets per group</a:t>
            </a:r>
          </a:p>
          <a:p>
            <a:pPr/>
            <a:r>
              <a:rPr sz="1600">
                <a:eaTypeface typeface="微軟正黑體"/>
              </a:rPr>
              <a:t>鉛筆、擦膠、直尺 Pencils, erasers, rulers × 每組 1 套 1 set per group</a:t>
            </a:r>
          </a:p>
          <a:p>
            <a:pPr/>
            <a:r>
              <a:rPr sz="1600">
                <a:eaTypeface typeface="微軟正黑體"/>
              </a:rPr>
              <a:t>顏色筆 Colour pens × 每組 1 盒（共用） 1 box per group (shared)</a:t>
            </a:r>
          </a:p>
          <a:p>
            <a:pPr/>
            <a:r>
              <a:rPr sz="1600">
                <a:eaTypeface typeface="微軟正黑體"/>
              </a:rPr>
              <a:t>製作計劃表及對照表（影印） Production plan and mapping tables (photocopied) × 每組 2 份 2 copies per group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課堂目標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Lesson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指出至少兩處修改，並說明依據的用家回饋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Name ≥2 revisions, citing the user feedback behind each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繪出修改後設計圖：視圖＋尺寸＋物料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Draw the revised design: views + dimensions + materials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列出工序表：至少四步＋分工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List a procedure table: ≥4 steps + task allocation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迭代設計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Iterative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循環：收集回饋 → 修改設計 → 再測試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Cycle: gather feedback → revise → test again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真實產品很少一次成功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Real products rarely succeed first time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本單元：L21 收集 → L22 修改 → L23–24 製作測試 → L25 展示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Our unit: L21 gather → L22 revise → L23–24 build &amp; test → L25 showcase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先做哪項回饋？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Which Feedback First?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用「影響 × 迫切」矩陣排序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Rank with the impact × urgency matrix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優先：高影響＋高迫切（例：按鈕太小致誤觸）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First: high impact + urgent (e.g. buttons causing mis-presses)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可不做：影響小＋不迫切（例：包裝花紋）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Skip: low impact + not urgent (e.g. packaging pattern)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不採納的也要記錄理由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Record reasons for anything not adopted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「回饋 → 改動」對照表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Feedback → Change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欄一：用家原話（加引號）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Col 1: user’s words (in quotes)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欄二：具體改動（連數字：尺寸、數量）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Col 2: concrete change (with numbers)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欄三：預期效果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Col 3: expected effect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例：「按鈕太小」→ 直徑 1cm 加大至 3cm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E.g. “buttons too small” → diameter 1 cm → 3 cm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設計圖規範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Drawing Standards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正視圖或側視圖，用直尺繪畫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Front or side view, drawn with a ruler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尺寸全部標註，單位：厘米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All dimensions marked, in cm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每部分註明物料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Label the material of each part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改動處以紅筆圈出並編號，對應對照表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Circle changes in red, numbered to match the 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製作計劃四要素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Four Elements of a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工序：至少四步，按先後排列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Procedures: ≥4 steps in order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物料：每步列出物料及數量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Materials: list per step with quantities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負責人：每步寫明組員姓名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Person in charge: name per step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預計時間：總和不超過 120 分鐘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Estimated time: total within 120 minutes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常見陷阱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Common Pitfall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✘ 為改而改：沒有回饋依據的改動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✘ Change for change’s sake: no feedback behind it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✘ 加功能代替解痛點（例：嫌掣細卻加發聲）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✘ Adding features instead of fixing pain (e.g. sound for small buttons)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✔ 首要原則：回應用家最迫切的需要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✔ First principle: answer the user’s most pressing need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分組任務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Group Tasks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1. 用矩陣排優先次序，填好對照表（≥2 項）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1. Rank with the matrix; complete the table (≥2 items)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2. 重繪設計圖：尺寸＋物料＋紅筆圈改動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2. Redraw: dimensions + materials + red-circled changes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3. 一分鐘簡介綵排：改了什麼？依據哪句原話？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3. Rehearse 1-min briefing: what changed? based on which quote?</a:t>
            </a:r>
          </a:p>
        </p:txBody>
      </p:sp>
      <p:pic>
        <p:nvPicPr>
          <p:cNvPr id="5" name="Picture 4" descr="s2-l22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000" y="4926001"/>
            <a:ext cx="2520000" cy="168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總結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每處修改都要有回饋依據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Every change needs feedback behind it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矩陣排優次；不採納的記下理由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Matrix for priority; note reasons for rejections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設計圖：視圖＋尺寸＋物料＋紅筆編號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Drawing: views + dimensions + materials + red numbers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家課：完成設計圖、製作計劃表及第 23 堂物料清單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Homework: finish drawing, plan and the L23 materials list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2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909000"/>
            <a:ext cx="7560000" cy="504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