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8" r:id="rId1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9" r:id="rId20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4.xml"/><Relationship Id="rId17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latin typeface="Arial"/>
              </a:rPr>
              <a:t>Lesson 10
發明家日記 II</a:t>
            </a:r>
          </a:p>
          <a:p>
            <a:pPr algn="ctr"/>
            <a:r>
              <a:rPr sz="2400">
                <a:latin typeface="Arial"/>
              </a:rPr>
              <a:t>Inventor's Journal II
S2 Little Makers Class - Unit 2: Advanced Hands-on STEAM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作品照片（教師預先整理及列印） Photos of work (teacher-prepared) × 每組 1 套</a:t>
            </a:r>
          </a:p>
          <a:p>
            <a:pPr/>
            <a:r>
              <a:rPr sz="1600">
                <a:eaTypeface typeface="微軟正黑體"/>
              </a:rPr>
              <a:t>發明家日記工作紙 Inventor's Journal worksheet × 每人 1 份</a:t>
            </a:r>
          </a:p>
          <a:p>
            <a:pPr/>
            <a:r>
              <a:rPr sz="1600">
                <a:eaTypeface typeface="微軟正黑體"/>
              </a:rPr>
              <a:t>顏色筆、裝飾物料（共用） Coloured pens, decorative materials (shared) × 每組 1 套</a:t>
            </a:r>
          </a:p>
          <a:p>
            <a:pPr/>
            <a:r>
              <a:rPr sz="1600">
                <a:eaTypeface typeface="微軟正黑體"/>
              </a:rPr>
              <a:t>評分準則表 Marking criteria sheet × 每人 1 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10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38200"/>
            <a:ext cx="77724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課堂目標</a:t>
            </a:r>
          </a:p>
          <a:p>
            <a:r>
              <a:rPr sz="2000">
                <a:latin typeface="Arial"/>
              </a:rPr>
              <a:t>Lesson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以時間線整理七堂學習重點 Timeline the seven lessons' key points</a:t>
            </a:r>
          </a:p>
          <a:p>
            <a:pPr/>
            <a:r>
              <a:rPr sz="2400">
                <a:latin typeface="Arial"/>
              </a:rPr>
              <a:t>•  選出最滿意作品＋三個理由 Favourite piece with three reasons</a:t>
            </a:r>
          </a:p>
          <a:p>
            <a:pPr/>
            <a:r>
              <a:rPr sz="2400">
                <a:latin typeface="Arial"/>
              </a:rPr>
              <a:t>•  撰寫不少於 150 字的單元反思 Write a 150+ character unit reflection</a:t>
            </a:r>
          </a:p>
          <a:p>
            <a:pPr/>
            <a:r>
              <a:rPr sz="2400">
                <a:latin typeface="Arial"/>
              </a:rPr>
              <a:t>•  清楚分享；給予具體互評回饋 Share clearly; give specific peer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單元學習進程</a:t>
            </a:r>
          </a:p>
          <a:p>
            <a:r>
              <a:rPr sz="2000">
                <a:latin typeface="Arial"/>
              </a:rPr>
              <a:t>Unit Learning Progression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力學：液壓 → 槓桿 → 結構 Mechanics: hydraulics → levers → structures</a:t>
            </a:r>
          </a:p>
          <a:p>
            <a:pPr/>
            <a:r>
              <a:rPr sz="2400">
                <a:latin typeface="Arial"/>
              </a:rPr>
              <a:t>•  安全設計：雞蛋保護裝置 Safety design: egg-drop device</a:t>
            </a:r>
          </a:p>
          <a:p>
            <a:pPr/>
            <a:r>
              <a:rPr sz="2400">
                <a:latin typeface="Arial"/>
              </a:rPr>
              <a:t>•  電學及能源：串並聯 → 太陽能 Electricity &amp; energy: circuits → solar</a:t>
            </a:r>
          </a:p>
          <a:p>
            <a:pPr/>
            <a:r>
              <a:rPr sz="2400">
                <a:latin typeface="Arial"/>
              </a:rPr>
              <a:t>•  整理反思：發明家日記 Consolidation: Inventor's Journal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能力逐步提升</a:t>
            </a:r>
          </a:p>
          <a:p>
            <a:r>
              <a:rPr sz="2000">
                <a:latin typeface="Arial"/>
              </a:rPr>
              <a:t>Rising Demands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認識原理、動手製作 Understanding principles and making</a:t>
            </a:r>
          </a:p>
          <a:p>
            <a:pPr/>
            <a:r>
              <a:rPr sz="2400">
                <a:latin typeface="Arial"/>
              </a:rPr>
              <a:t>•  以數據分析作改良決定 Data-driven improvement decisions</a:t>
            </a:r>
          </a:p>
          <a:p>
            <a:pPr/>
            <a:r>
              <a:rPr sz="2400">
                <a:latin typeface="Arial"/>
              </a:rPr>
              <a:t>•  在限制下作取捨，為真實場景設計 Trade-offs under constraints; real-scenario design</a:t>
            </a:r>
          </a:p>
          <a:p>
            <a:pPr/>
            <a:r>
              <a:rPr sz="2400">
                <a:latin typeface="Arial"/>
              </a:rPr>
              <a:t>•  有系統地反思及表達學習成果 Systematic reflection and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時間線</a:t>
            </a:r>
          </a:p>
          <a:p>
            <a:r>
              <a:rPr sz="2000">
                <a:latin typeface="Arial"/>
              </a:rP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第 4 堂 液壓機械臂 —— 帕斯卡原理 L4 Hydraulic Arm — Pascal's principle</a:t>
            </a:r>
          </a:p>
          <a:p>
            <a:pPr/>
            <a:r>
              <a:rPr sz="2400">
                <a:latin typeface="Arial"/>
              </a:rPr>
              <a:t>•  第 5 堂 投石機 —— 槓桿、公平測試 L5 Catapult — levers, fair testing</a:t>
            </a:r>
          </a:p>
          <a:p>
            <a:pPr/>
            <a:r>
              <a:rPr sz="2400">
                <a:latin typeface="Arial"/>
              </a:rPr>
              <a:t>•  第 6 堂 意粉橋 —— 效率值、取捨 L6 Spaghetti Bridge — efficiency, trade-offs</a:t>
            </a:r>
          </a:p>
          <a:p>
            <a:pPr/>
            <a:r>
              <a:rPr sz="2400">
                <a:latin typeface="Arial"/>
              </a:rPr>
              <a:t>•  第 7 堂 雞蛋保護 —— 空氣阻力、緩衝 L7 Egg Drop — air resistance, cushioning</a:t>
            </a:r>
          </a:p>
          <a:p>
            <a:pPr/>
            <a:r>
              <a:rPr sz="2400">
                <a:latin typeface="Arial"/>
              </a:rPr>
              <a:t>•  第 8 堂 串並聯 —— 電路分析 L8 Circuits — circuit analysis</a:t>
            </a:r>
          </a:p>
          <a:p>
            <a:pPr/>
            <a:r>
              <a:rPr sz="2400">
                <a:latin typeface="Arial"/>
              </a:rPr>
              <a:t>•  第 9 堂 太陽能小車 —— 能量轉換 L9 Solar Car — energy conversion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如何寫好反思</a:t>
            </a:r>
          </a:p>
          <a:p>
            <a:r>
              <a:rPr sz="2000">
                <a:latin typeface="Arial"/>
              </a:rPr>
              <a:t>How to Write a Good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具體而非空泛：寫出學到甚麼 Be specific: state what you learned</a:t>
            </a:r>
          </a:p>
          <a:p>
            <a:pPr/>
            <a:r>
              <a:rPr sz="2400">
                <a:latin typeface="Arial"/>
              </a:rPr>
              <a:t>•  困難＋解決方法：當時怎樣解決 Difficulties + how you solved them</a:t>
            </a:r>
          </a:p>
          <a:p>
            <a:pPr/>
            <a:r>
              <a:rPr sz="2400">
                <a:latin typeface="Arial"/>
              </a:rPr>
              <a:t>•  以證據支持評價：數據、成績、設計巧思 Support judgements with evidence</a:t>
            </a:r>
          </a:p>
          <a:p>
            <a:pPr/>
            <a:r>
              <a:rPr sz="2400">
                <a:latin typeface="Arial"/>
              </a:rPr>
              <a:t>•  不少於 150 字 At least 150 Chinese characters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互評回饋句式</a:t>
            </a:r>
          </a:p>
          <a:p>
            <a:r>
              <a:rPr sz="2000">
                <a:latin typeface="Arial"/>
              </a:rPr>
              <a:t>Peer Feedback 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「我欣賞……，因為……」 "I appreciate … because …"</a:t>
            </a:r>
          </a:p>
          <a:p>
            <a:pPr/>
            <a:r>
              <a:rPr sz="2400">
                <a:latin typeface="Arial"/>
              </a:rPr>
              <a:t>•  「如果……，會更好。」 "It would be better if …"</a:t>
            </a:r>
          </a:p>
          <a:p>
            <a:pPr/>
            <a:r>
              <a:rPr sz="2400">
                <a:latin typeface="Arial"/>
              </a:rPr>
              <a:t>•  具體：指出哪個部分、哪個決定 Be specific about parts and decisions</a:t>
            </a:r>
          </a:p>
          <a:p>
            <a:pPr/>
            <a:r>
              <a:rPr sz="2400">
                <a:latin typeface="Arial"/>
              </a:rPr>
              <a:t>•  避免只說「好好」 Avoid perfunctory praise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分享流程</a:t>
            </a:r>
          </a:p>
          <a:p>
            <a:r>
              <a:rPr sz="2000">
                <a:latin typeface="Arial"/>
              </a:rPr>
              <a:t>Sharing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整理照片：按時間線排列 Organise photos on the timeline</a:t>
            </a:r>
          </a:p>
          <a:p>
            <a:pPr/>
            <a:r>
              <a:rPr sz="2400">
                <a:latin typeface="Arial"/>
              </a:rPr>
              <a:t>•  組內分享，每人約 2 分鐘 Group sharing, ~2 minutes each</a:t>
            </a:r>
          </a:p>
          <a:p>
            <a:pPr/>
            <a:r>
              <a:rPr sz="2400">
                <a:latin typeface="Arial"/>
              </a:rPr>
              <a:t>•  展示最滿意作品＋三個理由 Present favourite piece with three reasons</a:t>
            </a:r>
          </a:p>
          <a:p>
            <a:pPr/>
            <a:r>
              <a:rPr sz="2400">
                <a:latin typeface="Arial"/>
              </a:rPr>
              <a:t>•  填寫互評表 Complete peer assessment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評分準則</a:t>
            </a:r>
          </a:p>
          <a:p>
            <a:r>
              <a:rPr sz="2000">
                <a:latin typeface="Arial"/>
              </a:rPr>
              <a:t>Marking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內容完整 40%：時間線、作品、反思齊備 Completeness 40%</a:t>
            </a:r>
          </a:p>
          <a:p>
            <a:pPr/>
            <a:r>
              <a:rPr sz="2400">
                <a:latin typeface="Arial"/>
              </a:rPr>
              <a:t>•  反思深度 30%：具體、有例子、有見解 Depth 30%</a:t>
            </a:r>
          </a:p>
          <a:p>
            <a:pPr/>
            <a:r>
              <a:rPr sz="2400">
                <a:latin typeface="Arial"/>
              </a:rPr>
              <a:t>•  表達清晰 30%：分享清晰、互評具體 Clarity 30%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838200"/>
            <a:ext cx="77724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latin typeface="Arial"/>
              </a:rPr>
              <a:t>單元小結</a:t>
            </a:r>
          </a:p>
          <a:p>
            <a:r>
              <a:rPr sz="2000">
                <a:latin typeface="Arial"/>
              </a:rPr>
              <a:t>Unit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>
                <a:latin typeface="Arial"/>
              </a:rPr>
              <a:t>•  有系統地整理學習成果，是展示自己能力的方法。 Organising learning outcomes systematically showcases your abilities.</a:t>
            </a:r>
          </a:p>
          <a:p>
            <a:pPr/>
            <a:r>
              <a:rPr sz="2400">
                <a:latin typeface="Arial"/>
              </a:rPr>
              <a:t>•  評價作品須以具體證據及理由支持，而非空泛的感覺。 Evaluate work with specific evidence and reasons, not vague feelings.</a:t>
            </a:r>
          </a:p>
          <a:p>
            <a:pPr/>
            <a:r>
              <a:rPr sz="2400">
                <a:latin typeface="Arial"/>
              </a:rPr>
              <a:t>•  反思是學習的重要一環：回顧困難及解決方法，有助下次做得更好。 Reflection matters: reviewing difficulties and solutions helps next time.</a:t>
            </a:r>
          </a:p>
          <a:p>
            <a:pPr/>
            <a:r>
              <a:rPr sz="2400">
                <a:latin typeface="Arial"/>
              </a:rPr>
              <a:t>•  欣賞他人的設計，並以具體建議作互評。 Appreciate others' designs and give specific suggestions.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