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8" r:id="rId19"/>
    <p:sldId id="269" r:id="rId20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2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Arial"/>
                <a:ea typeface="Microsoft JhengHei"/>
              </a:rPr>
              <a:t>第 11 堂：流程圖</a:t>
            </a:r>
          </a:p>
          <a:p>
            <a:pPr algn="ctr">
              <a:spcBef>
                <a:spcPts val="800"/>
              </a:spcBef>
            </a:pPr>
            <a:r>
              <a:rPr sz="2800" b="1" i="0">
                <a:solidFill>
                  <a:srgbClr val="FFFFFF"/>
                </a:solidFill>
                <a:latin typeface="Arial"/>
                <a:ea typeface="Microsoft JhengHei"/>
              </a:rPr>
              <a:t>Lesson 11: Flowcharts</a:t>
            </a:r>
          </a:p>
          <a:p>
            <a:pPr algn="ctr">
              <a:spcBef>
                <a:spcPts val="2800"/>
              </a:spcBef>
            </a:pP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中二創科班｜Unit 3 進階編程思維｜不插電課堂</a:t>
            </a:r>
          </a:p>
          <a:p>
            <a:pPr algn="ctr"/>
            <a:r>
              <a:rPr sz="1800" b="0" i="0">
                <a:solidFill>
                  <a:srgbClr val="D5DBDB"/>
                </a:solidFill>
                <a:latin typeface="Arial"/>
                <a:ea typeface="Microsoft JhengHei"/>
              </a:rPr>
              <a:t>S2 Little Makers Class | Unit 3 Advanced Programming Thinking | Unplugged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A4 白紙 A4 paper × 每人 2 張 2 sheets per student</a:t>
            </a:r>
          </a:p>
          <a:p>
            <a:pPr/>
            <a:r>
              <a:rPr sz="1600">
                <a:eaTypeface typeface="微軟正黑體"/>
              </a:rPr>
              <a:t>流程圖符號配對卡（預先列印及裁剪） Flowchart symbol matching cards (pre-printed and cut) × 每組 1 套 1 set per group</a:t>
            </a:r>
          </a:p>
          <a:p>
            <a:pPr/>
            <a:r>
              <a:rPr sz="1600">
                <a:eaTypeface typeface="微軟正黑體"/>
              </a:rPr>
              <a:t>顏色筆 Colour pens × 每組 1 盒（課室常用，可重用） 1 box per group (reusable classroom stock)</a:t>
            </a:r>
          </a:p>
          <a:p>
            <a:pPr/>
            <a:r>
              <a:rPr sz="1600">
                <a:eaTypeface typeface="微軟正黑體"/>
              </a:rPr>
              <a:t>藍丁膠 Blu-Tack × 每組少許 a small amount per group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本堂目標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Lesson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能列出五種常用流程圖符號及其功能。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List the five common flowchart symbols and their functions.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能把日常流程拆解為有序步驟，並繪製成合乎標準的流程圖。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Break an everyday process into ordered steps and draw a standard flowchart.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能在流程圖中正確運用判斷符號，表達具「是」與「否」兩條出路的分支邏輯。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Use the decision symbol correctly, with both "yes" and "no" branches.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什麼是流程圖？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What is a flowchart?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程式設計師在編寫程式之前，用來規劃邏輯的通用圖像語言。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The common visual language programmers use to plan logic before coding.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把複雜過程拆解成一步一步的清晰指令，一目了然。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Breaks a complex process into clear steps — clear at a glance.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體現運算思維的「分解」與「抽象化」。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Embodies decomposition and abstraction in computational thinking.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今日任務：把「製作早餐」變成一幅標準流程圖！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Today's mission: turn "making breakfast" into a standard flowchart!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五種標準符號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The five standard symbols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1828800"/>
            <a:ext cx="1554480" cy="914400"/>
          </a:xfrm>
          <a:prstGeom prst="ellipse">
            <a:avLst/>
          </a:prstGeom>
          <a:solidFill>
            <a:srgbClr val="EBF5FB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880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4F72"/>
                </a:solidFill>
                <a:latin typeface="Arial"/>
                <a:ea typeface="Microsoft JhengHei"/>
              </a:rPr>
              <a:t>開始／結束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3101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66666"/>
                </a:solidFill>
                <a:latin typeface="Arial"/>
                <a:ea typeface="Microsoft JhengHei"/>
              </a:rPr>
              <a:t>Terminator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  <a:latin typeface="Arial"/>
                <a:ea typeface="Microsoft JhengHei"/>
              </a:rPr>
              <a:t>標示起點或終點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39" y="1828800"/>
            <a:ext cx="1554480" cy="914400"/>
          </a:xfrm>
          <a:prstGeom prst="rect">
            <a:avLst/>
          </a:prstGeom>
          <a:solidFill>
            <a:srgbClr val="EBF5FB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79" y="2880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4F72"/>
                </a:solidFill>
                <a:latin typeface="Arial"/>
                <a:ea typeface="Microsoft JhengHei"/>
              </a:rPr>
              <a:t>處理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79" y="33101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66666"/>
                </a:solidFill>
                <a:latin typeface="Arial"/>
                <a:ea typeface="Microsoft JhengHei"/>
              </a:rP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  <a:latin typeface="Arial"/>
                <a:ea typeface="Microsoft JhengHei"/>
              </a:rPr>
              <a:t>一個具體步驟</a:t>
            </a:r>
          </a:p>
        </p:txBody>
      </p:sp>
      <p:sp>
        <p:nvSpPr>
          <p:cNvPr id="12" name="Diamond 11"/>
          <p:cNvSpPr/>
          <p:nvPr/>
        </p:nvSpPr>
        <p:spPr>
          <a:xfrm>
            <a:off x="5166359" y="1828800"/>
            <a:ext cx="1554480" cy="914400"/>
          </a:xfrm>
          <a:prstGeom prst="diamond">
            <a:avLst/>
          </a:prstGeom>
          <a:solidFill>
            <a:srgbClr val="EBF5FB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199" y="2880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4F72"/>
                </a:solidFill>
                <a:latin typeface="Arial"/>
                <a:ea typeface="Microsoft JhengHei"/>
              </a:rPr>
              <a:t>判斷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199" y="33101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66666"/>
                </a:solidFill>
                <a:latin typeface="Arial"/>
                <a:ea typeface="Microsoft JhengHei"/>
              </a:rPr>
              <a:t>Decision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9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  <a:latin typeface="Arial"/>
                <a:ea typeface="Microsoft JhengHei"/>
              </a:rPr>
              <a:t>是非問題，分兩路</a:t>
            </a:r>
          </a:p>
        </p:txBody>
      </p:sp>
      <p:sp>
        <p:nvSpPr>
          <p:cNvPr id="16" name="Parallelogram 15"/>
          <p:cNvSpPr/>
          <p:nvPr/>
        </p:nvSpPr>
        <p:spPr>
          <a:xfrm>
            <a:off x="7498079" y="1828800"/>
            <a:ext cx="1554480" cy="914400"/>
          </a:xfrm>
          <a:prstGeom prst="parallelogram">
            <a:avLst/>
          </a:prstGeom>
          <a:solidFill>
            <a:srgbClr val="EBF5FB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19" y="2880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4F72"/>
                </a:solidFill>
                <a:latin typeface="Arial"/>
                <a:ea typeface="Microsoft JhengHei"/>
              </a:rPr>
              <a:t>輸入／輸出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60919" y="33101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66666"/>
                </a:solidFill>
                <a:latin typeface="Arial"/>
                <a:ea typeface="Microsoft JhengHei"/>
              </a:rPr>
              <a:t>Input / 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19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  <a:latin typeface="Arial"/>
                <a:ea typeface="Microsoft JhengHei"/>
              </a:rPr>
              <a:t>資料進出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829800" y="1828800"/>
            <a:ext cx="1554480" cy="914400"/>
          </a:xfrm>
          <a:prstGeom prst="rightArrow">
            <a:avLst/>
          </a:prstGeom>
          <a:solidFill>
            <a:srgbClr val="EBF5FB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0" y="2880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4F72"/>
                </a:solidFill>
                <a:latin typeface="Arial"/>
                <a:ea typeface="Microsoft JhengHei"/>
              </a:rPr>
              <a:t>流程線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331012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666666"/>
                </a:solidFill>
                <a:latin typeface="Arial"/>
                <a:ea typeface="Microsoft JhengHei"/>
              </a:rPr>
              <a:t>Flow 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333333"/>
                </a:solidFill>
                <a:latin typeface="Arial"/>
                <a:ea typeface="Microsoft JhengHei"/>
              </a:rPr>
              <a:t>方向（單向）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75488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7E570C"/>
                </a:solidFill>
                <a:latin typeface="Arial"/>
                <a:ea typeface="Microsoft JhengHei"/>
              </a:rPr>
              <a:t>留意：菱形必須有「是」與「否」兩條出路；箭頭只准單向。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活動：符號配對遊戲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Activity: Symbol matching 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每組獲發一套符號卡和功能卡。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Each group gets a set of symbol cards and function cards.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任務：把每個符號與正確的功能配對。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Task: match each symbol with its correct function.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完成後舉手，被抽中的組別要說出符號名稱。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Raise your hand when done; chosen groups name the symbols aloud.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計時 3 分鐘 —— 預備，開始！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3 minutes on the clock — ready, go!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例子：製作早餐 —— 步驟拆解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Example: Making breakfast —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1. 開始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1. Start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2. 從雪櫃取出麵包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2. Take bread from the fridge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3. 把麵包放入多士爐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3. Put the bread into the toaster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4. 判斷：麵包已烤至金黃色嗎？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4. Decision: Is the bread golden brown?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5a. 否 → 繼續烘烤（回去再判斷）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5a. No → keep toasting (check again)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5b. 是 → 從多士爐取出多士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5b. Yes → take the toast out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6. 在多士上塗果醬 → 輸出：享用早餐 → 結束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6. Spread jam → output: enjoy breakfast → end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早餐流程圖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The breakfast flowchart</a:t>
            </a:r>
          </a:p>
        </p:txBody>
      </p:sp>
      <p:sp>
        <p:nvSpPr>
          <p:cNvPr id="4" name="Oval 3"/>
          <p:cNvSpPr/>
          <p:nvPr/>
        </p:nvSpPr>
        <p:spPr>
          <a:xfrm>
            <a:off x="5504688" y="1143000"/>
            <a:ext cx="1188720" cy="502920"/>
          </a:xfrm>
          <a:prstGeom prst="ellipse">
            <a:avLst/>
          </a:prstGeom>
          <a:solidFill>
            <a:srgbClr val="D5F8DC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500" b="1" i="0">
                <a:solidFill>
                  <a:srgbClr val="333333"/>
                </a:solidFill>
                <a:latin typeface="Arial"/>
                <a:ea typeface="Microsoft JhengHei"/>
              </a:rPr>
              <a:t>開始</a:t>
            </a:r>
          </a:p>
        </p:txBody>
      </p:sp>
      <p:sp>
        <p:nvSpPr>
          <p:cNvPr id="5" name="Down Arrow 4"/>
          <p:cNvSpPr/>
          <p:nvPr/>
        </p:nvSpPr>
        <p:spPr>
          <a:xfrm>
            <a:off x="6007608" y="1645920"/>
            <a:ext cx="182880" cy="201168"/>
          </a:xfrm>
          <a:prstGeom prst="downArrow">
            <a:avLst/>
          </a:prstGeom>
          <a:solidFill>
            <a:srgbClr val="2E86AB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93208" y="1847088"/>
            <a:ext cx="2011680" cy="457200"/>
          </a:xfrm>
          <a:prstGeom prst="rect">
            <a:avLst/>
          </a:prstGeom>
          <a:solidFill>
            <a:srgbClr val="EBF5FB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400" b="0" i="0">
                <a:solidFill>
                  <a:srgbClr val="333333"/>
                </a:solidFill>
                <a:latin typeface="Arial"/>
                <a:ea typeface="Microsoft JhengHei"/>
              </a:rPr>
              <a:t>從雪櫃取出麵包</a:t>
            </a:r>
          </a:p>
        </p:txBody>
      </p:sp>
      <p:sp>
        <p:nvSpPr>
          <p:cNvPr id="7" name="Down Arrow 6"/>
          <p:cNvSpPr/>
          <p:nvPr/>
        </p:nvSpPr>
        <p:spPr>
          <a:xfrm>
            <a:off x="6007608" y="2304288"/>
            <a:ext cx="182880" cy="201168"/>
          </a:xfrm>
          <a:prstGeom prst="downArrow">
            <a:avLst/>
          </a:prstGeom>
          <a:solidFill>
            <a:srgbClr val="2E86AB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3208" y="2505456"/>
            <a:ext cx="2011680" cy="457200"/>
          </a:xfrm>
          <a:prstGeom prst="rect">
            <a:avLst/>
          </a:prstGeom>
          <a:solidFill>
            <a:srgbClr val="EBF5FB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400" b="0" i="0">
                <a:solidFill>
                  <a:srgbClr val="333333"/>
                </a:solidFill>
                <a:latin typeface="Arial"/>
                <a:ea typeface="Microsoft JhengHei"/>
              </a:rPr>
              <a:t>把麵包放入多士爐</a:t>
            </a:r>
          </a:p>
        </p:txBody>
      </p:sp>
      <p:sp>
        <p:nvSpPr>
          <p:cNvPr id="9" name="Down Arrow 8"/>
          <p:cNvSpPr/>
          <p:nvPr/>
        </p:nvSpPr>
        <p:spPr>
          <a:xfrm>
            <a:off x="6007608" y="2962656"/>
            <a:ext cx="182880" cy="201168"/>
          </a:xfrm>
          <a:prstGeom prst="downArrow">
            <a:avLst/>
          </a:prstGeom>
          <a:solidFill>
            <a:srgbClr val="2E86AB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5184648" y="3163824"/>
            <a:ext cx="1828800" cy="777240"/>
          </a:xfrm>
          <a:prstGeom prst="diamond">
            <a:avLst/>
          </a:prstGeom>
          <a:solidFill>
            <a:srgbClr val="FDEDEC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300" b="1" i="0">
                <a:solidFill>
                  <a:srgbClr val="333333"/>
                </a:solidFill>
                <a:latin typeface="Arial"/>
                <a:ea typeface="Microsoft JhengHei"/>
              </a:rPr>
              <a:t>已烤至金黃色嗎？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6007608" y="3941063"/>
            <a:ext cx="182880" cy="201168"/>
          </a:xfrm>
          <a:prstGeom prst="downArrow">
            <a:avLst/>
          </a:prstGeom>
          <a:solidFill>
            <a:srgbClr val="2E86AB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63640" y="389534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8A49"/>
                </a:solidFill>
                <a:latin typeface="Arial"/>
                <a:ea typeface="Microsoft JhengHei"/>
              </a:rPr>
              <a:t>是 Yes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93208" y="4142232"/>
            <a:ext cx="2011680" cy="457200"/>
          </a:xfrm>
          <a:prstGeom prst="rect">
            <a:avLst/>
          </a:prstGeom>
          <a:solidFill>
            <a:srgbClr val="EBF5FB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400" b="0" i="0">
                <a:solidFill>
                  <a:srgbClr val="333333"/>
                </a:solidFill>
                <a:latin typeface="Arial"/>
                <a:ea typeface="Microsoft JhengHei"/>
              </a:rPr>
              <a:t>從多士爐取出多士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6007608" y="4599432"/>
            <a:ext cx="182880" cy="201168"/>
          </a:xfrm>
          <a:prstGeom prst="downArrow">
            <a:avLst/>
          </a:prstGeom>
          <a:solidFill>
            <a:srgbClr val="2E86AB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93208" y="4800600"/>
            <a:ext cx="2011680" cy="457200"/>
          </a:xfrm>
          <a:prstGeom prst="rect">
            <a:avLst/>
          </a:prstGeom>
          <a:solidFill>
            <a:srgbClr val="EBF5FB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400" b="0" i="0">
                <a:solidFill>
                  <a:srgbClr val="333333"/>
                </a:solidFill>
                <a:latin typeface="Arial"/>
                <a:ea typeface="Microsoft JhengHei"/>
              </a:rPr>
              <a:t>在多士上塗果醬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07608" y="5257800"/>
            <a:ext cx="182880" cy="201168"/>
          </a:xfrm>
          <a:prstGeom prst="downArrow">
            <a:avLst/>
          </a:prstGeom>
          <a:solidFill>
            <a:srgbClr val="2E86AB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arallelogram 16"/>
          <p:cNvSpPr/>
          <p:nvPr/>
        </p:nvSpPr>
        <p:spPr>
          <a:xfrm>
            <a:off x="5093208" y="5458968"/>
            <a:ext cx="2011680" cy="457200"/>
          </a:xfrm>
          <a:prstGeom prst="parallelogram">
            <a:avLst/>
          </a:prstGeom>
          <a:solidFill>
            <a:srgbClr val="FEF9E7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400" b="0" i="0">
                <a:solidFill>
                  <a:srgbClr val="333333"/>
                </a:solidFill>
                <a:latin typeface="Arial"/>
                <a:ea typeface="Microsoft JhengHei"/>
              </a:rPr>
              <a:t>輸出：享用早餐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6007608" y="5916168"/>
            <a:ext cx="182880" cy="201168"/>
          </a:xfrm>
          <a:prstGeom prst="downArrow">
            <a:avLst/>
          </a:prstGeom>
          <a:solidFill>
            <a:srgbClr val="2E86AB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04688" y="6117336"/>
            <a:ext cx="1188720" cy="502920"/>
          </a:xfrm>
          <a:prstGeom prst="ellipse">
            <a:avLst/>
          </a:prstGeom>
          <a:solidFill>
            <a:srgbClr val="D5F8DC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500" b="1" i="0">
                <a:solidFill>
                  <a:srgbClr val="333333"/>
                </a:solidFill>
                <a:latin typeface="Arial"/>
                <a:ea typeface="Microsoft JhengHei"/>
              </a:rPr>
              <a:t>結束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14032" y="338328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3A2E"/>
                </a:solidFill>
                <a:latin typeface="Arial"/>
                <a:ea typeface="Microsoft JhengHei"/>
              </a:rPr>
              <a:t>否 No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059168" y="3456432"/>
            <a:ext cx="548640" cy="201168"/>
          </a:xfrm>
          <a:prstGeom prst="rightArrow">
            <a:avLst/>
          </a:prstGeom>
          <a:solidFill>
            <a:srgbClr val="2E86AB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7808" y="3319272"/>
            <a:ext cx="1554480" cy="457200"/>
          </a:xfrm>
          <a:prstGeom prst="rect">
            <a:avLst/>
          </a:prstGeom>
          <a:solidFill>
            <a:srgbClr val="EBF5FB"/>
          </a:solidFill>
          <a:ln w="254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400" b="0" i="0">
                <a:solidFill>
                  <a:srgbClr val="333333"/>
                </a:solidFill>
                <a:latin typeface="Arial"/>
                <a:ea typeface="Microsoft JhengHei"/>
              </a:rPr>
              <a:t>繼續烘烤</a:t>
            </a:r>
          </a:p>
        </p:txBody>
      </p:sp>
      <p:sp>
        <p:nvSpPr>
          <p:cNvPr id="23" name="Up Arrow 22"/>
          <p:cNvSpPr/>
          <p:nvPr/>
        </p:nvSpPr>
        <p:spPr>
          <a:xfrm>
            <a:off x="8375904" y="2907792"/>
            <a:ext cx="201168" cy="411480"/>
          </a:xfrm>
          <a:prstGeom prst="upArrow">
            <a:avLst/>
          </a:prstGeom>
          <a:solidFill>
            <a:srgbClr val="2E86AB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Left Arrow 23"/>
          <p:cNvSpPr/>
          <p:nvPr/>
        </p:nvSpPr>
        <p:spPr>
          <a:xfrm>
            <a:off x="6766560" y="2523744"/>
            <a:ext cx="1609344" cy="201168"/>
          </a:xfrm>
          <a:prstGeom prst="leftArrow">
            <a:avLst/>
          </a:prstGeom>
          <a:solidFill>
            <a:srgbClr val="2E86AB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6665976" y="2724912"/>
            <a:ext cx="201168" cy="685800"/>
          </a:xfrm>
          <a:prstGeom prst="downArrow">
            <a:avLst/>
          </a:prstGeom>
          <a:solidFill>
            <a:srgbClr val="2E86AB"/>
          </a:solidFill>
          <a:ln w="254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重點：判斷符號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Key point: the decision symbol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菱形內寫一個是非問題（只可用「是／否」回答）。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Write a yes/no question inside the diamond.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必須畫出「是」與「否」兩條出路。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Both "yes" and "no" exits must be drawn.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每條出路之後，都要寫明下一步做什麼。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Each exit must lead to a clear next step.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例子：「帶齊功課了嗎？」是 → 出門上學；否 → 回房間拿取功課。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E.g. "Packed all homework?" Yes → leave for school; No → fetch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分組任務：長者晨起安全檢查流程圖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Group task: morning safety flowchart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為獨居長者設計「晨起安全檢查流程圖」。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Design a morning safety checklist flowchart for elderly people living alone.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內容例子：在床邊坐片刻防暈眩、檢查地面水漬、確認大門已鎖好。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Ideas: sit on the bedside to prevent dizziness, check the floor for water, confirm the door is locked.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要求：五種符號每種至少一次；至少一個判斷（具「是／否」兩條出路）。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Requirements: all five symbols at least once; at least one decision with "yes"/"no" exits.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分工建議：繪圖、檢查符號、準備匯報。完成後兩組展示，全班互評。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Divide roles: drawing, symbol-checking, presenting. Two groups present for peer review.</a:t>
            </a:r>
          </a:p>
        </p:txBody>
      </p:sp>
      <p:pic>
        <p:nvPicPr>
          <p:cNvPr id="5" name="Picture 4" descr="s2-l11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9992" y="4815840"/>
            <a:ext cx="2651760" cy="17678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常見錯誤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Common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把箭頭畫成雙向 —— 箭頭只准指向單一方向。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Double-headed arrows — arrows point one way only.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把多個步驟塞進同一個長方形 —— 一個長方形只做一件事。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Cramming steps into one rectangle — one rectangle, one step.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判斷只寫問題、不畫分支 —— 必須畫出兩條出路及後續步驟。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Question with no branches — draw both exits and follow-ups.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總結：好流程圖的三要素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Summary: three essentials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順序正確 —— 步驟按合理次序排列。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Correct sequence — steps in a sensible order.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分支完整 —— 每個判斷都有「是」與「否」兩條出路。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Complete branching — every decision has "yes" and "no" exits.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步驟齊全 —— 沒有遺漏關鍵步驟，五種符號運用恰當。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Complete steps — no key step missing; symbols used properly.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Arial"/>
                <a:ea typeface="Microsoft JhengHei"/>
              </a:rPr>
              <a:t>家課</a:t>
            </a:r>
            <a:r>
              <a:rPr sz="2000" b="0" i="0">
                <a:solidFill>
                  <a:srgbClr val="D5DBDB"/>
                </a:solidFill>
                <a:latin typeface="Arial"/>
                <a:ea typeface="Microsoft JhengHei"/>
              </a:rPr>
              <a:t>   Homework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甲部：選擇題 5 題。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Section A: 5 multiple-choice questions.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乙部：問答題 —— 解釋箭頭單向的原因、為小明的流程圖改錯。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Section B: explain one-way arrows; fix Ming's flowchart.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實踐題：選一個家中日常流程，畫標準流程圖，五種符號每種至少一次。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Practical task: draw a standard flowchart of a home routine, using all five symbols at least once.</a:t>
            </a:r>
          </a:p>
          <a:p>
            <a:pPr>
              <a:spcAft>
                <a:spcPts val="1000"/>
              </a:spcAft>
            </a:pPr>
            <a:r>
              <a:rPr sz="2000" b="0" i="0">
                <a:solidFill>
                  <a:srgbClr val="333333"/>
                </a:solidFill>
                <a:latin typeface="Arial"/>
                <a:ea typeface="Microsoft JhengHei"/>
              </a:rPr>
              <a:t>•  下堂課前交回。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666666"/>
                </a:solidFill>
                <a:latin typeface="Arial"/>
                <a:ea typeface="Microsoft JhengHei"/>
              </a:rPr>
              <a:t>     Submit before the next lesson.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/>
              <a:t>圖：流程圖的標準符號 ｜ Illustration: standard flowchart symbols</a:t>
            </a:r>
          </a:p>
        </p:txBody>
      </p:sp>
      <p:pic>
        <p:nvPicPr>
          <p:cNvPr id="3" name="Picture 2" descr="s2-l11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235" y="1463040"/>
            <a:ext cx="3840480" cy="5120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