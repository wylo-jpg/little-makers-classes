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8"/>
    <p:sldId id="269" r:id="rId2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8" r:id="rId19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latin typeface="Arial"/>
              </a:rPr>
              <a:t>Lesson 9
太陽能小車</a:t>
            </a:r>
          </a:p>
          <a:p>
            <a:pPr algn="ctr"/>
            <a:r>
              <a:rPr sz="2400">
                <a:latin typeface="Arial"/>
              </a:rPr>
              <a:t>Solar Car
S2 Little Makers Class - Unit 2: Advanced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太陽能小車套件（太陽能板＋摩打＋車架） Solar car kit (panel + motor + chassis) × 1 套</a:t>
            </a:r>
          </a:p>
          <a:p>
            <a:pPr/>
            <a:r>
              <a:rPr sz="1600">
                <a:eaTypeface typeface="微軟正黑體"/>
              </a:rPr>
              <a:t>計時器（教師提供，全班共用） Timers (provided by teacher, shared) × 每班 2–3 個</a:t>
            </a:r>
          </a:p>
          <a:p>
            <a:pPr/>
            <a:r>
              <a:rPr sz="1600">
                <a:eaTypeface typeface="微軟正黑體"/>
              </a:rPr>
              <a:t>鉛筆芯粉／潤滑用具（共用，可選） Pencil lead powder for lubrication (shared, optional) × 共用</a:t>
            </a:r>
          </a:p>
          <a:p>
            <a:pPr/>
            <a:r>
              <a:rPr sz="1600">
                <a:eaTypeface typeface="微軟正黑體"/>
              </a:rPr>
              <a:t>工作紙 Worksheet × 每人 1 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課堂目標</a:t>
            </a:r>
          </a:p>
          <a:p>
            <a:r>
              <a:rPr sz="2000">
                <a:latin typeface="Arial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說出能量轉換過程：光能 → 電能 → 動能 Describe the energy conversion chain</a:t>
            </a:r>
          </a:p>
          <a:p>
            <a:pPr/>
            <a:r>
              <a:rPr sz="2400">
                <a:latin typeface="Arial"/>
              </a:rPr>
              <a:t>•  組裝可正常行走的太陽能小車 Assemble a working solar car</a:t>
            </a:r>
          </a:p>
          <a:p>
            <a:pPr/>
            <a:r>
              <a:rPr sz="2400">
                <a:latin typeface="Arial"/>
              </a:rPr>
              <a:t>•  調校最少一項並記錄前後表現 Tune at least one aspect with before/after records</a:t>
            </a:r>
          </a:p>
          <a:p>
            <a:pPr/>
            <a:r>
              <a:rPr sz="2400">
                <a:latin typeface="Arial"/>
              </a:rPr>
              <a:t>•  說出兩個再生能源的好處 State two benefits of renewable 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能量轉換鏈</a:t>
            </a:r>
          </a:p>
          <a:p>
            <a:r>
              <a:rPr sz="2000">
                <a:latin typeface="Arial"/>
              </a:rPr>
              <a:t>The Energy Conversion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光能 Light energy →（太陽能板 solar panel）→ 電能 Electrical energy</a:t>
            </a:r>
          </a:p>
          <a:p>
            <a:pPr/>
            <a:r>
              <a:rPr sz="2400">
                <a:latin typeface="Arial"/>
              </a:rPr>
              <a:t>•  電能 Electrical energy →（摩打 motor）→ 動能 Kinetic energy</a:t>
            </a:r>
          </a:p>
          <a:p>
            <a:pPr/>
            <a:r>
              <a:rPr sz="2400">
                <a:latin typeface="Arial"/>
              </a:rPr>
              <a:t>•  整條鏈：光能 → 電能 → 動能 Full chain: light → electrical → kinetic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光照與發電</a:t>
            </a:r>
          </a:p>
          <a:p>
            <a:r>
              <a:rPr sz="2000">
                <a:latin typeface="Arial"/>
              </a:rPr>
              <a:t>Light and Power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光線愈強，電流愈大，車愈快 Stronger light → more current → faster car</a:t>
            </a:r>
          </a:p>
          <a:p>
            <a:pPr/>
            <a:r>
              <a:rPr sz="2400">
                <a:latin typeface="Arial"/>
              </a:rPr>
              <a:t>•  正對陽光：入射角接近垂直，效能最高 Face the sun: near-perpendicular incidence = max output</a:t>
            </a:r>
          </a:p>
          <a:p>
            <a:pPr/>
            <a:r>
              <a:rPr sz="2400">
                <a:latin typeface="Arial"/>
              </a:rPr>
              <a:t>•  陰天仍可緩慢行走，只是慢得多 Cloudy days: still crawls, but much slower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影響速度的三因素</a:t>
            </a:r>
          </a:p>
          <a:p>
            <a:r>
              <a:rPr sz="2000">
                <a:latin typeface="Arial"/>
              </a:rPr>
              <a:t>Three Factors Affecting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太陽能板角度：正對陽光 Panel angle: face the sun</a:t>
            </a:r>
          </a:p>
          <a:p>
            <a:pPr/>
            <a:r>
              <a:rPr sz="2400">
                <a:latin typeface="Arial"/>
              </a:rPr>
              <a:t>•  車身重量：愈輕，摩打負擔愈小 Body weight: lighter = less motor load</a:t>
            </a:r>
          </a:p>
          <a:p>
            <a:pPr/>
            <a:r>
              <a:rPr sz="2400">
                <a:latin typeface="Arial"/>
              </a:rPr>
              <a:t>•  車軸摩擦：愈順滑愈快；鉛筆芯粉潤滑 Axle friction: smoother is faster; lubricate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再生能源：好處</a:t>
            </a:r>
          </a:p>
          <a:p>
            <a:r>
              <a:rPr sz="2000">
                <a:latin typeface="Arial"/>
              </a:rPr>
              <a:t>Renewable Energy: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清潔：使用時不排放廢氣 Clean: no emissions in use</a:t>
            </a:r>
          </a:p>
          <a:p>
            <a:pPr/>
            <a:r>
              <a:rPr sz="2400">
                <a:latin typeface="Arial"/>
              </a:rPr>
              <a:t>•  可再生：陽光取之不盡 Renewable: inexhaustible sunlight</a:t>
            </a:r>
          </a:p>
          <a:p>
            <a:pPr/>
            <a:r>
              <a:rPr sz="2400">
                <a:latin typeface="Arial"/>
              </a:rPr>
              <a:t>•  運作成本低：陽光免費 Low running cost: sunlight is free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再生能源：限制</a:t>
            </a:r>
          </a:p>
          <a:p>
            <a:r>
              <a:rPr sz="2000">
                <a:latin typeface="Arial"/>
              </a:rPr>
              <a:t>Renewable Energy: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受天氣影響：陰天、夜晚大減 Weather-dependent</a:t>
            </a:r>
          </a:p>
          <a:p>
            <a:pPr/>
            <a:r>
              <a:rPr sz="2400">
                <a:latin typeface="Arial"/>
              </a:rPr>
              <a:t>•  能量密度較低：需較大面積收集 Lower energy density: large area needed</a:t>
            </a:r>
          </a:p>
          <a:p>
            <a:pPr/>
            <a:r>
              <a:rPr sz="2400">
                <a:latin typeface="Arial"/>
              </a:rPr>
              <a:t>•  初期設備成本較高 Higher initial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調校與記錄</a:t>
            </a:r>
          </a:p>
          <a:p>
            <a:r>
              <a:rPr sz="2000">
                <a:latin typeface="Arial"/>
              </a:rPr>
              <a:t>Tuning and Recording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每次只改一項：角度／重量／摩擦 Change ONE thing at a time</a:t>
            </a:r>
          </a:p>
          <a:p>
            <a:pPr/>
            <a:r>
              <a:rPr sz="2400">
                <a:latin typeface="Arial"/>
              </a:rPr>
              <a:t>•  記錄：調校項目、調校前成績、調校後成績 Record: item, before, after</a:t>
            </a:r>
          </a:p>
          <a:p>
            <a:pPr/>
            <a:r>
              <a:rPr sz="2400">
                <a:latin typeface="Arial"/>
              </a:rPr>
              <a:t>•  比較數據，判斷調校是否有效 Compare data to judge effectiveness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比賽規則</a:t>
            </a:r>
          </a:p>
          <a:p>
            <a:r>
              <a:rPr sz="2000">
                <a:latin typeface="Arial"/>
              </a:rPr>
              <a:t>Race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戶外直線競速 Outdoor straight-line sprint</a:t>
            </a:r>
          </a:p>
          <a:p>
            <a:pPr/>
            <a:r>
              <a:rPr sz="2400">
                <a:latin typeface="Arial"/>
              </a:rPr>
              <a:t>•  每組兩次，取最佳成績 Two runs per group; best counts</a:t>
            </a:r>
          </a:p>
          <a:p>
            <a:pPr/>
            <a:r>
              <a:rPr sz="2400">
                <a:latin typeface="Arial"/>
              </a:rPr>
              <a:t>•  跑道平坦，起終點線清晰 Flat track, clear start/finish 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安全須知</a:t>
            </a:r>
          </a:p>
          <a:p>
            <a:r>
              <a:rPr sz="2000">
                <a:latin typeface="Arial"/>
              </a:rPr>
              <a:t>Safety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太陽能板輕放，防壓裂；用後抹乾淨 Handle panel gently; wipe after use</a:t>
            </a:r>
          </a:p>
          <a:p>
            <a:pPr/>
            <a:r>
              <a:rPr sz="2400">
                <a:latin typeface="Arial"/>
              </a:rPr>
              <a:t>•  鉛筆芯粉避免吸入 Avoid inhaling graphite powder</a:t>
            </a:r>
          </a:p>
          <a:p>
            <a:pPr/>
            <a:r>
              <a:rPr sz="2400">
                <a:latin typeface="Arial"/>
              </a:rPr>
              <a:t>•  戶外遵守教師指示，不離開指定範圍 Stay in the designated area outdoors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總結與反思</a:t>
            </a:r>
          </a:p>
          <a:p>
            <a:r>
              <a:rPr sz="2000">
                <a:latin typeface="Arial"/>
              </a:rPr>
              <a:t>Summary and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光能 → 電能 → 動能；調校三方向 Light → electrical → kinetic; three tuning directions</a:t>
            </a:r>
          </a:p>
          <a:p>
            <a:pPr/>
            <a:r>
              <a:rPr sz="2400">
                <a:latin typeface="Arial"/>
              </a:rPr>
              <a:t>•  數據比較是工程探究的方法 Data comparison is the engineering method</a:t>
            </a:r>
          </a:p>
          <a:p>
            <a:pPr/>
            <a:r>
              <a:rPr sz="2400">
                <a:latin typeface="Arial"/>
              </a:rPr>
              <a:t>•  關愛反思：再生能源如何幫助偏遠社群獲得電力？ Caring reflection: how can renewables bring power to remote communities?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09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3820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0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3820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