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6
意粉橋</a:t>
            </a:r>
          </a:p>
          <a:p>
            <a:pPr algn="ctr"/>
            <a:r>
              <a:rPr sz="2400">
                <a:latin typeface="Arial"/>
              </a:rPr>
              <a:t>Spaghetti Bridge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乾意粉 Dry spaghetti × 約 100 克</a:t>
            </a:r>
          </a:p>
          <a:p>
            <a:pPr/>
            <a:r>
              <a:rPr sz="1600">
                <a:eaTypeface typeface="微軟正黑體"/>
              </a:rPr>
              <a:t>白膠漿 White glue × 1 支</a:t>
            </a:r>
          </a:p>
          <a:p>
            <a:pPr/>
            <a:r>
              <a:rPr sz="1600">
                <a:eaTypeface typeface="微軟正黑體"/>
              </a:rPr>
              <a:t>電子磅（全班共用） Electronic scales (shared) × 每班 2–3 個</a:t>
            </a:r>
          </a:p>
          <a:p>
            <a:pPr/>
            <a:r>
              <a:rPr sz="1600">
                <a:eaTypeface typeface="微軟正黑體"/>
              </a:rPr>
              <a:t>砝碼／硬幣（作負重，教師準備） Weights / coins for loading (teacher-prepared) × 1 套</a:t>
            </a:r>
          </a:p>
          <a:p>
            <a:pPr/>
            <a:r>
              <a:rPr sz="1600">
                <a:eaTypeface typeface="微軟正黑體"/>
              </a:rPr>
              <a:t>墊板、鉸剪 Cutting mats, scissors × 每組 1 套</a:t>
            </a:r>
          </a:p>
          <a:p>
            <a:pPr/>
            <a:r>
              <a:rPr sz="1600">
                <a:eaTypeface typeface="微軟正黑體"/>
              </a:rPr>
              <a:t>工作紙 Worksheet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解釋三角形比四邊形穩定的原因 Explain why triangles beat quadrilaterals</a:t>
            </a:r>
          </a:p>
          <a:p>
            <a:pPr/>
            <a:r>
              <a:rPr sz="2400">
                <a:latin typeface="Arial"/>
              </a:rPr>
              <a:t>•  搭建跨距不少於 30 厘米的意粉橋 Build a spaghetti bridge spanning ≥ 30 cm</a:t>
            </a:r>
          </a:p>
          <a:p>
            <a:pPr/>
            <a:r>
              <a:rPr sz="2400">
                <a:latin typeface="Arial"/>
              </a:rPr>
              <a:t>•  計算效率值；清楚解釋一個取捨決定 Calculate efficiency; explain one trade-off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為甚麼三角形最穩定？</a:t>
            </a:r>
          </a:p>
          <a:p>
            <a:r>
              <a:rPr sz="2000">
                <a:latin typeface="Arial"/>
              </a:rPr>
              <a:t>Why Are Triangles Most Stable?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三邊固定 → 形狀唯一確定 → 擠壓不變形 Fixed sides → fixed shape → resists squeezing</a:t>
            </a:r>
          </a:p>
          <a:p>
            <a:pPr/>
            <a:r>
              <a:rPr sz="2400">
                <a:latin typeface="Arial"/>
              </a:rPr>
              <a:t>•  四邊形：邊長固定仍可變形（正方形 → 菱形） Quadrilateral: fixed sides can still deform</a:t>
            </a:r>
          </a:p>
          <a:p>
            <a:pPr/>
            <a:r>
              <a:rPr sz="2400">
                <a:latin typeface="Arial"/>
              </a:rPr>
              <a:t>•  橋樑桁架＝無數三角形單元，分散外力 Truss = many triangular units spreading forces</a:t>
            </a:r>
          </a:p>
          <a:p>
            <a:pPr/>
            <a:r>
              <a:rPr sz="2400">
                <a:latin typeface="Arial"/>
              </a:rPr>
              <a:t>•  接駁點是弱點，須特別加固 Joints are weak points — reinforce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雙評分制</a:t>
            </a:r>
          </a:p>
          <a:p>
            <a:r>
              <a:rPr sz="2000">
                <a:latin typeface="Arial"/>
              </a:rPr>
              <a:t>Dual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「承重王」：最大承重最高 "Load Champion": greatest maximum load</a:t>
            </a:r>
          </a:p>
          <a:p>
            <a:pPr/>
            <a:r>
              <a:rPr sz="2400">
                <a:latin typeface="Arial"/>
              </a:rPr>
              <a:t>•  「效率王」：效率值最高 "Efficiency Champion": highest efficiency</a:t>
            </a:r>
          </a:p>
          <a:p>
            <a:pPr/>
            <a:r>
              <a:rPr sz="2400">
                <a:latin typeface="Arial"/>
              </a:rPr>
              <a:t>•  效率值 ＝ 最大承重 ÷ 橋身重量 Efficiency = max load ÷ bridge weight</a:t>
            </a:r>
          </a:p>
          <a:p>
            <a:pPr/>
            <a:r>
              <a:rPr sz="2400">
                <a:latin typeface="Arial"/>
              </a:rPr>
              <a:t>•  意義：每一克物料換來多少承重 Meaning: load bought per gram of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數字例子</a:t>
            </a:r>
          </a:p>
          <a:p>
            <a:r>
              <a:rPr sz="2000">
                <a:latin typeface="Arial"/>
              </a:rPr>
              <a:t>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A 組：橋重 50 g，承重 2,000 g → 效率值 40 Group A: 2000 ÷ 50 = 40</a:t>
            </a:r>
          </a:p>
          <a:p>
            <a:pPr/>
            <a:r>
              <a:rPr sz="2400">
                <a:latin typeface="Arial"/>
              </a:rPr>
              <a:t>•  B 組：橋重 90 g，承重 2,700 g → 效率值 30 Group B: 2700 ÷ 90 = 30</a:t>
            </a:r>
          </a:p>
          <a:p>
            <a:pPr/>
            <a:r>
              <a:rPr sz="2400">
                <a:latin typeface="Arial"/>
              </a:rPr>
              <a:t>•  B 組承重較高，但 A 組效率更高 —— 取捨！ B carries more, but A is more efficient — trade-off!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取捨：工程的核心</a:t>
            </a:r>
          </a:p>
          <a:p>
            <a:r>
              <a:rPr sz="2000">
                <a:latin typeface="Arial"/>
              </a:rPr>
              <a:t>Trade-off: The Heart of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加強某部分 → 增加重量或成本 Strengthening adds weight or cost</a:t>
            </a:r>
          </a:p>
          <a:p>
            <a:pPr/>
            <a:r>
              <a:rPr sz="2400">
                <a:latin typeface="Arial"/>
              </a:rPr>
              <a:t>•  「承重愈高愈好」vs「橋身愈輕愈好」 "Heavier load" vs "lighter bridge"</a:t>
            </a:r>
          </a:p>
          <a:p>
            <a:pPr/>
            <a:r>
              <a:rPr sz="2400">
                <a:latin typeface="Arial"/>
              </a:rPr>
              <a:t>•  盲目加料：重量必增，承重未必成正比 More material: weight always rises, load may 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搭建要點</a:t>
            </a:r>
          </a:p>
          <a:p>
            <a:r>
              <a:rPr sz="2000">
                <a:latin typeface="Arial"/>
              </a:rPr>
              <a:t>Construction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膠水只塗於接點；小段意粉加固弱點 Glue only at joints; reinforce with short segments</a:t>
            </a:r>
          </a:p>
          <a:p>
            <a:pPr/>
            <a:r>
              <a:rPr sz="2400">
                <a:latin typeface="Arial"/>
              </a:rPr>
              <a:t>•  及早完成主體，預留時間讓膠水乾透 Finish early so glue dries</a:t>
            </a:r>
          </a:p>
          <a:p>
            <a:pPr/>
            <a:r>
              <a:rPr sz="2400">
                <a:latin typeface="Arial"/>
              </a:rPr>
              <a:t>•  繪畫正視圖設計圖，標示尺寸 Draw front-elevation design with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承重測試流程</a:t>
            </a:r>
          </a:p>
          <a:p>
            <a:r>
              <a:rPr sz="2000">
                <a:latin typeface="Arial"/>
              </a:rPr>
              <a:t>Load Test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量度橋身重量 Weigh the bridge</a:t>
            </a:r>
          </a:p>
          <a:p>
            <a:pPr/>
            <a:r>
              <a:rPr sz="2400">
                <a:latin typeface="Arial"/>
              </a:rPr>
              <a:t>•  架在兩個支座上，橋下放軟墊 Span across supports; soft mat underneath</a:t>
            </a:r>
          </a:p>
          <a:p>
            <a:pPr/>
            <a:r>
              <a:rPr sz="2400">
                <a:latin typeface="Arial"/>
              </a:rPr>
              <a:t>•  逐漸加重至斷裂，記錄最大承重 Add load gradually until break; record max load</a:t>
            </a:r>
          </a:p>
          <a:p>
            <a:pPr/>
            <a:r>
              <a:rPr sz="2400">
                <a:latin typeface="Arial"/>
              </a:rPr>
              <a:t>•  計算效率值 Calculate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鉸剪小心使用 Use scissors carefully</a:t>
            </a:r>
          </a:p>
          <a:p>
            <a:pPr/>
            <a:r>
              <a:rPr sz="2400">
                <a:latin typeface="Arial"/>
              </a:rPr>
              <a:t>•  橋下放軟墊承接重物 Soft mat under the bridge</a:t>
            </a:r>
          </a:p>
          <a:p>
            <a:pPr/>
            <a:r>
              <a:rPr sz="2400">
                <a:latin typeface="Arial"/>
              </a:rPr>
              <a:t>•  加重動作要輕 Add weights gently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總結與反思</a:t>
            </a:r>
          </a:p>
          <a:p>
            <a:r>
              <a:rPr sz="2000">
                <a:latin typeface="Arial"/>
              </a:rPr>
              <a:t>Summary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三角形＝桁架基本單元；效率值量度物料效益 Triangle = truss unit; efficiency measures material value</a:t>
            </a:r>
          </a:p>
          <a:p>
            <a:pPr/>
            <a:r>
              <a:rPr sz="2400">
                <a:latin typeface="Arial"/>
              </a:rPr>
              <a:t>•  取捨無處不在：設計就是選擇 Trade-offs everywhere: design is choice</a:t>
            </a:r>
          </a:p>
          <a:p>
            <a:pPr/>
            <a:r>
              <a:rPr sz="2400">
                <a:latin typeface="Arial"/>
              </a:rPr>
              <a:t>•  關愛反思：輕量化設計如何惠及資源匱乏的社群？ Caring reflection: how does lightweight design help resource-scarce communities?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6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480" y="777240"/>
            <a:ext cx="4375039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1129"/>
            <a:ext cx="7772400" cy="4015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