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5" r:id="rId16"/>
    <p:sldId id="267" r:id="rId18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6" r:id="rId17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2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AC8EB"/>
                </a:solidFill>
                <a:latin typeface="Arial"/>
                <a:ea typeface="Microsoft JhengHei"/>
              </a:rPr>
              <a:t>S2 單元四：AI 進階與倫理深化</a:t>
            </a:r>
          </a:p>
          <a:p>
            <a:pPr algn="ctr"/>
            <a:r>
              <a:rPr sz="1600" b="0" i="1">
                <a:solidFill>
                  <a:srgbClr val="AAC8EB"/>
                </a:solidFill>
                <a:latin typeface="Arial"/>
                <a:ea typeface="Microsoft JhengHei"/>
              </a:rPr>
              <a:t>S2 Unit 4: Advanced AI and Deepening of AI Ethics</a:t>
            </a:r>
          </a:p>
          <a:p>
            <a:pPr algn="ctr">
              <a:spcBef>
                <a:spcPts val="1800"/>
              </a:spcBef>
            </a:pPr>
            <a:r>
              <a:rPr sz="4400" b="1" i="0">
                <a:solidFill>
                  <a:srgbClr val="FFFFFF"/>
                </a:solidFill>
                <a:latin typeface="Arial"/>
                <a:ea typeface="Microsoft JhengHei"/>
              </a:rPr>
              <a:t>第 17 堂｜Prompt 進階</a:t>
            </a:r>
          </a:p>
          <a:p>
            <a:pPr algn="ctr"/>
            <a:r>
              <a:rPr sz="2600" b="0" i="0">
                <a:solidFill>
                  <a:srgbClr val="E1EBFA"/>
                </a:solidFill>
                <a:latin typeface="Arial"/>
                <a:ea typeface="Microsoft JhengHei"/>
              </a:rPr>
              <a:t>Lesson 17 | Advanced Prompting</a:t>
            </a:r>
          </a:p>
          <a:p>
            <a:pPr algn="ctr">
              <a:spcBef>
                <a:spcPts val="2400"/>
              </a:spcBef>
            </a:pPr>
            <a:r>
              <a:rPr sz="1800" b="0" i="0">
                <a:solidFill>
                  <a:srgbClr val="C8D7F0"/>
                </a:solidFill>
                <a:latin typeface="Arial"/>
                <a:ea typeface="Microsoft JhengHei"/>
              </a:rPr>
              <a:t>角色扮演＋多輪對話，生成社區關愛計劃書初稿</a:t>
            </a:r>
          </a:p>
          <a:p>
            <a:pPr algn="ctr"/>
            <a:r>
              <a:rPr sz="1500" b="0" i="1">
                <a:solidFill>
                  <a:srgbClr val="C8D7F0"/>
                </a:solidFill>
                <a:latin typeface="Arial"/>
                <a:ea typeface="Microsoft JhengHei"/>
              </a:rPr>
              <a:t>Role-Play + Multi-Turn Dialogue for a Community Care Plan 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物資表 Materials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eaTypeface typeface="微軟正黑體"/>
              </a:rPr>
              <a:t>可上網手提電腦或平板電腦 × 每組 1 部，全班約 6–8 部</a:t>
            </a:r>
          </a:p>
          <a:p>
            <a:pPr/>
            <a:r>
              <a:rPr sz="1600">
                <a:eaTypeface typeface="微軟正黑體"/>
              </a:rPr>
              <a:t>工作紙「進階提示詞實戰紀錄」 × 每人 1 張</a:t>
            </a:r>
          </a:p>
          <a:p>
            <a:pPr/>
            <a:r>
              <a:rPr sz="1600">
                <a:eaTypeface typeface="微軟正黑體"/>
              </a:rPr>
              <a:t>「對話起點卡」 × 每組 1 張（老師預先印製，可重用）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3A5F"/>
                </a:solidFill>
                <a:latin typeface="Arial"/>
                <a:ea typeface="Microsoft JhengHei"/>
              </a:rPr>
              <a:t>本堂學習目標</a:t>
            </a:r>
          </a:p>
          <a:p>
            <a:r>
              <a:rPr sz="1800" b="0" i="1">
                <a:solidFill>
                  <a:srgbClr val="6E82A0"/>
                </a:solidFill>
                <a:latin typeface="Arial"/>
                <a:ea typeface="Microsoft JhengHei"/>
              </a:rPr>
              <a:t>Lesson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準確列出三種進階提示詞策略。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Accurately list three advanced prompting strategies.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運用至少兩種策略，與 AI 進行三輪或以上的對話。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Use at least two strategies in a dialogue of three or more turns with the AI.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整理出一份包含目標、對象、活動內容、時間表的計劃書初稿。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Compile a first draft covering objectives, target participants, activities and schedule.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指出 AI 初稿中至少一處需要人工修正的不合理之處。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Identify at least one unreasonable point in the AI draft needing human correction.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3A5F"/>
                </a:solidFill>
                <a:latin typeface="Arial"/>
                <a:ea typeface="Microsoft JhengHei"/>
              </a:rPr>
              <a:t>三種進階策略</a:t>
            </a:r>
          </a:p>
          <a:p>
            <a:r>
              <a:rPr sz="1800" b="0" i="1">
                <a:solidFill>
                  <a:srgbClr val="6E82A0"/>
                </a:solidFill>
                <a:latin typeface="Arial"/>
                <a:ea typeface="Microsoft JhengHei"/>
              </a:rPr>
              <a:t>Three Advanced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① 角色扮演：指定 AI 扮演特定身份，輸出更貼合情境。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1. Role-play: assign the AI an identity; output fits the context better.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② 多輪對話：追問、修正、收窄範圍，而非一次問完。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2. Multi-turn dialogue: follow up, revise, narrow — not one-shot.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③ 設定限制條件：對象、預算、人數、時間，令計劃可行。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3. Setting constraints: audience, budget, headcount, time — make plans feasible.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3A5F"/>
                </a:solidFill>
                <a:latin typeface="Arial"/>
                <a:ea typeface="Microsoft JhengHei"/>
              </a:rPr>
              <a:t>對話起點卡示例</a:t>
            </a:r>
          </a:p>
          <a:p>
            <a:r>
              <a:rPr sz="1800" b="0" i="1">
                <a:solidFill>
                  <a:srgbClr val="6E82A0"/>
                </a:solidFill>
                <a:latin typeface="Arial"/>
                <a:ea typeface="Microsoft JhengHei"/>
              </a:rPr>
              <a:t>Sample Dialogue Starter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「請你扮演社區中心社工，為 70 歲以上獨居長者設計一個半日關愛活動，預算 500 元，參加人數約 20 人。」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"Please act as a community centre social worker and design a half-day care activity for elderly people aged 70+ living alone, budget $500, about 20 participants."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一句起點，同時用了三種策略。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One starter line using all three strategies.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起點具體，後續追問才有方向。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A concrete start gives follow-up questions direction.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3A5F"/>
                </a:solidFill>
                <a:latin typeface="Arial"/>
                <a:ea typeface="Microsoft JhengHei"/>
              </a:rPr>
              <a:t>多輪對話三個動作</a:t>
            </a:r>
          </a:p>
          <a:p>
            <a:r>
              <a:rPr sz="1800" b="0" i="1">
                <a:solidFill>
                  <a:srgbClr val="6E82A0"/>
                </a:solidFill>
                <a:latin typeface="Arial"/>
                <a:ea typeface="Microsoft JhengHei"/>
              </a:rPr>
              <a:t>Three Moves in Multi-Turn Dialogue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追問：問得更深。「預算只有 500 元，茶點和物資怎樣分配？」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Follow up: go deeper. "With only $500, how should refreshments and materials be split?"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修正：指出不對，請 AI 重寫。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Revise: point out what is wrong and ask the AI to rewrite.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收窄範圍：由大方向落到細節。「請列出預算表。」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Narrow the scope: from big picture to details. "Please list a budget breakdown."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3A5F"/>
                </a:solidFill>
                <a:latin typeface="Arial"/>
                <a:ea typeface="Microsoft JhengHei"/>
              </a:rPr>
              <a:t>AI 會一本正經地出錯</a:t>
            </a:r>
          </a:p>
          <a:p>
            <a:r>
              <a:rPr sz="1800" b="0" i="1">
                <a:solidFill>
                  <a:srgbClr val="6E82A0"/>
                </a:solidFill>
                <a:latin typeface="Arial"/>
                <a:ea typeface="Microsoft JhengHei"/>
              </a:rPr>
              <a:t>AI Produces Errors with a Straight 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AI 有時用流暢自信的語氣寫出錯誤內容（稱為「幻覺」）。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AI sometimes writes wrong content in a fluent, confident tone ("hallucination").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例：建議「早上 6 時集合，步行 5 公里」給 70 歲以上長者。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E.g. suggesting "assemble at 6 am for a 5 km walk" for people aged 70+.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所以：初稿必須人工審核、改寫，並說得出改了甚麼。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Therefore: drafts must be human-reviewed and rewritten, with changes explained.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3A5F"/>
                </a:solidFill>
                <a:latin typeface="Arial"/>
                <a:ea typeface="Microsoft JhengHei"/>
              </a:rPr>
              <a:t>誠信界線</a:t>
            </a:r>
          </a:p>
          <a:p>
            <a:r>
              <a:rPr sz="1800" b="0" i="1">
                <a:solidFill>
                  <a:srgbClr val="6E82A0"/>
                </a:solidFill>
                <a:latin typeface="Arial"/>
                <a:ea typeface="Microsoft JhengHei"/>
              </a:rPr>
              <a:t>The Integrity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AI 是「草稿助手」，不是代筆。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AI is a "drafting assistant", not a ghostwriter.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直接複製全文當作自己作品＝不誠實。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Copying the full text as your own work = dishonest.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正確做法：檢查、改寫、刪減，說得出修改原因。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Correct practice: check, rewrite, trim — and explain the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3A5F"/>
                </a:solidFill>
                <a:latin typeface="Arial"/>
                <a:ea typeface="Microsoft JhengHei"/>
              </a:rPr>
              <a:t>分組活動</a:t>
            </a:r>
          </a:p>
          <a:p>
            <a:r>
              <a:rPr sz="1800" b="0" i="1">
                <a:solidFill>
                  <a:srgbClr val="6E82A0"/>
                </a:solidFill>
                <a:latin typeface="Arial"/>
                <a:ea typeface="Microsoft JhengHei"/>
              </a:rPr>
              <a:t>Group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4–5 人一組，共用一部裝置，輪流操作。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Groups of 4–5 share one device, taking turns.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用起點卡開始 → 至少三輪對話 → 用至少兩種策略。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Start with the starter card → at least three rounds → use at least two strategies.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整理計劃書初稿（目標、對象、活動內容、時間表）。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Compile the first draft (objectives, audience, activities, schedule).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小組互評：四部分是否齊全？有無不合理之處？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Peer review: are all four parts present? Anything unreasonable?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3A5F"/>
                </a:solidFill>
                <a:latin typeface="Arial"/>
                <a:ea typeface="Microsoft JhengHei"/>
              </a:rPr>
              <a:t>總結</a:t>
            </a:r>
          </a:p>
          <a:p>
            <a:r>
              <a:rPr sz="1800" b="0" i="1">
                <a:solidFill>
                  <a:srgbClr val="6E82A0"/>
                </a:solidFill>
                <a:latin typeface="Arial"/>
                <a:ea typeface="Microsoft JhengHe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角色扮演＋多輪對話＋限制條件＝更可行的計劃。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Role-play + multi-turn dialogue + constraints = a more workable plan.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AI 初稿必須人工審核；說得出改了甚麼。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AI drafts must be human-reviewed; explain what was changed.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下堂預告：AI 倫理個案研討——deepfake 騙案與 AI 招聘偏見。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Next lesson: AI ethics case study — deepfake fraud and AI hiring bias.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-l17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476" y="381000"/>
            <a:ext cx="91440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-l17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476" y="381000"/>
            <a:ext cx="9144000" cy="609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