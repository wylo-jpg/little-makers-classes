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聖公會呂明才中學 S.K.H. Lui Ming Choi Secondary School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創科班 Little Makers Class</a:t>
            </a:r>
          </a:p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rFonts latin="Arial" ea="Microsoft JhengHei" cs="Arial"/>
              </a:rPr>
              <a:t>第 21 堂 Lesson 21</a:t>
            </a:r>
          </a:p>
          <a:p>
            <a:pPr algn="ctr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rFonts latin="Arial" ea="Microsoft JhengHei" cs="Arial"/>
              </a:rPr>
              <a:t>社區實測：探訪／訪問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Community Fieldwork: Visit and Interview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學生筆記 Student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問卷及記錄表（影印） Questionnaire and record sheets (photocopied) × 每組 6 份 6 copies per group</a:t>
            </a:r>
          </a:p>
          <a:p>
            <a:pPr/>
            <a:r>
              <a:rPr sz="1600">
                <a:eaTypeface typeface="微軟正黑體"/>
              </a:rPr>
              <a:t>文件夾（可重用） Folder (reusable) × 每組 1 個 1 per group</a:t>
            </a:r>
          </a:p>
          <a:p>
            <a:pPr/>
            <a:r>
              <a:rPr sz="1600">
                <a:eaTypeface typeface="微軟正黑體"/>
              </a:rPr>
              <a:t>感謝卡 Thank-you cards × 每位受訪者 1 張 1 per interviewee</a:t>
            </a:r>
          </a:p>
          <a:p>
            <a:pPr/>
            <a:r>
              <a:rPr sz="1600">
                <a:eaTypeface typeface="微軟正黑體"/>
              </a:rPr>
              <a:t>原子筆 Ball pens × 每組 2 枝 2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課堂目標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Lesson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按照問卷向用家提出至少五條提問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Ask users at least five questions from the questionnaire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準確記錄用家回應的重點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Record the key points of users’ responses accurately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整理出至少三項針對設計的具體回饋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Extract at least three specific pieces of feedback on the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什麼是實地調研？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What Is Fieldwork?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離開課室，到用家真實生活場景收集資料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Leave the classroom; collect data in users’ real-life settings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對象：真正用家（長者中心長者／校內工友）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Interview genuine users (elderly centre / school workers)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目的：找出真實困難，讓改良有根有據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Goal: uncover real difficulties to ground improvements in evidence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四步：準備 → 訪問 → 整理 → 歸納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Four steps: prepare → interview → organise → summarise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問卷設計三原則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Three Questionnaire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一、開放式為主：「最大的困難是什麼？」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1. Mainly open-ended: “What is the biggest difficulty?”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二、不問引導式問題（不暗示答案）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2. No leading questions (never hint at the answer)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三、由淺入深，五至六條，十五分鐘內完成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3. Easy to deep; 5–6 questions; finish within 15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範例問卷（填上產品名稱）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Sample Questionnaire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1. 使用＿＿時，遇到最大的困難是什麼？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2. 這個困難通常在什麼情況下出現？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3. 你現在用什麼方法應付？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4. 我們的設計有什麼地方需要改善？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5. 只能改善一個地方，你最希望是哪一個？為什麼？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追問技巧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Probing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「可以舉一個具體的例子嗎？」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“Could you give a specific example?”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「這件事通常在什麼情況下出現？」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“In what situations does this usually happen?”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「這件事對你造成多大的不便？」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“How much inconvenience does this cause you?”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先閒聊建立關係，再深入問產品問題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Build rapport with small talk first, then go deep on the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訪談禮儀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Interview Etiquette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先自報姓名及來意，徵求用家同意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Introduce yourself and your purpose; seek consent first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準時開始，控制在十五分鐘內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Start on time; keep it within fifteen minutes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有耐心：聲量稍大、語速稍慢，可配合示範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Be patient: speak a little louder and slower; demonstrate if needed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結束時致謝並送上感謝卡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Thank the user and present a thank-you card at the 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分辨真實回饋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Spotting Genuine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客套讚美（「幾好呀」）≠ 有用回饋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Polite praise (“quite good”) ≠ useful feedback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有用回饋＝附帶具體事例或困難描述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Useful feedback = with concrete examples or difficulties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例：「按鈕太小，我成日按錯」→ 改良：加大按鈕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E.g. “buttons too small, I mis-press” → enlarge buttons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聽到讚美就追問「什麼時候」「有多困難」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On hearing praise, probe with “when” and “how difficult”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分組任務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Group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角色：提問員 1 名、記錄員 1–2 名、觀察員 1 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Roles: 1 interviewer, 1–2 note-takers, 1 observer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記錄表三欄：提問／用家回應／重點摘要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Record sheet: question / user’s response / key points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先做訪問演練：互扮用家與提問員，互相評分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Rehearse first: role-play user and interviewer, assess each other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安全：外出由教師帶隊，遵守學校外出活動指引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Safety: teacher-led outing; follow school outing guidelines</a:t>
            </a:r>
          </a:p>
        </p:txBody>
      </p:sp>
      <p:pic>
        <p:nvPicPr>
          <p:cNvPr id="5" name="Picture 4" descr="s2-l21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00" y="4926001"/>
            <a:ext cx="252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總結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四步：準備 → 訪問 → 整理 → 歸納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Four steps: prepare → interview → organise → summarise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三原則：開放式、不引導、由淺入深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Three principles: open-ended, no leading, easy-to-deep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三句式：「舉個例子」「什麼情況下」「多大不便」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Three probes: “example”, “situations”, “inconvenience”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家課：撰寫「用家回饋摘要」（≥3 項具體回饋＋1 項個人觀察）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Homework: write the “user feedback summary” (≥3 specific items + 1 observation)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2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09000"/>
            <a:ext cx="7560000" cy="50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