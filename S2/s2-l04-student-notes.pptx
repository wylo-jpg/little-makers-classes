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4
液壓機械臂</a:t>
            </a:r>
          </a:p>
          <a:p>
            <a:pPr algn="ctr"/>
            <a:r>
              <a:rPr sz="2400">
                <a:latin typeface="Arial"/>
              </a:rPr>
              <a:t>Hydraulic Robotic Arm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針筒（10 毫升，不連針頭） Syringes (10 mL, without needles) × 4 支</a:t>
            </a:r>
          </a:p>
          <a:p>
            <a:pPr/>
            <a:r>
              <a:rPr sz="1600">
                <a:eaTypeface typeface="微軟正黑體"/>
              </a:rPr>
              <a:t>透明膠喉（約 50 厘米） Plastic tubing (approx. 50 cm) × 2 條</a:t>
            </a:r>
          </a:p>
          <a:p>
            <a:pPr/>
            <a:r>
              <a:rPr sz="1600">
                <a:eaTypeface typeface="微軟正黑體"/>
              </a:rPr>
              <a:t>紙皮／卡紙 Cardboard × 2 塊</a:t>
            </a:r>
          </a:p>
          <a:p>
            <a:pPr/>
            <a:r>
              <a:rPr sz="1600">
                <a:eaTypeface typeface="微軟正黑體"/>
              </a:rPr>
              <a:t>熱熔膠槍及膠條（全班共用） Glue guns and glue sticks (shared) × 每班 4–5 把</a:t>
            </a:r>
          </a:p>
          <a:p>
            <a:pPr/>
            <a:r>
              <a:rPr sz="1600">
                <a:eaTypeface typeface="微軟正黑體"/>
              </a:rPr>
              <a:t>膠紙 Adhesive tape × 1 卷</a:t>
            </a:r>
          </a:p>
          <a:p>
            <a:pPr/>
            <a:r>
              <a:rPr sz="1600">
                <a:eaTypeface typeface="微軟正黑體"/>
              </a:rPr>
              <a:t>波子及目標杯 Marbles and target cup × 5 粒＋1 隻杯</a:t>
            </a:r>
          </a:p>
          <a:p>
            <a:pPr/>
            <a:r>
              <a:rPr sz="1600">
                <a:eaTypeface typeface="微軟正黑體"/>
              </a:rPr>
              <a:t>水、杯、紙巾 Water, cups, paper towels × 1 套</a:t>
            </a:r>
          </a:p>
          <a:p>
            <a:pPr/>
            <a:r>
              <a:rPr sz="1600">
                <a:eaTypeface typeface="微軟正黑體"/>
              </a:rPr>
              <a:t>工作紙 Worksheet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說出帕斯卡原理，並解釋液壓傳動的運作方式 State Pascal's principle and explain hydraulic transmission</a:t>
            </a:r>
          </a:p>
          <a:p>
            <a:pPr/>
            <a:r>
              <a:rPr sz="2400">
                <a:latin typeface="Arial"/>
              </a:rPr>
              <a:t>•  製作液壓機械臂，限時夾起最少三粒波子 Build a hydraulic arm; pick up at least 3 marbles in the time limit</a:t>
            </a:r>
          </a:p>
          <a:p>
            <a:pPr/>
            <a:r>
              <a:rPr sz="2400">
                <a:latin typeface="Arial"/>
              </a:rPr>
              <a:t>•  舉出兩個液壓技術的現實應用 Give two real-life applications of hydraulics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帕斯卡原理</a:t>
            </a:r>
          </a:p>
          <a:p>
            <a:r>
              <a:rPr sz="2000">
                <a:latin typeface="Arial"/>
              </a:rPr>
              <a:t>Pascal's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施加於密閉容器內靜止液體的壓力，會以相同大小傳遞到液體每一部分 Pressure applied to an enclosed fluid is transmitted undiminished to every part</a:t>
            </a:r>
          </a:p>
          <a:p>
            <a:pPr/>
            <a:r>
              <a:rPr sz="2400">
                <a:latin typeface="Arial"/>
              </a:rPr>
              <a:t>•  液體近乎不可壓縮 —— 這是液壓傳動的關鍵 Liquids are virtually incompressible — the key to hydraulic transmission</a:t>
            </a:r>
          </a:p>
          <a:p>
            <a:pPr/>
            <a:r>
              <a:rPr sz="2400">
                <a:latin typeface="Arial"/>
              </a:rPr>
              <a:t>•  推動一端 → 壓力經液體即時傳到另一端 → 推動活塞 Push one end → pressure travels through the liquid → pushes the far piston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力的放大</a:t>
            </a:r>
          </a:p>
          <a:p>
            <a:r>
              <a:rPr sz="2000">
                <a:latin typeface="Arial"/>
              </a:rPr>
              <a:t>Force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壓力 P ＝ 力 F ÷ 面積 A；兩邊壓力相等：F₁/A₁ ＝ F₂/A₂ P = F/A; equal pressure both sides: F₁/A₁ = F₂/A₂</a:t>
            </a:r>
          </a:p>
          <a:p>
            <a:pPr/>
            <a:r>
              <a:rPr sz="2400">
                <a:latin typeface="Arial"/>
              </a:rPr>
              <a:t>•  數字例子：小針筒 1 cm² 推 6 N → 大針筒 4 cm² 得 24 N（4 倍） Example: 1 cm² pushed with 6 N → 4 cm² gives 24 N (4×)</a:t>
            </a:r>
          </a:p>
          <a:p>
            <a:pPr/>
            <a:r>
              <a:rPr sz="2400">
                <a:latin typeface="Arial"/>
              </a:rPr>
              <a:t>•  代價：體積守恆（A₁d₁ ＝ A₂d₂），大針筒行程只有 1/4 Trade-off: volume conserved, so the large syringe travels only 1/4 of the distance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液壓系統三要素</a:t>
            </a:r>
          </a:p>
          <a:p>
            <a:r>
              <a:rPr sz="2000">
                <a:latin typeface="Arial"/>
              </a:rPr>
              <a:t>Three Elements of a Hydraulic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密閉液體（用水）：不可壓縮，傳遞壓力 Enclosed liquid (water): incompressible, transmits pressure</a:t>
            </a:r>
          </a:p>
          <a:p>
            <a:pPr/>
            <a:r>
              <a:rPr sz="2400">
                <a:latin typeface="Arial"/>
              </a:rPr>
              <a:t>•  壓力傳遞：推一端，即時到另一端 Pressure transmission: instant from one end to the other</a:t>
            </a:r>
          </a:p>
          <a:p>
            <a:pPr/>
            <a:r>
              <a:rPr sz="2400">
                <a:latin typeface="Arial"/>
              </a:rPr>
              <a:t>•  活塞面積：面積差決定力量放大或縮小 Piston area: area difference sets force multiplication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現實應用</a:t>
            </a:r>
          </a:p>
          <a:p>
            <a:r>
              <a:rPr sz="2000">
                <a:latin typeface="Arial"/>
              </a:rPr>
              <a:t>Real-life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液壓挖土機：控制桿小動作 → 液壓油放大 → 推動沉重挖臂 Excavator: small lever movements amplified to drive the heavy arm</a:t>
            </a:r>
          </a:p>
          <a:p>
            <a:pPr/>
            <a:r>
              <a:rPr sz="2400">
                <a:latin typeface="Arial"/>
              </a:rPr>
              <a:t>•  汽車制動：腳踏力經煞車油傳到四個車輪 Car brakes: pedal force transmitted by brake fluid to all four wheels</a:t>
            </a:r>
          </a:p>
          <a:p>
            <a:pPr/>
            <a:r>
              <a:rPr sz="2400">
                <a:latin typeface="Arial"/>
              </a:rPr>
              <a:t>•  液壓千斤頂：小力抬起汽車 Hydraulic jack: a small force lifts a car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製作步驟</a:t>
            </a:r>
          </a:p>
          <a:p>
            <a:r>
              <a:rPr sz="2000">
                <a:latin typeface="Arial"/>
              </a:rPr>
              <a:t>Construction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按設計圖組裝：底座、臂身、液壓夾 Assemble: base, arm, hydraulic gripper</a:t>
            </a:r>
          </a:p>
          <a:p>
            <a:pPr/>
            <a:r>
              <a:rPr sz="2400">
                <a:latin typeface="Arial"/>
              </a:rPr>
              <a:t>•  接駁水管必須穩固；注水時針筒垂直向上，慢慢推走氣泡 Secure tubing joints; hold syringes vertically and expel air slowly</a:t>
            </a:r>
          </a:p>
          <a:p>
            <a:pPr/>
            <a:r>
              <a:rPr sz="2400">
                <a:latin typeface="Arial"/>
              </a:rPr>
              <a:t>•  測試開合：緩慢、穩定地推拉 —— 不是愈大力愈好 Test: push and pull slowly and steadily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夾波子比賽規則</a:t>
            </a:r>
          </a:p>
          <a:p>
            <a:r>
              <a:rPr sz="2000">
                <a:latin typeface="Arial"/>
              </a:rPr>
              <a:t>Marble-pickup Competition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每組限時 2 分鐘 2 minutes per group</a:t>
            </a:r>
          </a:p>
          <a:p>
            <a:pPr/>
            <a:r>
              <a:rPr sz="2400">
                <a:latin typeface="Arial"/>
              </a:rPr>
              <a:t>•  夾起波子放進目標容器，按準確數目計分 Pick up marbles into the target cup; score by number</a:t>
            </a:r>
          </a:p>
          <a:p>
            <a:pPr/>
            <a:r>
              <a:rPr sz="2400">
                <a:latin typeface="Arial"/>
              </a:rPr>
              <a:t>•  成功關鍵：穩定緩慢的操作 Key: slow, steady operation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針筒不連針頭；不可嬉戲或指向他人 Syringes without needles; no playing around</a:t>
            </a:r>
          </a:p>
          <a:p>
            <a:pPr/>
            <a:r>
              <a:rPr sz="2400">
                <a:latin typeface="Arial"/>
              </a:rPr>
              <a:t>•  漏水即時抹乾，保持地面及電源範圍乾爽 Wipe up leaks immediately</a:t>
            </a:r>
          </a:p>
          <a:p>
            <a:pPr/>
            <a:r>
              <a:rPr sz="2400">
                <a:latin typeface="Arial"/>
              </a:rPr>
              <a:t>•  熱熔膠槍只准在教師指導下使用 Glue gun only under teacher supervision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總結與反思</a:t>
            </a:r>
          </a:p>
          <a:p>
            <a:r>
              <a:rPr sz="2000">
                <a:latin typeface="Arial"/>
              </a:rPr>
              <a:t>Summary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帕斯卡原理：密閉液體壓力均勻傳遞 Pascal's principle: undiminished pressure transmission</a:t>
            </a:r>
          </a:p>
          <a:p>
            <a:pPr/>
            <a:r>
              <a:rPr sz="2400">
                <a:latin typeface="Arial"/>
              </a:rPr>
              <a:t>•  面積差放大力量，行程相應縮短 Force multiplied by area difference; travel shortened</a:t>
            </a:r>
          </a:p>
          <a:p>
            <a:pPr/>
            <a:r>
              <a:rPr sz="2400">
                <a:latin typeface="Arial"/>
              </a:rPr>
              <a:t>•  關愛反思：液壓省力裝置如何幫助手部乏力的長者？ Caring reflection: how can hydraulic aids help elderly people with weak hands?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7724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7724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