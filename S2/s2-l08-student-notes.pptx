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9" r:id="rId2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8
進階電路：串聯並聯</a:t>
            </a:r>
          </a:p>
          <a:p>
            <a:pPr algn="ctr"/>
            <a:r>
              <a:rPr sz="2400">
                <a:latin typeface="Arial"/>
              </a:rPr>
              <a:t>Series and Parallel Circuits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AA 電池及電池盒 AA batteries with holders × 2 套</a:t>
            </a:r>
          </a:p>
          <a:p>
            <a:pPr/>
            <a:r>
              <a:rPr sz="1600">
                <a:eaTypeface typeface="微軟正黑體"/>
              </a:rPr>
              <a:t>小燈泡及燈座 Small bulbs with holders × 3 個</a:t>
            </a:r>
          </a:p>
          <a:p>
            <a:pPr/>
            <a:r>
              <a:rPr sz="1600">
                <a:eaTypeface typeface="微軟正黑體"/>
              </a:rPr>
              <a:t>電線（連鱷魚夾） Wires with crocodile clips × 6 條</a:t>
            </a:r>
          </a:p>
          <a:p>
            <a:pPr/>
            <a:r>
              <a:rPr sz="1600">
                <a:eaTypeface typeface="微軟正黑體"/>
              </a:rPr>
              <a:t>開關掣 Switches × 2 個</a:t>
            </a:r>
          </a:p>
          <a:p>
            <a:pPr/>
            <a:r>
              <a:rPr sz="1600">
                <a:eaTypeface typeface="微軟正黑體"/>
              </a:rPr>
              <a:t>工作紙 Worksheet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正確連接串聯及並聯電路 Connect series and parallel circuits correctly</a:t>
            </a:r>
          </a:p>
          <a:p>
            <a:pPr/>
            <a:r>
              <a:rPr sz="2400">
                <a:latin typeface="Arial"/>
              </a:rPr>
              <a:t>•  說出兩者在電流路徑、光暗、開關控制的分別 State differences in paths, brightness, switch control</a:t>
            </a:r>
          </a:p>
          <a:p>
            <a:pPr/>
            <a:r>
              <a:rPr sz="2400">
                <a:latin typeface="Arial"/>
              </a:rPr>
              <a:t>•  解釋為何並聯適合家居及課室照明 Explain why parallel suits homes and classrooms</a:t>
            </a:r>
          </a:p>
          <a:p>
            <a:pPr/>
            <a:r>
              <a:rPr sz="2400">
                <a:latin typeface="Arial"/>
              </a:rPr>
              <a:t>•  設計課室節能小夜燈 Design a classroom energy-saving night light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串聯 Series</a:t>
            </a:r>
          </a:p>
          <a:p>
            <a:r>
              <a:rPr sz="2000">
                <a:latin typeface="Arial"/>
              </a:rPr>
              <a:t>Series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所有元件首尾相接 —— 電流只有一條路 Components end to end — one single path</a:t>
            </a:r>
          </a:p>
          <a:p>
            <a:pPr/>
            <a:r>
              <a:rPr sz="2400">
                <a:latin typeface="Arial"/>
              </a:rPr>
              <a:t>•  電池電壓由各燈泡攤分：燈泡愈多，每個愈暗 Voltage shared: more bulbs → each dimmer</a:t>
            </a:r>
          </a:p>
          <a:p>
            <a:pPr/>
            <a:r>
              <a:rPr sz="2400">
                <a:latin typeface="Arial"/>
              </a:rPr>
              <a:t>•  開關控制整個電路；一燈損壞，全滅 Switch controls all; one fails → all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並聯 Parallel</a:t>
            </a:r>
          </a:p>
          <a:p>
            <a:r>
              <a:rPr sz="2000">
                <a:latin typeface="Arial"/>
              </a:rPr>
              <a:t>Parallel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每個燈泡各自接電池兩極 —— 多條分支 Each bulb across the battery — multiple branches</a:t>
            </a:r>
          </a:p>
          <a:p>
            <a:pPr/>
            <a:r>
              <a:rPr sz="2400">
                <a:latin typeface="Arial"/>
              </a:rPr>
              <a:t>•  每個燈泡都得全電壓：光暗不受燈泡數量影響 Full voltage each: brightness unaffected by number</a:t>
            </a:r>
          </a:p>
          <a:p>
            <a:pPr/>
            <a:r>
              <a:rPr sz="2400">
                <a:latin typeface="Arial"/>
              </a:rPr>
              <a:t>•  分支開關只控制該分支；一燈損壞，其餘照亮 Branch switch: that branch only; one fails → rest stay 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比較表</a:t>
            </a:r>
          </a:p>
          <a:p>
            <a:r>
              <a:rPr sz="2000">
                <a:latin typeface="Arial"/>
              </a:rPr>
              <a:t>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電流路徑：串聯一條；並聯多條分支 Paths: series one; parallel many</a:t>
            </a:r>
          </a:p>
          <a:p>
            <a:pPr/>
            <a:r>
              <a:rPr sz="2400">
                <a:latin typeface="Arial"/>
              </a:rPr>
              <a:t>•  光暗：串聯多燈變暗；並聯不變 Brightness: series dims; parallel unchanged</a:t>
            </a:r>
          </a:p>
          <a:p>
            <a:pPr/>
            <a:r>
              <a:rPr sz="2400">
                <a:latin typeface="Arial"/>
              </a:rPr>
              <a:t>•  開關：串聯控全部；並聯分支控分支 Switch: series all; parallel branch-only</a:t>
            </a:r>
          </a:p>
          <a:p>
            <a:pPr/>
            <a:r>
              <a:rPr sz="2400">
                <a:latin typeface="Arial"/>
              </a:rPr>
              <a:t>•  損壞：串聯全滅；並聯其餘照亮 Failure: series all out; parallel rest 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為何家居用並聯？</a:t>
            </a:r>
          </a:p>
          <a:p>
            <a:r>
              <a:rPr sz="2000">
                <a:latin typeface="Arial"/>
              </a:rPr>
              <a:t>Why Do Homes Use Parallel?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一件電器損壞，不會令全屋斷電 One failed appliance does not black out the house</a:t>
            </a:r>
          </a:p>
          <a:p>
            <a:pPr/>
            <a:r>
              <a:rPr sz="2400">
                <a:latin typeface="Arial"/>
              </a:rPr>
              <a:t>•  每件電器都取得全電壓，運作正常 Every appliance gets full voltage</a:t>
            </a:r>
          </a:p>
          <a:p>
            <a:pPr/>
            <a:r>
              <a:rPr sz="2400">
                <a:latin typeface="Arial"/>
              </a:rPr>
              <a:t>•  可獨立開關各電器 Independent switching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實驗一：串聯</a:t>
            </a:r>
          </a:p>
          <a:p>
            <a:r>
              <a:rPr sz="2000">
                <a:latin typeface="Arial"/>
              </a:rPr>
              <a:t>Experiment 1: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連接兩個燈泡串聯，觀察光暗 Connect two bulbs in series; observe brightness</a:t>
            </a:r>
          </a:p>
          <a:p>
            <a:pPr/>
            <a:r>
              <a:rPr sz="2400">
                <a:latin typeface="Arial"/>
              </a:rPr>
              <a:t>•  擰走一個燈泡，記錄現象 Remove one bulb; record what happens</a:t>
            </a:r>
          </a:p>
          <a:p>
            <a:pPr/>
            <a:r>
              <a:rPr sz="2400">
                <a:latin typeface="Arial"/>
              </a:rPr>
              <a:t>•  繪畫電路圖 Draw the circuit diagram</a:t>
            </a:r>
          </a:p>
          <a:p>
            <a:pPr/>
            <a:r>
              <a:rPr sz="2400">
                <a:latin typeface="Arial"/>
              </a:rPr>
              <a:t>•  用同一組電池作比較！ Use the SAME batteries for comparison!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實驗二：並聯</a:t>
            </a:r>
          </a:p>
          <a:p>
            <a:r>
              <a:rPr sz="2000">
                <a:latin typeface="Arial"/>
              </a:rPr>
              <a:t>Experiment 2: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改接為並聯，比較燈泡光暗 Rewire in parallel; compare brightness</a:t>
            </a:r>
          </a:p>
          <a:p>
            <a:pPr/>
            <a:r>
              <a:rPr sz="2400">
                <a:latin typeface="Arial"/>
              </a:rPr>
              <a:t>•  測試開關在不同位置的控制範圍 Test switch positions and control range</a:t>
            </a:r>
          </a:p>
          <a:p>
            <a:pPr/>
            <a:r>
              <a:rPr sz="2400">
                <a:latin typeface="Arial"/>
              </a:rPr>
              <a:t>•  擰走一個燈泡，記錄現象 Remove one bulb; record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設計任務：節能小夜燈</a:t>
            </a:r>
          </a:p>
          <a:p>
            <a:r>
              <a:rPr sz="2000">
                <a:latin typeface="Arial"/>
              </a:rPr>
              <a:t>Design Task: Energy-saving Night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選用接法、燈泡數量、開關位置 Choose connection type, bulb number, switch positions</a:t>
            </a:r>
          </a:p>
          <a:p>
            <a:pPr/>
            <a:r>
              <a:rPr sz="2400">
                <a:latin typeface="Arial"/>
              </a:rPr>
              <a:t>•  繪畫電路圖 Draw the circuit diagram</a:t>
            </a:r>
          </a:p>
          <a:p>
            <a:pPr/>
            <a:r>
              <a:rPr sz="2400">
                <a:latin typeface="Arial"/>
              </a:rPr>
              <a:t>•  寫出省電之處：如分區獨立開關 State energy-saving features, e.g. zonal switches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安全須知</a:t>
            </a:r>
          </a:p>
          <a:p>
            <a:r>
              <a:rPr sz="2000">
                <a:latin typeface="Arial"/>
              </a:rPr>
              <a:t>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只用低壓電池；嚴禁短路 Low-voltage batteries only; NO short circuits</a:t>
            </a:r>
          </a:p>
          <a:p>
            <a:pPr/>
            <a:r>
              <a:rPr sz="2400">
                <a:latin typeface="Arial"/>
              </a:rPr>
              <a:t>•  先畫電路圖，後接線 Diagram before wiring</a:t>
            </a:r>
          </a:p>
          <a:p>
            <a:pPr/>
            <a:r>
              <a:rPr sz="2400">
                <a:latin typeface="Arial"/>
              </a:rPr>
              <a:t>•  燈泡發熱，小心觸摸；異常發熱即斷開 Bulbs get hot; disconnect if abnormally 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總結</a:t>
            </a:r>
          </a:p>
          <a:p>
            <a:r>
              <a:rPr sz="20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串聯：單一路徑、分壓、一壞全滅 Series: one path, shared voltage, one fails → all out</a:t>
            </a:r>
          </a:p>
          <a:p>
            <a:pPr/>
            <a:r>
              <a:rPr sz="2400">
                <a:latin typeface="Arial"/>
              </a:rPr>
              <a:t>•  並聯：多分支、全電壓、獨立運作 Parallel: branches, full voltage, independent</a:t>
            </a:r>
          </a:p>
          <a:p>
            <a:pPr/>
            <a:r>
              <a:rPr sz="2400">
                <a:latin typeface="Arial"/>
              </a:rPr>
              <a:t>•  節約能源，由設計做起 Energy saving starts with design</a:t>
            </a:r>
          </a:p>
          <a:p>
            <a:pPr/>
            <a:r>
              <a:rPr sz="2400">
                <a:latin typeface="Arial"/>
              </a:rPr>
              <a:t>•  關愛反思：長者夜燈應用哪種接法？ Caring reflection: which connection for an elderly person's night light?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8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77724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77724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